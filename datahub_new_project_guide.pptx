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9" r:id="rId7"/>
    <p:sldId id="272" r:id="rId8"/>
    <p:sldId id="270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F4D244DB-14F6-431B-9FEE-A64B2695D85F}">
          <p14:sldIdLst>
            <p14:sldId id="256"/>
            <p14:sldId id="257"/>
            <p14:sldId id="258"/>
            <p14:sldId id="259"/>
            <p14:sldId id="260"/>
            <p14:sldId id="269"/>
            <p14:sldId id="272"/>
            <p14:sldId id="270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E6949-0591-BC9C-60AA-B26630070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BA3C3-6B9E-B4A8-6C51-5F0925CE147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28035-1159-18BF-C49E-814510CF7FF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EA97D-0E38-DEDE-55EE-1ABBAD75C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80F731-70BB-6F75-9A36-79339673F1E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10471-CAB9-44EE-7344-038B3423E97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3E8C3-2CDE-3FC2-7063-9B89B5A4C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9E5A7-6464-7258-FB5A-CDDD01F3D2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DC267-DB2B-CD49-439E-BB9B4774B878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7630A149-A23C-4E6E-86E0-B3791172F647}"/>
              </a:ext>
            </a:extLst>
          </p:cNvPr>
          <p:cNvSpPr>
            <a:spLocks noGrp="1"/>
          </p:cNvSpPr>
          <p:nvPr/>
        </p:nvSpPr>
        <p:spPr>
          <a:xfrm>
            <a:off x="581025" y="342900"/>
            <a:ext cx="1962150" cy="36195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 w="0">
            <a:solidFill>
              <a:srgbClr val="E8EEFF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56DCD-1F7F-432E-9941-14FE4985970E}"/>
              </a:ext>
            </a:extLst>
          </p:cNvPr>
          <p:cNvSpPr>
            <a:spLocks noGrp="1"/>
          </p:cNvSpPr>
          <p:nvPr/>
        </p:nvSpPr>
        <p:spPr>
          <a:xfrm>
            <a:off x="704850" y="3810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rPr sz="1600" b="1" dirty="0">
                <a:solidFill>
                  <a:srgbClr val="0F172A"/>
                </a:solidFill>
              </a:rPr>
              <a:t>DATA HUB GUIDE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792576-9DF2-4ABB-8413-8E57A2957DE1}"/>
              </a:ext>
            </a:extLst>
          </p:cNvPr>
          <p:cNvSpPr>
            <a:spLocks noGrp="1"/>
          </p:cNvSpPr>
          <p:nvPr/>
        </p:nvSpPr>
        <p:spPr>
          <a:xfrm>
            <a:off x="704850" y="914400"/>
            <a:ext cx="53340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 dirty="0">
                <a:solidFill>
                  <a:srgbClr val="FFFFFF"/>
                </a:solidFill>
              </a:rPr>
              <a:t>How to add a new </a:t>
            </a:r>
            <a:r>
              <a:rPr lang="fr-FR" sz="3750" b="1" dirty="0" err="1">
                <a:solidFill>
                  <a:srgbClr val="FFFFFF"/>
                </a:solidFill>
              </a:rPr>
              <a:t>project</a:t>
            </a:r>
            <a:endParaRPr sz="3750" b="1" dirty="0">
              <a:solidFill>
                <a:srgbClr val="FFFFFF"/>
              </a:solidFill>
            </a:endParaRPr>
          </a:p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 dirty="0">
                <a:solidFill>
                  <a:srgbClr val="FFFFFF"/>
                </a:solidFill>
              </a:rPr>
              <a:t>to the </a:t>
            </a:r>
            <a:r>
              <a:rPr sz="3750" b="1" dirty="0" err="1">
                <a:solidFill>
                  <a:srgbClr val="FFFFFF"/>
                </a:solidFill>
              </a:rPr>
              <a:t>DataHub</a:t>
            </a:r>
            <a:endParaRPr sz="3750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F7B673-021D-4ED4-B98A-7034D6D69E04}"/>
              </a:ext>
            </a:extLst>
          </p:cNvPr>
          <p:cNvSpPr>
            <a:spLocks noGrp="1"/>
          </p:cNvSpPr>
          <p:nvPr/>
        </p:nvSpPr>
        <p:spPr>
          <a:xfrm>
            <a:off x="752475" y="2495550"/>
            <a:ext cx="5048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D7E3F3"/>
                </a:solidFill>
              </a:defRPr>
            </a:pPr>
            <a:r>
              <a:rPr sz="1650" b="0" dirty="0">
                <a:solidFill>
                  <a:srgbClr val="D7E3F3"/>
                </a:solidFill>
              </a:rPr>
              <a:t>A direct onboarding deck for new contributors.</a:t>
            </a:r>
          </a:p>
          <a:p>
            <a:pPr algn="l">
              <a:defRPr sz="1650" b="0">
                <a:solidFill>
                  <a:srgbClr val="D7E3F3"/>
                </a:solidFill>
              </a:defRPr>
            </a:pPr>
            <a:r>
              <a:rPr sz="1650" b="0" dirty="0">
                <a:solidFill>
                  <a:srgbClr val="D7E3F3"/>
                </a:solidFill>
              </a:rPr>
              <a:t>Running example: ALMI ATLAS in the RINA block.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0C8205F-66CB-4474-AC7E-61DA71598139}"/>
              </a:ext>
            </a:extLst>
          </p:cNvPr>
          <p:cNvSpPr>
            <a:spLocks noGrp="1"/>
          </p:cNvSpPr>
          <p:nvPr/>
        </p:nvSpPr>
        <p:spPr>
          <a:xfrm>
            <a:off x="619125" y="3638550"/>
            <a:ext cx="19621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F1E71B-2764-4982-AE7B-CF39DB05CA17}"/>
              </a:ext>
            </a:extLst>
          </p:cNvPr>
          <p:cNvSpPr>
            <a:spLocks noGrp="1"/>
          </p:cNvSpPr>
          <p:nvPr/>
        </p:nvSpPr>
        <p:spPr>
          <a:xfrm>
            <a:off x="619125" y="3638550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Running example: ATLAS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2EEC5AA-3935-43AA-8569-16F238A2D097}"/>
              </a:ext>
            </a:extLst>
          </p:cNvPr>
          <p:cNvSpPr>
            <a:spLocks noGrp="1"/>
          </p:cNvSpPr>
          <p:nvPr/>
        </p:nvSpPr>
        <p:spPr>
          <a:xfrm>
            <a:off x="2733675" y="3638550"/>
            <a:ext cx="13906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A433BF-6680-4366-82E9-EE6EBD28BB8B}"/>
              </a:ext>
            </a:extLst>
          </p:cNvPr>
          <p:cNvSpPr>
            <a:spLocks noGrp="1"/>
          </p:cNvSpPr>
          <p:nvPr/>
        </p:nvSpPr>
        <p:spPr>
          <a:xfrm>
            <a:off x="2733675" y="3638550"/>
            <a:ext cx="1390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Block: RINA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E22E08C-D558-4C55-9CF5-BF1D5D07B3D1}"/>
              </a:ext>
            </a:extLst>
          </p:cNvPr>
          <p:cNvSpPr>
            <a:spLocks noGrp="1"/>
          </p:cNvSpPr>
          <p:nvPr/>
        </p:nvSpPr>
        <p:spPr>
          <a:xfrm>
            <a:off x="4276725" y="3638550"/>
            <a:ext cx="152400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BA2D50-CCAF-4CC1-8844-AEAF216251D2}"/>
              </a:ext>
            </a:extLst>
          </p:cNvPr>
          <p:cNvSpPr>
            <a:spLocks noGrp="1"/>
          </p:cNvSpPr>
          <p:nvPr/>
        </p:nvSpPr>
        <p:spPr>
          <a:xfrm>
            <a:off x="4276725" y="36385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Audience: new user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AB32B19-BB7E-4803-A20E-3428596771C1}"/>
              </a:ext>
            </a:extLst>
          </p:cNvPr>
          <p:cNvSpPr>
            <a:spLocks noGrp="1"/>
          </p:cNvSpPr>
          <p:nvPr/>
        </p:nvSpPr>
        <p:spPr>
          <a:xfrm>
            <a:off x="657225" y="4714875"/>
            <a:ext cx="5143500" cy="781050"/>
          </a:xfrm>
          <a:prstGeom prst="roundRect">
            <a:avLst>
              <a:gd name="adj" fmla="val 16667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468ADD-74CD-4FFC-8A97-86D2C6522142}"/>
              </a:ext>
            </a:extLst>
          </p:cNvPr>
          <p:cNvSpPr>
            <a:spLocks noGrp="1"/>
          </p:cNvSpPr>
          <p:nvPr/>
        </p:nvSpPr>
        <p:spPr>
          <a:xfrm>
            <a:off x="809625" y="48482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B43D8C-E5BA-40DC-8021-1F16303AB701}"/>
              </a:ext>
            </a:extLst>
          </p:cNvPr>
          <p:cNvSpPr>
            <a:spLocks noGrp="1"/>
          </p:cNvSpPr>
          <p:nvPr/>
        </p:nvSpPr>
        <p:spPr>
          <a:xfrm>
            <a:off x="809625" y="4848225"/>
            <a:ext cx="4775454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1" u="sng" dirty="0">
                <a:solidFill>
                  <a:srgbClr val="1E293B"/>
                </a:solidFill>
              </a:rPr>
              <a:t>Goal:</a:t>
            </a:r>
            <a:r>
              <a:rPr lang="fr-FR" sz="1200" u="sng" dirty="0">
                <a:solidFill>
                  <a:srgbClr val="1E293B"/>
                </a:solidFill>
              </a:rPr>
              <a:t> </a:t>
            </a:r>
            <a:r>
              <a:rPr sz="1200" b="0" dirty="0">
                <a:solidFill>
                  <a:srgbClr val="1E293B"/>
                </a:solidFill>
              </a:rPr>
              <a:t>show which files to create, what to write in the JSON, and how the website turns that data into the left panel, source links, GPS route, and DNV tree.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AAB7AE-8250-4E26-911D-55E47DB06931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DA06CA-6CC5-4742-87F6-3B1713A69EC1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</a:t>
            </a:r>
          </a:p>
        </p:txBody>
      </p:sp>
      <p:pic>
        <p:nvPicPr>
          <p:cNvPr id="21" name="Image 20" descr="200 passagers d'une croisière de luxe bloqués dans la glace du Groenland à  2 000 kilomètres des secours | Vanity Fair">
            <a:extLst>
              <a:ext uri="{FF2B5EF4-FFF2-40B4-BE49-F238E27FC236}">
                <a16:creationId xmlns:a16="http://schemas.microsoft.com/office/drawing/2014/main" id="{DF8BB11E-3BCF-C1BB-EB01-6E6F104825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644" r="7720"/>
          <a:stretch>
            <a:fillRect/>
          </a:stretch>
        </p:blipFill>
        <p:spPr>
          <a:xfrm>
            <a:off x="6934200" y="857893"/>
            <a:ext cx="4171950" cy="514221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45203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55B230D3-3697-4CF4-8CBD-FD85A4EC1E5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533901-CFDB-452D-A8B4-4B828CAC352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DC4DA3-DDD7-4089-86AF-CC17E237F54D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This deck follows the real creation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B17821-3953-46EC-9334-22B8B0040963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Blue slides are build steps. Green slides explain how the JSON controls the website.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897FA41B-BA8D-4241-8B5D-370299F7B07E}"/>
              </a:ext>
            </a:extLst>
          </p:cNvPr>
          <p:cNvSpPr>
            <a:spLocks noGrp="1"/>
          </p:cNvSpPr>
          <p:nvPr/>
        </p:nvSpPr>
        <p:spPr>
          <a:xfrm>
            <a:off x="57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51770D-DFC5-4351-B2FB-A1805CB1FCF7}"/>
              </a:ext>
            </a:extLst>
          </p:cNvPr>
          <p:cNvSpPr>
            <a:spLocks noGrp="1"/>
          </p:cNvSpPr>
          <p:nvPr/>
        </p:nvSpPr>
        <p:spPr>
          <a:xfrm>
            <a:off x="74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FFFEFB-992F-4E5D-9CF7-167FAF7E5695}"/>
              </a:ext>
            </a:extLst>
          </p:cNvPr>
          <p:cNvSpPr>
            <a:spLocks noGrp="1"/>
          </p:cNvSpPr>
          <p:nvPr/>
        </p:nvSpPr>
        <p:spPr>
          <a:xfrm>
            <a:off x="74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1F1CC1-23E4-41E7-9782-BB75DE44852B}"/>
              </a:ext>
            </a:extLst>
          </p:cNvPr>
          <p:cNvSpPr>
            <a:spLocks noGrp="1"/>
          </p:cNvSpPr>
          <p:nvPr/>
        </p:nvSpPr>
        <p:spPr>
          <a:xfrm>
            <a:off x="118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Create the vessel folder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E595EA-80C5-4DA2-8582-29E7F92320D0}"/>
              </a:ext>
            </a:extLst>
          </p:cNvPr>
          <p:cNvSpPr>
            <a:spLocks noGrp="1"/>
          </p:cNvSpPr>
          <p:nvPr/>
        </p:nvSpPr>
        <p:spPr>
          <a:xfrm>
            <a:off x="742950" y="22063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Add </a:t>
            </a:r>
            <a:r>
              <a:rPr lang="fr-FR" sz="1200" b="0" dirty="0">
                <a:solidFill>
                  <a:srgbClr val="334155"/>
                </a:solidFill>
              </a:rPr>
              <a:t>a folder in the folder </a:t>
            </a:r>
            <a:r>
              <a:rPr lang="fr-FR" sz="1200" b="0" dirty="0" err="1">
                <a:solidFill>
                  <a:srgbClr val="334155"/>
                </a:solidFill>
              </a:rPr>
              <a:t>Projects</a:t>
            </a:r>
            <a:r>
              <a:rPr lang="fr-FR" sz="1200" b="0" dirty="0">
                <a:solidFill>
                  <a:srgbClr val="334155"/>
                </a:solidFill>
              </a:rPr>
              <a:t>, </a:t>
            </a:r>
            <a:r>
              <a:rPr lang="fr-FR" sz="1200" b="0" dirty="0" err="1">
                <a:solidFill>
                  <a:srgbClr val="334155"/>
                </a:solidFill>
              </a:rPr>
              <a:t>inside</a:t>
            </a:r>
            <a:r>
              <a:rPr lang="fr-FR" sz="1200" b="0" dirty="0">
                <a:solidFill>
                  <a:srgbClr val="334155"/>
                </a:solidFill>
              </a:rPr>
              <a:t> </a:t>
            </a:r>
            <a:r>
              <a:rPr lang="fr-FR" sz="1200" b="0" dirty="0" err="1">
                <a:solidFill>
                  <a:srgbClr val="334155"/>
                </a:solidFill>
              </a:rPr>
              <a:t>add</a:t>
            </a:r>
            <a:r>
              <a:rPr lang="fr-FR" sz="1200" b="0" dirty="0">
                <a:solidFill>
                  <a:srgbClr val="334155"/>
                </a:solidFill>
              </a:rPr>
              <a:t> </a:t>
            </a:r>
            <a:r>
              <a:rPr sz="1200" b="0" dirty="0">
                <a:solidFill>
                  <a:srgbClr val="334155"/>
                </a:solidFill>
              </a:rPr>
              <a:t>one folder </a:t>
            </a:r>
            <a:r>
              <a:rPr lang="fr-FR" sz="1200" b="0" dirty="0" err="1">
                <a:solidFill>
                  <a:srgbClr val="334155"/>
                </a:solidFill>
              </a:rPr>
              <a:t>named</a:t>
            </a:r>
            <a:r>
              <a:rPr sz="1200" b="0" dirty="0">
                <a:solidFill>
                  <a:srgbClr val="334155"/>
                </a:solidFill>
              </a:rPr>
              <a:t> JSON/ and </a:t>
            </a:r>
            <a:r>
              <a:rPr sz="1200" b="0" dirty="0" err="1">
                <a:solidFill>
                  <a:srgbClr val="334155"/>
                </a:solidFill>
              </a:rPr>
              <a:t>raw_DATA</a:t>
            </a:r>
            <a:r>
              <a:rPr sz="1200" b="0" dirty="0">
                <a:solidFill>
                  <a:srgbClr val="334155"/>
                </a:solidFill>
              </a:rPr>
              <a:t>/. </a:t>
            </a:r>
            <a:endParaRPr lang="fr-FR" sz="1200" b="0" dirty="0">
              <a:solidFill>
                <a:srgbClr val="334155"/>
              </a:solidFill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5522C68-9B85-48CF-B823-27D7D0FB6600}"/>
              </a:ext>
            </a:extLst>
          </p:cNvPr>
          <p:cNvSpPr>
            <a:spLocks noGrp="1"/>
          </p:cNvSpPr>
          <p:nvPr/>
        </p:nvSpPr>
        <p:spPr>
          <a:xfrm>
            <a:off x="438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89F63B7-DFDE-4D95-ACA0-5ECE6334F711}"/>
              </a:ext>
            </a:extLst>
          </p:cNvPr>
          <p:cNvSpPr>
            <a:spLocks noGrp="1"/>
          </p:cNvSpPr>
          <p:nvPr/>
        </p:nvSpPr>
        <p:spPr>
          <a:xfrm>
            <a:off x="455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AF0B1B-F811-47B0-9B34-88914505A38D}"/>
              </a:ext>
            </a:extLst>
          </p:cNvPr>
          <p:cNvSpPr>
            <a:spLocks noGrp="1"/>
          </p:cNvSpPr>
          <p:nvPr/>
        </p:nvSpPr>
        <p:spPr>
          <a:xfrm>
            <a:off x="455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6EC219-1F16-441D-8645-0B7442450A8A}"/>
              </a:ext>
            </a:extLst>
          </p:cNvPr>
          <p:cNvSpPr>
            <a:spLocks noGrp="1"/>
          </p:cNvSpPr>
          <p:nvPr/>
        </p:nvSpPr>
        <p:spPr>
          <a:xfrm>
            <a:off x="499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Build the dashboard block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20C92D-75E0-4DB9-9B16-6BEDB08C300A}"/>
              </a:ext>
            </a:extLst>
          </p:cNvPr>
          <p:cNvSpPr>
            <a:spLocks noGrp="1"/>
          </p:cNvSpPr>
          <p:nvPr/>
        </p:nvSpPr>
        <p:spPr>
          <a:xfrm>
            <a:off x="4552950" y="207302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the block HTML, add the project image, and leave an empty list container for the vessel links.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907F5C54-C1EF-42AC-BD46-7BA22527764A}"/>
              </a:ext>
            </a:extLst>
          </p:cNvPr>
          <p:cNvSpPr>
            <a:spLocks noGrp="1"/>
          </p:cNvSpPr>
          <p:nvPr/>
        </p:nvSpPr>
        <p:spPr>
          <a:xfrm>
            <a:off x="819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4E94869-2352-4284-98FB-2441BB92A667}"/>
              </a:ext>
            </a:extLst>
          </p:cNvPr>
          <p:cNvSpPr>
            <a:spLocks noGrp="1"/>
          </p:cNvSpPr>
          <p:nvPr/>
        </p:nvSpPr>
        <p:spPr>
          <a:xfrm>
            <a:off x="836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4EDBBA-C0EF-48B2-A9C9-39536C77041B}"/>
              </a:ext>
            </a:extLst>
          </p:cNvPr>
          <p:cNvSpPr>
            <a:spLocks noGrp="1"/>
          </p:cNvSpPr>
          <p:nvPr/>
        </p:nvSpPr>
        <p:spPr>
          <a:xfrm>
            <a:off x="836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3D757E-9548-4685-AF9D-60B9049771B3}"/>
              </a:ext>
            </a:extLst>
          </p:cNvPr>
          <p:cNvSpPr>
            <a:spLocks noGrp="1"/>
          </p:cNvSpPr>
          <p:nvPr/>
        </p:nvSpPr>
        <p:spPr>
          <a:xfrm>
            <a:off x="880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Register the project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7EA2C9-353F-4FF0-8BCC-F774FB418737}"/>
              </a:ext>
            </a:extLst>
          </p:cNvPr>
          <p:cNvSpPr>
            <a:spLocks noGrp="1"/>
          </p:cNvSpPr>
          <p:nvPr/>
        </p:nvSpPr>
        <p:spPr>
          <a:xfrm>
            <a:off x="8362950" y="207302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Add one entry in project-config.js so the generic page knows which JSON file to load.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20BD5609-19F6-461A-B98B-8A738287635E}"/>
              </a:ext>
            </a:extLst>
          </p:cNvPr>
          <p:cNvSpPr>
            <a:spLocks noGrp="1"/>
          </p:cNvSpPr>
          <p:nvPr/>
        </p:nvSpPr>
        <p:spPr>
          <a:xfrm>
            <a:off x="57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56396C56-4D73-42E4-8574-13FF6DEB25D2}"/>
              </a:ext>
            </a:extLst>
          </p:cNvPr>
          <p:cNvSpPr>
            <a:spLocks noGrp="1"/>
          </p:cNvSpPr>
          <p:nvPr/>
        </p:nvSpPr>
        <p:spPr>
          <a:xfrm>
            <a:off x="74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4CA423-C4BB-49CA-A4E4-0C9AB8C5FD1E}"/>
              </a:ext>
            </a:extLst>
          </p:cNvPr>
          <p:cNvSpPr>
            <a:spLocks noGrp="1"/>
          </p:cNvSpPr>
          <p:nvPr/>
        </p:nvSpPr>
        <p:spPr>
          <a:xfrm>
            <a:off x="74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B3C694-9FD2-484E-8AA2-79E6E8A569FD}"/>
              </a:ext>
            </a:extLst>
          </p:cNvPr>
          <p:cNvSpPr>
            <a:spLocks noGrp="1"/>
          </p:cNvSpPr>
          <p:nvPr/>
        </p:nvSpPr>
        <p:spPr>
          <a:xfrm>
            <a:off x="118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Create the main JSON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1804CA-28E3-4129-B842-52CE8E8A944A}"/>
              </a:ext>
            </a:extLst>
          </p:cNvPr>
          <p:cNvSpPr>
            <a:spLocks noGrp="1"/>
          </p:cNvSpPr>
          <p:nvPr/>
        </p:nvSpPr>
        <p:spPr>
          <a:xfrm>
            <a:off x="74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summary and vessel_info. This is the main file the page reads.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C93D54C4-FDC0-47B3-9ACC-69B29A4D07FB}"/>
              </a:ext>
            </a:extLst>
          </p:cNvPr>
          <p:cNvSpPr>
            <a:spLocks noGrp="1"/>
          </p:cNvSpPr>
          <p:nvPr/>
        </p:nvSpPr>
        <p:spPr>
          <a:xfrm>
            <a:off x="438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585CE71-DCB9-48A4-82C9-9A0CF7EA1AE4}"/>
              </a:ext>
            </a:extLst>
          </p:cNvPr>
          <p:cNvSpPr>
            <a:spLocks noGrp="1"/>
          </p:cNvSpPr>
          <p:nvPr/>
        </p:nvSpPr>
        <p:spPr>
          <a:xfrm>
            <a:off x="455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5B77078-0856-4044-A67B-8181BEB40C40}"/>
              </a:ext>
            </a:extLst>
          </p:cNvPr>
          <p:cNvSpPr>
            <a:spLocks noGrp="1"/>
          </p:cNvSpPr>
          <p:nvPr/>
        </p:nvSpPr>
        <p:spPr>
          <a:xfrm>
            <a:off x="455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8BA6B1C-E38E-4A33-BC6B-416C552D5DF4}"/>
              </a:ext>
            </a:extLst>
          </p:cNvPr>
          <p:cNvSpPr>
            <a:spLocks noGrp="1"/>
          </p:cNvSpPr>
          <p:nvPr/>
        </p:nvSpPr>
        <p:spPr>
          <a:xfrm>
            <a:off x="499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Map Link and DNV_path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13796C-6A01-4CBE-8E96-E293F7BA502E}"/>
              </a:ext>
            </a:extLst>
          </p:cNvPr>
          <p:cNvSpPr>
            <a:spLocks noGrp="1"/>
          </p:cNvSpPr>
          <p:nvPr/>
        </p:nvSpPr>
        <p:spPr>
          <a:xfrm>
            <a:off x="455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Each JSON entry connects a visible value to a raw source file and a DNV location.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E7D00FC0-94EB-4A33-88C2-829FC4D106B6}"/>
              </a:ext>
            </a:extLst>
          </p:cNvPr>
          <p:cNvSpPr>
            <a:spLocks noGrp="1"/>
          </p:cNvSpPr>
          <p:nvPr/>
        </p:nvSpPr>
        <p:spPr>
          <a:xfrm>
            <a:off x="819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F245A9B2-549A-4572-8B6D-A64BBD0D41D4}"/>
              </a:ext>
            </a:extLst>
          </p:cNvPr>
          <p:cNvSpPr>
            <a:spLocks noGrp="1"/>
          </p:cNvSpPr>
          <p:nvPr/>
        </p:nvSpPr>
        <p:spPr>
          <a:xfrm>
            <a:off x="836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5787D5D-3F02-4E9C-BDEC-43088046743A}"/>
              </a:ext>
            </a:extLst>
          </p:cNvPr>
          <p:cNvSpPr>
            <a:spLocks noGrp="1"/>
          </p:cNvSpPr>
          <p:nvPr/>
        </p:nvSpPr>
        <p:spPr>
          <a:xfrm>
            <a:off x="836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CBC6A9-5ECE-424F-B747-AA9692F651EE}"/>
              </a:ext>
            </a:extLst>
          </p:cNvPr>
          <p:cNvSpPr>
            <a:spLocks noGrp="1"/>
          </p:cNvSpPr>
          <p:nvPr/>
        </p:nvSpPr>
        <p:spPr>
          <a:xfrm>
            <a:off x="880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Let the page build itself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2D5031-D21A-40CB-9B13-575D0D39E706}"/>
              </a:ext>
            </a:extLst>
          </p:cNvPr>
          <p:cNvSpPr>
            <a:spLocks noGrp="1"/>
          </p:cNvSpPr>
          <p:nvPr/>
        </p:nvSpPr>
        <p:spPr>
          <a:xfrm>
            <a:off x="836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shared scripts generate the left panel, the DNV tree, the downloads, and the GPS route automatically.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1E52EB4-3687-42D6-991E-74F2EF02FBBF}"/>
              </a:ext>
            </a:extLst>
          </p:cNvPr>
          <p:cNvSpPr>
            <a:spLocks noGrp="1"/>
          </p:cNvSpPr>
          <p:nvPr/>
        </p:nvSpPr>
        <p:spPr>
          <a:xfrm>
            <a:off x="571500" y="5695950"/>
            <a:ext cx="5334000" cy="628650"/>
          </a:xfrm>
          <a:prstGeom prst="roundRect">
            <a:avLst>
              <a:gd name="adj" fmla="val 24242"/>
            </a:avLst>
          </a:prstGeom>
          <a:solidFill>
            <a:srgbClr val="E8EE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788D080F-3D07-40C9-9D29-0496E54EC3BA}"/>
              </a:ext>
            </a:extLst>
          </p:cNvPr>
          <p:cNvSpPr>
            <a:spLocks noGrp="1"/>
          </p:cNvSpPr>
          <p:nvPr/>
        </p:nvSpPr>
        <p:spPr>
          <a:xfrm>
            <a:off x="723900" y="584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FD48B54-F9C2-4A1B-9921-B362B1070AA7}"/>
              </a:ext>
            </a:extLst>
          </p:cNvPr>
          <p:cNvSpPr>
            <a:spLocks noGrp="1"/>
          </p:cNvSpPr>
          <p:nvPr/>
        </p:nvSpPr>
        <p:spPr>
          <a:xfrm>
            <a:off x="723900" y="584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BUILD STEP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67DFC5-3E2C-4EED-8AA2-B2F8010EDF4B}"/>
              </a:ext>
            </a:extLst>
          </p:cNvPr>
          <p:cNvSpPr>
            <a:spLocks noGrp="1"/>
          </p:cNvSpPr>
          <p:nvPr/>
        </p:nvSpPr>
        <p:spPr>
          <a:xfrm>
            <a:off x="723900" y="6210300"/>
            <a:ext cx="502920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Edit files or add content.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333EA040-D227-4331-A40F-7E80539CB847}"/>
              </a:ext>
            </a:extLst>
          </p:cNvPr>
          <p:cNvSpPr>
            <a:spLocks noGrp="1"/>
          </p:cNvSpPr>
          <p:nvPr/>
        </p:nvSpPr>
        <p:spPr>
          <a:xfrm>
            <a:off x="6191250" y="5695950"/>
            <a:ext cx="5334000" cy="628650"/>
          </a:xfrm>
          <a:prstGeom prst="roundRect">
            <a:avLst>
              <a:gd name="adj" fmla="val 24242"/>
            </a:avLst>
          </a:prstGeom>
          <a:solidFill>
            <a:srgbClr val="EBFBF1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5A3F535-F9D3-45DD-AC52-1EE39D8AF37D}"/>
              </a:ext>
            </a:extLst>
          </p:cNvPr>
          <p:cNvSpPr>
            <a:spLocks noGrp="1"/>
          </p:cNvSpPr>
          <p:nvPr/>
        </p:nvSpPr>
        <p:spPr>
          <a:xfrm>
            <a:off x="6343650" y="584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9C6D8F-E013-4057-9E0D-4442FD7F3787}"/>
              </a:ext>
            </a:extLst>
          </p:cNvPr>
          <p:cNvSpPr>
            <a:spLocks noGrp="1"/>
          </p:cNvSpPr>
          <p:nvPr/>
        </p:nvSpPr>
        <p:spPr>
          <a:xfrm>
            <a:off x="6343650" y="584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7B95B93-EBE6-4410-812E-D54CB1D47896}"/>
              </a:ext>
            </a:extLst>
          </p:cNvPr>
          <p:cNvSpPr>
            <a:spLocks noGrp="1"/>
          </p:cNvSpPr>
          <p:nvPr/>
        </p:nvSpPr>
        <p:spPr>
          <a:xfrm>
            <a:off x="6343650" y="6210300"/>
            <a:ext cx="502920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Understand what each JSON field does.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584E1E-CB37-46C3-8DA1-02013B1285EE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B46CD4-5B26-4D59-A679-C746EB0F1195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6344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FE50C17-62D4-484D-A632-1A791957816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C6A4BC-555A-423F-9107-06A486DA51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C83891-17D9-4294-8756-D5319311A9EC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Create the vessel folder before writing any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CD2C1D-0951-4E90-9057-1CE84894F697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Keep the main JSON file </a:t>
            </a:r>
            <a:r>
              <a:rPr lang="fr-FR" sz="1350" b="0" dirty="0">
                <a:solidFill>
                  <a:srgbClr val="475569"/>
                </a:solidFill>
              </a:rPr>
              <a:t>in the folder </a:t>
            </a:r>
            <a:r>
              <a:rPr lang="fr-FR" sz="1350" b="0" dirty="0" err="1">
                <a:solidFill>
                  <a:srgbClr val="475569"/>
                </a:solidFill>
              </a:rPr>
              <a:t>named</a:t>
            </a:r>
            <a:r>
              <a:rPr lang="fr-FR" sz="1350" b="0" dirty="0">
                <a:solidFill>
                  <a:srgbClr val="475569"/>
                </a:solidFill>
              </a:rPr>
              <a:t> JSON/ </a:t>
            </a:r>
            <a:r>
              <a:rPr sz="1350" b="0" dirty="0">
                <a:solidFill>
                  <a:srgbClr val="475569"/>
                </a:solidFill>
              </a:rPr>
              <a:t>and the raw sources </a:t>
            </a:r>
            <a:r>
              <a:rPr lang="fr-FR" sz="1350" b="0" dirty="0">
                <a:solidFill>
                  <a:srgbClr val="475569"/>
                </a:solidFill>
              </a:rPr>
              <a:t>in the folder </a:t>
            </a:r>
            <a:r>
              <a:rPr lang="fr-FR" sz="1350" b="0" dirty="0" err="1">
                <a:solidFill>
                  <a:srgbClr val="475569"/>
                </a:solidFill>
              </a:rPr>
              <a:t>named</a:t>
            </a:r>
            <a:r>
              <a:rPr lang="fr-FR" sz="1350" b="0" dirty="0">
                <a:solidFill>
                  <a:srgbClr val="475569"/>
                </a:solidFill>
              </a:rPr>
              <a:t> </a:t>
            </a:r>
            <a:r>
              <a:rPr lang="fr-FR" sz="1350" b="0" dirty="0" err="1">
                <a:solidFill>
                  <a:srgbClr val="475569"/>
                </a:solidFill>
              </a:rPr>
              <a:t>raw_DATA</a:t>
            </a:r>
            <a:r>
              <a:rPr sz="135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A6E3304C-7A83-4066-99B6-A4B6863A6236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953000" cy="4000500"/>
          </a:xfrm>
          <a:prstGeom prst="roundRect">
            <a:avLst>
              <a:gd name="adj" fmla="val 381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BCAA80-A151-4CBB-9BAA-7E4CD71E77CC}"/>
              </a:ext>
            </a:extLst>
          </p:cNvPr>
          <p:cNvSpPr>
            <a:spLocks noGrp="1"/>
          </p:cNvSpPr>
          <p:nvPr/>
        </p:nvSpPr>
        <p:spPr>
          <a:xfrm>
            <a:off x="762000" y="2466975"/>
            <a:ext cx="4610100" cy="3695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Projects/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RINA Sig. Ships/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Vol.2018/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ALMI ATLAS/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lang="fr-FR" sz="1575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ALMI_ATLAS.json</a:t>
            </a:r>
            <a:endParaRPr sz="1575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raw_DATA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&gt;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ALMI ATLAS.pdf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&gt;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raw_GPS_data_ALMI_ATLAS.json</a:t>
            </a:r>
            <a:endParaRPr sz="1575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CA3100B-9E6D-490D-ADF6-6A733D96122B}"/>
              </a:ext>
            </a:extLst>
          </p:cNvPr>
          <p:cNvSpPr>
            <a:spLocks noGrp="1"/>
          </p:cNvSpPr>
          <p:nvPr/>
        </p:nvSpPr>
        <p:spPr>
          <a:xfrm>
            <a:off x="5905500" y="18859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2208DE-FF9D-43A5-9E2F-6AA821BCDF9B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2797E2-E17B-4B35-936C-85B1BDA8486F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JSON/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4F7F3B-6D38-4A1D-A216-06D26E61CB68}"/>
              </a:ext>
            </a:extLst>
          </p:cNvPr>
          <p:cNvSpPr>
            <a:spLocks noGrp="1"/>
          </p:cNvSpPr>
          <p:nvPr/>
        </p:nvSpPr>
        <p:spPr>
          <a:xfrm>
            <a:off x="6057900" y="24003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the single main file read by the website. The Get Json button downloads this file.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F8936414-154B-43E6-B142-D5AC593C796D}"/>
              </a:ext>
            </a:extLst>
          </p:cNvPr>
          <p:cNvSpPr>
            <a:spLocks noGrp="1"/>
          </p:cNvSpPr>
          <p:nvPr/>
        </p:nvSpPr>
        <p:spPr>
          <a:xfrm>
            <a:off x="5905500" y="31813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3BC44147-7AF9-4441-967F-2A136CBC09F1}"/>
              </a:ext>
            </a:extLst>
          </p:cNvPr>
          <p:cNvSpPr>
            <a:spLocks noGrp="1"/>
          </p:cNvSpPr>
          <p:nvPr/>
        </p:nvSpPr>
        <p:spPr>
          <a:xfrm>
            <a:off x="6057900" y="33337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430B02-87D4-4758-852E-75D9C9D9E272}"/>
              </a:ext>
            </a:extLst>
          </p:cNvPr>
          <p:cNvSpPr>
            <a:spLocks noGrp="1"/>
          </p:cNvSpPr>
          <p:nvPr/>
        </p:nvSpPr>
        <p:spPr>
          <a:xfrm>
            <a:off x="6057900" y="33337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raw_DATA/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96A87F-B2D5-4FD3-9256-880DDDBD7DAF}"/>
              </a:ext>
            </a:extLst>
          </p:cNvPr>
          <p:cNvSpPr>
            <a:spLocks noGrp="1"/>
          </p:cNvSpPr>
          <p:nvPr/>
        </p:nvSpPr>
        <p:spPr>
          <a:xfrm>
            <a:off x="6057900" y="36957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the original sources used by Link: PDF, GPS JSON, CSV, or any other raw file.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B0C48F79-4B65-429F-81D9-ADAA513C6960}"/>
              </a:ext>
            </a:extLst>
          </p:cNvPr>
          <p:cNvSpPr>
            <a:spLocks noGrp="1"/>
          </p:cNvSpPr>
          <p:nvPr/>
        </p:nvSpPr>
        <p:spPr>
          <a:xfrm>
            <a:off x="5905500" y="44767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FDF41788-DFEB-4281-BBD3-EC1E21DE0369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BD6678-E5BF-4361-8453-B571CFE9A340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Why this comes first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2EDF83-16B2-4506-A94B-ECBF9C12F26E}"/>
              </a:ext>
            </a:extLst>
          </p:cNvPr>
          <p:cNvSpPr>
            <a:spLocks noGrp="1"/>
          </p:cNvSpPr>
          <p:nvPr/>
        </p:nvSpPr>
        <p:spPr>
          <a:xfrm>
            <a:off x="6057900" y="49911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folder structure decides every path used later in project-config.js, in the JSON file, and in the dashboard image path.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016685E-F5DC-4FE1-8D13-75383F54F207}"/>
              </a:ext>
            </a:extLst>
          </p:cNvPr>
          <p:cNvSpPr>
            <a:spLocks noGrp="1"/>
          </p:cNvSpPr>
          <p:nvPr/>
        </p:nvSpPr>
        <p:spPr>
          <a:xfrm>
            <a:off x="5905500" y="5715000"/>
            <a:ext cx="5619750" cy="495300"/>
          </a:xfrm>
          <a:prstGeom prst="roundRect">
            <a:avLst>
              <a:gd name="adj" fmla="val 30769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118606-88EE-44F2-86D6-0157B29BAA81}"/>
              </a:ext>
            </a:extLst>
          </p:cNvPr>
          <p:cNvSpPr>
            <a:spLocks noGrp="1"/>
          </p:cNvSpPr>
          <p:nvPr/>
        </p:nvSpPr>
        <p:spPr>
          <a:xfrm>
            <a:off x="6057900" y="58483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123B1B-AD70-4D45-B7FF-8559F0553B9D}"/>
              </a:ext>
            </a:extLst>
          </p:cNvPr>
          <p:cNvSpPr>
            <a:spLocks noGrp="1"/>
          </p:cNvSpPr>
          <p:nvPr/>
        </p:nvSpPr>
        <p:spPr>
          <a:xfrm>
            <a:off x="6457950" y="5865114"/>
            <a:ext cx="4800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Simple rule: create the folder once, then keep every file inside it.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D4AF2-A1BD-4C1C-9101-833400F0755C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F43C3E-F5DE-4AB1-92AC-D8D6A73E9289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54791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7F0FDB1-D833-4921-B0F8-F2D5EF8F5AC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99E832-4CFC-447C-8A70-70C9F77EFD1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1602C-F9D2-4284-921B-1E2B9074D947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Create the dashboard block and add the image</a:t>
            </a:r>
            <a:r>
              <a:rPr lang="fr-FR" sz="3000" b="1" dirty="0">
                <a:solidFill>
                  <a:srgbClr val="0F172A"/>
                </a:solidFill>
              </a:rPr>
              <a:t> – Rina_blocs.html</a:t>
            </a:r>
            <a:endParaRPr sz="3000" b="1" dirty="0">
              <a:solidFill>
                <a:srgbClr val="0F172A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2189A4-5477-4846-84C5-4F63A344F30D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This is where the project becomes visible on the home page.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1D24884-F6A8-4650-AC32-B3C1A7100F77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762500" cy="3638550"/>
          </a:xfrm>
          <a:prstGeom prst="roundRect">
            <a:avLst>
              <a:gd name="adj" fmla="val 41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402CB-2538-497D-883E-711E0006D291}"/>
              </a:ext>
            </a:extLst>
          </p:cNvPr>
          <p:cNvSpPr>
            <a:spLocks noGrp="1"/>
          </p:cNvSpPr>
          <p:nvPr/>
        </p:nvSpPr>
        <p:spPr>
          <a:xfrm>
            <a:off x="742950" y="1943100"/>
            <a:ext cx="44196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943" lnSpcReduction="10000"/>
          </a:bodyPr>
          <a:lstStyle/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&lt;section class="project-card"&gt;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&lt;h2&gt;RINA&lt;/h2&gt;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&lt;p class="project-description"&gt;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Short project description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&lt;/p&gt;</a:t>
            </a:r>
          </a:p>
          <a:p>
            <a:endParaRPr sz="1200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&lt;div class="project-card-content"&gt;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&lt;div class="project-image-box"&gt;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&lt;img src="Image/RINA/Image_Rina.png" alt="RINA image"&gt;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&lt;/div&gt;</a:t>
            </a:r>
          </a:p>
          <a:p>
            <a:endParaRPr sz="1200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&lt;div class="project-vessels"&gt;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&lt;h3&gt;Vessels&lt;/h3&gt;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&lt;div id="rina-vessel-links" class="vessel-link-list"&gt;&lt;/div&gt;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&lt;/section&gt;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3881132-3D0C-4323-975E-6116254F0F55}"/>
              </a:ext>
            </a:extLst>
          </p:cNvPr>
          <p:cNvSpPr>
            <a:spLocks noGrp="1"/>
          </p:cNvSpPr>
          <p:nvPr/>
        </p:nvSpPr>
        <p:spPr>
          <a:xfrm>
            <a:off x="5619750" y="1790700"/>
            <a:ext cx="5905500" cy="2647950"/>
          </a:xfrm>
          <a:prstGeom prst="roundRect">
            <a:avLst>
              <a:gd name="adj" fmla="val 57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t="13166" b="13166"/>
          <a:stretch>
            <a:fillRect/>
          </a:stretch>
        </p:blipFill>
        <p:spPr>
          <a:xfrm>
            <a:off x="5791200" y="1962150"/>
            <a:ext cx="5562600" cy="2305050"/>
          </a:xfrm>
          <a:prstGeom prst="roundRect">
            <a:avLst>
              <a:gd name="adj" fmla="val 6612"/>
            </a:avLst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019CEAB-9B41-465E-92CF-5D3657F36913}"/>
              </a:ext>
            </a:extLst>
          </p:cNvPr>
          <p:cNvSpPr>
            <a:spLocks noGrp="1"/>
          </p:cNvSpPr>
          <p:nvPr/>
        </p:nvSpPr>
        <p:spPr>
          <a:xfrm>
            <a:off x="5619750" y="4686300"/>
            <a:ext cx="2762250" cy="10668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1D9508BB-F096-4318-82D9-5F3B949547E2}"/>
              </a:ext>
            </a:extLst>
          </p:cNvPr>
          <p:cNvSpPr>
            <a:spLocks noGrp="1"/>
          </p:cNvSpPr>
          <p:nvPr/>
        </p:nvSpPr>
        <p:spPr>
          <a:xfrm>
            <a:off x="5772150" y="4838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5DCA1B-EE01-4494-88F3-9ACF2A21A4CC}"/>
              </a:ext>
            </a:extLst>
          </p:cNvPr>
          <p:cNvSpPr>
            <a:spLocks noGrp="1"/>
          </p:cNvSpPr>
          <p:nvPr/>
        </p:nvSpPr>
        <p:spPr>
          <a:xfrm>
            <a:off x="5772150" y="4838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HTML 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DD6274-90E1-4345-9445-B861327A4AC8}"/>
              </a:ext>
            </a:extLst>
          </p:cNvPr>
          <p:cNvSpPr>
            <a:spLocks noGrp="1"/>
          </p:cNvSpPr>
          <p:nvPr/>
        </p:nvSpPr>
        <p:spPr>
          <a:xfrm>
            <a:off x="5772150" y="520065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the title and the project description directly in the block file.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50DC2DC2-911D-4496-8A52-FFB6F7CF9279}"/>
              </a:ext>
            </a:extLst>
          </p:cNvPr>
          <p:cNvSpPr>
            <a:spLocks noGrp="1"/>
          </p:cNvSpPr>
          <p:nvPr/>
        </p:nvSpPr>
        <p:spPr>
          <a:xfrm>
            <a:off x="8763000" y="4686300"/>
            <a:ext cx="2762250" cy="10668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7AE5124-7436-464F-BBEF-3116B7448084}"/>
              </a:ext>
            </a:extLst>
          </p:cNvPr>
          <p:cNvSpPr>
            <a:spLocks noGrp="1"/>
          </p:cNvSpPr>
          <p:nvPr/>
        </p:nvSpPr>
        <p:spPr>
          <a:xfrm>
            <a:off x="8915400" y="4838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3CA8B8-7445-46C1-92D7-D1EF91810C59}"/>
              </a:ext>
            </a:extLst>
          </p:cNvPr>
          <p:cNvSpPr>
            <a:spLocks noGrp="1"/>
          </p:cNvSpPr>
          <p:nvPr/>
        </p:nvSpPr>
        <p:spPr>
          <a:xfrm>
            <a:off x="8915400" y="4838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Image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122CE9-8D7B-46DB-BB46-E9E5E2CA981B}"/>
              </a:ext>
            </a:extLst>
          </p:cNvPr>
          <p:cNvSpPr>
            <a:spLocks noGrp="1"/>
          </p:cNvSpPr>
          <p:nvPr/>
        </p:nvSpPr>
        <p:spPr>
          <a:xfrm>
            <a:off x="8915400" y="520065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372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Point the img tag to Image/... The shared CSS keeps the image centered and fixed in size.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965A4750-C098-4BD6-9F5A-99E3DE32C80B}"/>
              </a:ext>
            </a:extLst>
          </p:cNvPr>
          <p:cNvSpPr>
            <a:spLocks noGrp="1"/>
          </p:cNvSpPr>
          <p:nvPr/>
        </p:nvSpPr>
        <p:spPr>
          <a:xfrm>
            <a:off x="381000" y="5962650"/>
            <a:ext cx="5796204" cy="533400"/>
          </a:xfrm>
          <a:prstGeom prst="roundRect">
            <a:avLst>
              <a:gd name="adj" fmla="val 28571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6CAC30-53C5-47FE-9A71-4BA4A636FB1A}"/>
              </a:ext>
            </a:extLst>
          </p:cNvPr>
          <p:cNvSpPr>
            <a:spLocks noGrp="1"/>
          </p:cNvSpPr>
          <p:nvPr/>
        </p:nvSpPr>
        <p:spPr>
          <a:xfrm>
            <a:off x="723900" y="5829300"/>
            <a:ext cx="40041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294527-1DE9-409F-AEAA-1E780958F687}"/>
              </a:ext>
            </a:extLst>
          </p:cNvPr>
          <p:cNvSpPr>
            <a:spLocks noGrp="1"/>
          </p:cNvSpPr>
          <p:nvPr/>
        </p:nvSpPr>
        <p:spPr>
          <a:xfrm>
            <a:off x="550545" y="6129528"/>
            <a:ext cx="553021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Important: the vessel link list stays empty in HTML. JavaScript fills it automatically later.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B0F003-D2DB-4DE3-9FDF-D7F97E90A4D4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9842DA-52E5-483A-93C2-ACF4F076E614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6CB9AE-8E77-1181-EC12-5C3F314C83A7}"/>
              </a:ext>
            </a:extLst>
          </p:cNvPr>
          <p:cNvSpPr/>
          <p:nvPr/>
        </p:nvSpPr>
        <p:spPr>
          <a:xfrm>
            <a:off x="723900" y="2852928"/>
            <a:ext cx="4438650" cy="102412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581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C282679E-D6E3-4F3C-8AD5-CC8D1FBA7A57}"/>
              </a:ext>
            </a:extLst>
          </p:cNvPr>
          <p:cNvSpPr>
            <a:spLocks noGrp="1"/>
          </p:cNvSpPr>
          <p:nvPr/>
        </p:nvSpPr>
        <p:spPr>
          <a:xfrm>
            <a:off x="571500" y="425958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692C5F-7834-44D9-AB53-E31D041B1143}"/>
              </a:ext>
            </a:extLst>
          </p:cNvPr>
          <p:cNvSpPr>
            <a:spLocks noGrp="1"/>
          </p:cNvSpPr>
          <p:nvPr/>
        </p:nvSpPr>
        <p:spPr>
          <a:xfrm>
            <a:off x="571500" y="444246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BC87C7-DDBC-44A5-89FD-D5A9E2F1357F}"/>
              </a:ext>
            </a:extLst>
          </p:cNvPr>
          <p:cNvSpPr>
            <a:spLocks noGrp="1"/>
          </p:cNvSpPr>
          <p:nvPr/>
        </p:nvSpPr>
        <p:spPr>
          <a:xfrm>
            <a:off x="571500" y="862584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Register the project once in project-config.js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759C8F-6AFF-4C64-BBB1-7A250DF5D613}"/>
              </a:ext>
            </a:extLst>
          </p:cNvPr>
          <p:cNvSpPr>
            <a:spLocks noGrp="1"/>
          </p:cNvSpPr>
          <p:nvPr/>
        </p:nvSpPr>
        <p:spPr>
          <a:xfrm>
            <a:off x="571500" y="1400556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This is the bridge between the dashboard block, the page URL, and the main JSON file.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197C6ED-5835-4687-A6B0-FD7DF04B089A}"/>
              </a:ext>
            </a:extLst>
          </p:cNvPr>
          <p:cNvSpPr>
            <a:spLocks noGrp="1"/>
          </p:cNvSpPr>
          <p:nvPr/>
        </p:nvSpPr>
        <p:spPr>
          <a:xfrm>
            <a:off x="571500" y="2258568"/>
            <a:ext cx="4476750" cy="3086100"/>
          </a:xfrm>
          <a:prstGeom prst="roundRect">
            <a:avLst>
              <a:gd name="adj" fmla="val 49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22F649-5821-44FA-95DA-2AEB10DB7F39}"/>
              </a:ext>
            </a:extLst>
          </p:cNvPr>
          <p:cNvSpPr>
            <a:spLocks noGrp="1"/>
          </p:cNvSpPr>
          <p:nvPr/>
        </p:nvSpPr>
        <p:spPr>
          <a:xfrm>
            <a:off x="742950" y="2410968"/>
            <a:ext cx="4133850" cy="2781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id: "atlas",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name: "ALMI ATLAS",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dashboardListId: "rina-vessel-links",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jsonPath: "Projects/RINA Sig. Ships/Vol.2018/ALMI ATLAS/JSON/ALMI_ATLAS.json"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49BE4D16-99C1-481C-B09F-F5784EF8BB16}"/>
              </a:ext>
            </a:extLst>
          </p:cNvPr>
          <p:cNvSpPr>
            <a:spLocks noGrp="1"/>
          </p:cNvSpPr>
          <p:nvPr/>
        </p:nvSpPr>
        <p:spPr>
          <a:xfrm>
            <a:off x="5391150" y="2258568"/>
            <a:ext cx="2724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B2DA3EF-D615-4FA4-8711-FE6CAB004134}"/>
              </a:ext>
            </a:extLst>
          </p:cNvPr>
          <p:cNvSpPr>
            <a:spLocks noGrp="1"/>
          </p:cNvSpPr>
          <p:nvPr/>
        </p:nvSpPr>
        <p:spPr>
          <a:xfrm>
            <a:off x="5543550" y="241096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2142E5-B6BA-4933-B827-BE38B048D188}"/>
              </a:ext>
            </a:extLst>
          </p:cNvPr>
          <p:cNvSpPr>
            <a:spLocks noGrp="1"/>
          </p:cNvSpPr>
          <p:nvPr/>
        </p:nvSpPr>
        <p:spPr>
          <a:xfrm>
            <a:off x="5543550" y="241096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1652FE-DB40-45C2-B368-225D58FF8046}"/>
              </a:ext>
            </a:extLst>
          </p:cNvPr>
          <p:cNvSpPr>
            <a:spLocks noGrp="1"/>
          </p:cNvSpPr>
          <p:nvPr/>
        </p:nvSpPr>
        <p:spPr>
          <a:xfrm>
            <a:off x="5543550" y="2772918"/>
            <a:ext cx="2419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Unique key used in the URL.</a:t>
            </a:r>
          </a:p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Example: project=atlas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75B6E37-095D-4C9B-ABF6-53B06A9290BE}"/>
              </a:ext>
            </a:extLst>
          </p:cNvPr>
          <p:cNvSpPr>
            <a:spLocks noGrp="1"/>
          </p:cNvSpPr>
          <p:nvPr/>
        </p:nvSpPr>
        <p:spPr>
          <a:xfrm>
            <a:off x="8420100" y="2258568"/>
            <a:ext cx="3105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01B5D687-48AB-4D74-966D-2815FC55ECFD}"/>
              </a:ext>
            </a:extLst>
          </p:cNvPr>
          <p:cNvSpPr>
            <a:spLocks noGrp="1"/>
          </p:cNvSpPr>
          <p:nvPr/>
        </p:nvSpPr>
        <p:spPr>
          <a:xfrm>
            <a:off x="8572500" y="241096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39E889-660D-4CF8-898D-EE7ACDE9BB41}"/>
              </a:ext>
            </a:extLst>
          </p:cNvPr>
          <p:cNvSpPr>
            <a:spLocks noGrp="1"/>
          </p:cNvSpPr>
          <p:nvPr/>
        </p:nvSpPr>
        <p:spPr>
          <a:xfrm>
            <a:off x="8572500" y="241096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50138-AAC8-46B8-9A90-FBFA7284F043}"/>
              </a:ext>
            </a:extLst>
          </p:cNvPr>
          <p:cNvSpPr>
            <a:spLocks noGrp="1"/>
          </p:cNvSpPr>
          <p:nvPr/>
        </p:nvSpPr>
        <p:spPr>
          <a:xfrm>
            <a:off x="8572500" y="2772918"/>
            <a:ext cx="2800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Visible name shown in the dashboard and in the details page header.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6B02FE4E-1A81-4988-AED8-C7B93572FF47}"/>
              </a:ext>
            </a:extLst>
          </p:cNvPr>
          <p:cNvSpPr>
            <a:spLocks noGrp="1"/>
          </p:cNvSpPr>
          <p:nvPr/>
        </p:nvSpPr>
        <p:spPr>
          <a:xfrm>
            <a:off x="5391150" y="4177284"/>
            <a:ext cx="2724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ECEBF19-FB5E-4A33-9301-6F340CB25B35}"/>
              </a:ext>
            </a:extLst>
          </p:cNvPr>
          <p:cNvSpPr>
            <a:spLocks noGrp="1"/>
          </p:cNvSpPr>
          <p:nvPr/>
        </p:nvSpPr>
        <p:spPr>
          <a:xfrm>
            <a:off x="5543550" y="4329684"/>
            <a:ext cx="12382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CC21A4-047B-4FF0-8E9C-0A7E64E21499}"/>
              </a:ext>
            </a:extLst>
          </p:cNvPr>
          <p:cNvSpPr>
            <a:spLocks noGrp="1"/>
          </p:cNvSpPr>
          <p:nvPr/>
        </p:nvSpPr>
        <p:spPr>
          <a:xfrm>
            <a:off x="5543550" y="4329684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dashboardListId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C423AF-FEB6-4CE1-B234-25AFF543E89E}"/>
              </a:ext>
            </a:extLst>
          </p:cNvPr>
          <p:cNvSpPr>
            <a:spLocks noGrp="1"/>
          </p:cNvSpPr>
          <p:nvPr/>
        </p:nvSpPr>
        <p:spPr>
          <a:xfrm>
            <a:off x="5543550" y="4691634"/>
            <a:ext cx="2419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Must match the empty list container id inside the dashboard block.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76ECA61B-8C67-4A40-97F3-30625F914414}"/>
              </a:ext>
            </a:extLst>
          </p:cNvPr>
          <p:cNvSpPr>
            <a:spLocks noGrp="1"/>
          </p:cNvSpPr>
          <p:nvPr/>
        </p:nvSpPr>
        <p:spPr>
          <a:xfrm>
            <a:off x="8420100" y="4177284"/>
            <a:ext cx="3105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0D33EF37-1F16-4DF9-9402-5627511565AB}"/>
              </a:ext>
            </a:extLst>
          </p:cNvPr>
          <p:cNvSpPr>
            <a:spLocks noGrp="1"/>
          </p:cNvSpPr>
          <p:nvPr/>
        </p:nvSpPr>
        <p:spPr>
          <a:xfrm>
            <a:off x="8572500" y="4329684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A2B9FB-69AF-4A0B-843C-4E9CDE5DA358}"/>
              </a:ext>
            </a:extLst>
          </p:cNvPr>
          <p:cNvSpPr>
            <a:spLocks noGrp="1"/>
          </p:cNvSpPr>
          <p:nvPr/>
        </p:nvSpPr>
        <p:spPr>
          <a:xfrm>
            <a:off x="8572500" y="4329684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jsonPath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26F69E-37AA-491D-8C75-FE16A0F15306}"/>
              </a:ext>
            </a:extLst>
          </p:cNvPr>
          <p:cNvSpPr>
            <a:spLocks noGrp="1"/>
          </p:cNvSpPr>
          <p:nvPr/>
        </p:nvSpPr>
        <p:spPr>
          <a:xfrm>
            <a:off x="8572500" y="4691634"/>
            <a:ext cx="2800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Path to the single main JSON file for this project.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C56F445E-6F04-4A0F-9143-2540B8764046}"/>
              </a:ext>
            </a:extLst>
          </p:cNvPr>
          <p:cNvSpPr>
            <a:spLocks noGrp="1"/>
          </p:cNvSpPr>
          <p:nvPr/>
        </p:nvSpPr>
        <p:spPr>
          <a:xfrm>
            <a:off x="3031998" y="5971794"/>
            <a:ext cx="6305550" cy="381000"/>
          </a:xfrm>
          <a:prstGeom prst="roundRect">
            <a:avLst>
              <a:gd name="adj" fmla="val 18182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BF803A6-21E9-4065-B274-D6316EEAF4FC}"/>
              </a:ext>
            </a:extLst>
          </p:cNvPr>
          <p:cNvSpPr>
            <a:spLocks noGrp="1"/>
          </p:cNvSpPr>
          <p:nvPr/>
        </p:nvSpPr>
        <p:spPr>
          <a:xfrm>
            <a:off x="3355848" y="6105144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BA3CAA-7629-4200-B7E9-806124B38E43}"/>
              </a:ext>
            </a:extLst>
          </p:cNvPr>
          <p:cNvSpPr>
            <a:spLocks noGrp="1"/>
          </p:cNvSpPr>
          <p:nvPr/>
        </p:nvSpPr>
        <p:spPr>
          <a:xfrm>
            <a:off x="3143250" y="6076950"/>
            <a:ext cx="6087618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When you add a new vessel or project later, this is usually the only JavaScript file you need to edit.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E5D556A-C9AC-4B59-9486-6D63B475C9D2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469773-1725-4EFF-A9FB-A2BF1EFABAFD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73021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20">
            <a:extLst>
              <a:ext uri="{FF2B5EF4-FFF2-40B4-BE49-F238E27FC236}">
                <a16:creationId xmlns:a16="http://schemas.microsoft.com/office/drawing/2014/main" id="{803A1596-35C3-693D-B776-BC8F38AFB1C1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7140D16-081B-2904-087F-77DAEA68FE2A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0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BUILD STEP 4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D9B3FD5-FB58-E800-226C-3014779C6A25}"/>
              </a:ext>
            </a:extLst>
          </p:cNvPr>
          <p:cNvSpPr/>
          <p:nvPr/>
        </p:nvSpPr>
        <p:spPr>
          <a:xfrm>
            <a:off x="571500" y="713990"/>
            <a:ext cx="11048996" cy="4762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r>
              <a:rPr lang="en-US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How to create a JSON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5B02D87-A5FF-B386-4746-52778F6F66B7}"/>
              </a:ext>
            </a:extLst>
          </p:cNvPr>
          <p:cNvSpPr/>
          <p:nvPr/>
        </p:nvSpPr>
        <p:spPr>
          <a:xfrm>
            <a:off x="571500" y="1190247"/>
            <a:ext cx="11048996" cy="3238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475569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475569"/>
                </a:solidFill>
                <a:uFillTx/>
                <a:latin typeface="Aptos"/>
              </a:rPr>
              <a:t>Keep the structure simple so the same shared scripts can work for every future project this JSON document contains objects and arrays inside each other to represent data..</a:t>
            </a:r>
          </a:p>
        </p:txBody>
      </p:sp>
      <p:sp>
        <p:nvSpPr>
          <p:cNvPr id="6" name="Rectangle : coins arrondis 4">
            <a:extLst>
              <a:ext uri="{FF2B5EF4-FFF2-40B4-BE49-F238E27FC236}">
                <a16:creationId xmlns:a16="http://schemas.microsoft.com/office/drawing/2014/main" id="{09B42589-BD84-CC8B-E296-1AD7E85546E8}"/>
              </a:ext>
            </a:extLst>
          </p:cNvPr>
          <p:cNvSpPr/>
          <p:nvPr/>
        </p:nvSpPr>
        <p:spPr>
          <a:xfrm>
            <a:off x="501356" y="1982327"/>
            <a:ext cx="5333996" cy="4161681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6750A31F-D0BC-5542-6059-EA59FD49E235}"/>
              </a:ext>
            </a:extLst>
          </p:cNvPr>
          <p:cNvSpPr/>
          <p:nvPr/>
        </p:nvSpPr>
        <p:spPr>
          <a:xfrm>
            <a:off x="672806" y="2105232"/>
            <a:ext cx="4991096" cy="2424687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summary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"ALMI ATLAS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is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a RINA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Significant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Ship of 2018. The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vessel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is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presented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in the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project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with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key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ship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data,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mapped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DNV information, and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linked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raw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sources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such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as the source PDF and GPS route data.",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vessel_info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[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"Name":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shipbuilder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"Link": "../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raw_DATA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/ALMI ATLAS.pdf",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DNV_path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"/dnv-v2/vis-3-10a/800a/860/861/861.2/861.21/G52/G52.1",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"Value": "Hyundai 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Samho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Heavy Industries Co. </a:t>
            </a:r>
            <a:r>
              <a:rPr lang="fr-FR" sz="10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Ltd« ,</a:t>
            </a: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"location": "</a:t>
            </a:r>
            <a:r>
              <a:rPr lang="fr-FR" sz="1000" b="0" i="0" u="none" strike="noStrike" kern="120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hull</a:t>
            </a: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},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"Name": "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hull_no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"Link": "../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raw_DATA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/ALMI ATLAS.pdf",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DNV_path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": "/dnv-v2/vis-3-10a/800a/860/861/861.1/861.11/G51/G51.1",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"Value": "S913",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  "location": "</a:t>
            </a:r>
            <a:r>
              <a:rPr lang="fr-FR" sz="1000" b="0" i="0" u="none" strike="noStrike" kern="0" cap="none" spc="0" baseline="0" dirty="0" err="1">
                <a:solidFill>
                  <a:srgbClr val="FFFFFF"/>
                </a:solidFill>
                <a:uFillTx/>
                <a:latin typeface="Consolas" pitchFamily="49"/>
              </a:rPr>
              <a:t>hull</a:t>
            </a: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"    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  }</a:t>
            </a: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  ]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 dirty="0">
                <a:solidFill>
                  <a:srgbClr val="FFFFFF"/>
                </a:solidFill>
                <a:uFillTx/>
                <a:latin typeface="Consolas" pitchFamily="49"/>
              </a:rPr>
              <a:t>}</a:t>
            </a:r>
            <a:endParaRPr lang="fr-FR" sz="1000" b="0" i="0" u="none" strike="noStrike" kern="1200" cap="none" spc="0" baseline="0" dirty="0">
              <a:solidFill>
                <a:srgbClr val="FFFFFF"/>
              </a:solidFill>
              <a:uFillTx/>
              <a:latin typeface="Consolas" pitchFamily="49"/>
              <a:ea typeface="Consolas"/>
              <a:cs typeface="Consolas"/>
            </a:endParaRPr>
          </a:p>
        </p:txBody>
      </p:sp>
      <p:sp>
        <p:nvSpPr>
          <p:cNvPr id="8" name="Rectangle : coins arrondis 6">
            <a:extLst>
              <a:ext uri="{FF2B5EF4-FFF2-40B4-BE49-F238E27FC236}">
                <a16:creationId xmlns:a16="http://schemas.microsoft.com/office/drawing/2014/main" id="{734438A3-0561-E6F7-F2E7-9FDFF5904159}"/>
              </a:ext>
            </a:extLst>
          </p:cNvPr>
          <p:cNvSpPr/>
          <p:nvPr/>
        </p:nvSpPr>
        <p:spPr>
          <a:xfrm>
            <a:off x="6115049" y="1599313"/>
            <a:ext cx="5333996" cy="819146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9" name="Rectangle : coins arrondis 7">
            <a:extLst>
              <a:ext uri="{FF2B5EF4-FFF2-40B4-BE49-F238E27FC236}">
                <a16:creationId xmlns:a16="http://schemas.microsoft.com/office/drawing/2014/main" id="{9646F4FA-DE35-7681-E0D5-3C2102733EF3}"/>
              </a:ext>
            </a:extLst>
          </p:cNvPr>
          <p:cNvSpPr/>
          <p:nvPr/>
        </p:nvSpPr>
        <p:spPr>
          <a:xfrm>
            <a:off x="6267462" y="1751716"/>
            <a:ext cx="1162046" cy="247646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FDF1B566-96B3-2DDD-CD1B-6F87A5E6B678}"/>
              </a:ext>
            </a:extLst>
          </p:cNvPr>
          <p:cNvSpPr/>
          <p:nvPr/>
        </p:nvSpPr>
        <p:spPr>
          <a:xfrm>
            <a:off x="6267462" y="1751716"/>
            <a:ext cx="1162046" cy="2476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5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9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summary</a:t>
            </a: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C034315E-648D-2F22-5B9D-44A076AD5099}"/>
              </a:ext>
            </a:extLst>
          </p:cNvPr>
          <p:cNvSpPr/>
          <p:nvPr/>
        </p:nvSpPr>
        <p:spPr>
          <a:xfrm>
            <a:off x="6267462" y="2113663"/>
            <a:ext cx="5029200" cy="4572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One short paragraph. It appears at the top of the left panel.</a:t>
            </a:r>
          </a:p>
        </p:txBody>
      </p:sp>
      <p:sp>
        <p:nvSpPr>
          <p:cNvPr id="12" name="Rectangle : coins arrondis 10">
            <a:extLst>
              <a:ext uri="{FF2B5EF4-FFF2-40B4-BE49-F238E27FC236}">
                <a16:creationId xmlns:a16="http://schemas.microsoft.com/office/drawing/2014/main" id="{A7E2CD4A-21AD-5E06-0661-9264D59BCF4D}"/>
              </a:ext>
            </a:extLst>
          </p:cNvPr>
          <p:cNvSpPr/>
          <p:nvPr/>
        </p:nvSpPr>
        <p:spPr>
          <a:xfrm>
            <a:off x="6191256" y="2606085"/>
            <a:ext cx="5333996" cy="4118558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3" name="Rectangle : coins arrondis 11">
            <a:extLst>
              <a:ext uri="{FF2B5EF4-FFF2-40B4-BE49-F238E27FC236}">
                <a16:creationId xmlns:a16="http://schemas.microsoft.com/office/drawing/2014/main" id="{1A1EC9B9-7CF6-C16E-49AD-32D15BF36222}"/>
              </a:ext>
            </a:extLst>
          </p:cNvPr>
          <p:cNvSpPr/>
          <p:nvPr/>
        </p:nvSpPr>
        <p:spPr>
          <a:xfrm>
            <a:off x="6343659" y="2758488"/>
            <a:ext cx="1162046" cy="27068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16803C"/>
          </a:solidFill>
          <a:ln w="0" cap="flat">
            <a:solidFill>
              <a:srgbClr val="16803C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F6657A8E-5832-103A-D9AB-34B4DF84E707}"/>
              </a:ext>
            </a:extLst>
          </p:cNvPr>
          <p:cNvSpPr/>
          <p:nvPr/>
        </p:nvSpPr>
        <p:spPr>
          <a:xfrm>
            <a:off x="6343650" y="2758497"/>
            <a:ext cx="1162046" cy="27068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5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vessel_info</a:t>
            </a:r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F02EDA99-7DF1-7710-7044-5C9117DB073E}"/>
              </a:ext>
            </a:extLst>
          </p:cNvPr>
          <p:cNvSpPr/>
          <p:nvPr/>
        </p:nvSpPr>
        <p:spPr>
          <a:xfrm>
            <a:off x="6343659" y="3120435"/>
            <a:ext cx="5029200" cy="2103055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You can add multiple groups of this kind one after another to create a list of data representing information about the vessel or the environment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AA18EE16-9791-A49A-734E-1A4C49ECBD97}"/>
              </a:ext>
            </a:extLst>
          </p:cNvPr>
          <p:cNvSpPr/>
          <p:nvPr/>
        </p:nvSpPr>
        <p:spPr>
          <a:xfrm>
            <a:off x="6343650" y="4091181"/>
            <a:ext cx="1162046" cy="2476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5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9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How to build it</a:t>
            </a:r>
          </a:p>
        </p:txBody>
      </p:sp>
      <p:sp>
        <p:nvSpPr>
          <p:cNvPr id="17" name="Rectangle 18">
            <a:extLst>
              <a:ext uri="{FF2B5EF4-FFF2-40B4-BE49-F238E27FC236}">
                <a16:creationId xmlns:a16="http://schemas.microsoft.com/office/drawing/2014/main" id="{15828B99-4ABF-665D-191C-BBD8E9667336}"/>
              </a:ext>
            </a:extLst>
          </p:cNvPr>
          <p:cNvSpPr/>
          <p:nvPr/>
        </p:nvSpPr>
        <p:spPr>
          <a:xfrm>
            <a:off x="329467" y="6536231"/>
            <a:ext cx="3047996" cy="1904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825" b="0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en-US" sz="825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Data Hub guide - new vessel workflow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580D4970-E264-9F05-AF75-67F7B5C6AE0E}"/>
              </a:ext>
            </a:extLst>
          </p:cNvPr>
          <p:cNvSpPr/>
          <p:nvPr/>
        </p:nvSpPr>
        <p:spPr>
          <a:xfrm>
            <a:off x="11144250" y="6496053"/>
            <a:ext cx="381003" cy="2286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900" b="1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fr-FR" sz="900" b="1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6</a:t>
            </a:r>
          </a:p>
        </p:txBody>
      </p:sp>
      <p:sp>
        <p:nvSpPr>
          <p:cNvPr id="19" name="Rectangle : coins arrondis 21">
            <a:extLst>
              <a:ext uri="{FF2B5EF4-FFF2-40B4-BE49-F238E27FC236}">
                <a16:creationId xmlns:a16="http://schemas.microsoft.com/office/drawing/2014/main" id="{79B24977-D506-B255-704B-2522DA32AA37}"/>
              </a:ext>
            </a:extLst>
          </p:cNvPr>
          <p:cNvSpPr/>
          <p:nvPr/>
        </p:nvSpPr>
        <p:spPr>
          <a:xfrm>
            <a:off x="590254" y="2247220"/>
            <a:ext cx="5073648" cy="477517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F9ED5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Rectangle : coins arrondis 24">
            <a:extLst>
              <a:ext uri="{FF2B5EF4-FFF2-40B4-BE49-F238E27FC236}">
                <a16:creationId xmlns:a16="http://schemas.microsoft.com/office/drawing/2014/main" id="{7FE4E4A5-72A4-317B-9D91-BCA2B657C17E}"/>
              </a:ext>
            </a:extLst>
          </p:cNvPr>
          <p:cNvSpPr/>
          <p:nvPr/>
        </p:nvSpPr>
        <p:spPr>
          <a:xfrm>
            <a:off x="555324" y="3008659"/>
            <a:ext cx="5073648" cy="125556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1" name="Rectangle : coins arrondis 42">
            <a:extLst>
              <a:ext uri="{FF2B5EF4-FFF2-40B4-BE49-F238E27FC236}">
                <a16:creationId xmlns:a16="http://schemas.microsoft.com/office/drawing/2014/main" id="{B8B5260C-CC41-53EC-F9C2-B18A72CD70E0}"/>
              </a:ext>
            </a:extLst>
          </p:cNvPr>
          <p:cNvSpPr/>
          <p:nvPr/>
        </p:nvSpPr>
        <p:spPr>
          <a:xfrm>
            <a:off x="6903070" y="3731712"/>
            <a:ext cx="3637282" cy="287555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22" name="Rectangle : coins arrondis 44">
            <a:extLst>
              <a:ext uri="{FF2B5EF4-FFF2-40B4-BE49-F238E27FC236}">
                <a16:creationId xmlns:a16="http://schemas.microsoft.com/office/drawing/2014/main" id="{66F2982D-0141-FC4F-7B84-B8D420919110}"/>
              </a:ext>
            </a:extLst>
          </p:cNvPr>
          <p:cNvSpPr/>
          <p:nvPr/>
        </p:nvSpPr>
        <p:spPr>
          <a:xfrm>
            <a:off x="7251054" y="3938631"/>
            <a:ext cx="3021333" cy="35398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F9ED5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Summary</a:t>
            </a:r>
          </a:p>
        </p:txBody>
      </p:sp>
      <p:sp>
        <p:nvSpPr>
          <p:cNvPr id="23" name="Rectangle : coins arrondis 46">
            <a:extLst>
              <a:ext uri="{FF2B5EF4-FFF2-40B4-BE49-F238E27FC236}">
                <a16:creationId xmlns:a16="http://schemas.microsoft.com/office/drawing/2014/main" id="{50985BBD-5A53-FBBC-2FD9-8353C0B04EAC}"/>
              </a:ext>
            </a:extLst>
          </p:cNvPr>
          <p:cNvSpPr/>
          <p:nvPr/>
        </p:nvSpPr>
        <p:spPr>
          <a:xfrm>
            <a:off x="7251054" y="4568424"/>
            <a:ext cx="3021333" cy="52193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DATA 1</a:t>
            </a:r>
          </a:p>
        </p:txBody>
      </p:sp>
      <p:sp>
        <p:nvSpPr>
          <p:cNvPr id="24" name="Rectangle : coins arrondis 50">
            <a:extLst>
              <a:ext uri="{FF2B5EF4-FFF2-40B4-BE49-F238E27FC236}">
                <a16:creationId xmlns:a16="http://schemas.microsoft.com/office/drawing/2014/main" id="{9100F037-3A65-CCAE-B0A2-0654DA263A23}"/>
              </a:ext>
            </a:extLst>
          </p:cNvPr>
          <p:cNvSpPr/>
          <p:nvPr/>
        </p:nvSpPr>
        <p:spPr>
          <a:xfrm>
            <a:off x="7251054" y="5153137"/>
            <a:ext cx="3021333" cy="52193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DATA 2</a:t>
            </a:r>
          </a:p>
        </p:txBody>
      </p:sp>
      <p:sp>
        <p:nvSpPr>
          <p:cNvPr id="25" name="Rectangle : coins arrondis 52">
            <a:extLst>
              <a:ext uri="{FF2B5EF4-FFF2-40B4-BE49-F238E27FC236}">
                <a16:creationId xmlns:a16="http://schemas.microsoft.com/office/drawing/2014/main" id="{80411928-5E37-F9B2-5998-BD3E245BF003}"/>
              </a:ext>
            </a:extLst>
          </p:cNvPr>
          <p:cNvSpPr/>
          <p:nvPr/>
        </p:nvSpPr>
        <p:spPr>
          <a:xfrm>
            <a:off x="7251054" y="5737841"/>
            <a:ext cx="3021333" cy="521939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DATA …</a:t>
            </a:r>
          </a:p>
        </p:txBody>
      </p:sp>
      <p:sp>
        <p:nvSpPr>
          <p:cNvPr id="26" name="ZoneTexte 53">
            <a:extLst>
              <a:ext uri="{FF2B5EF4-FFF2-40B4-BE49-F238E27FC236}">
                <a16:creationId xmlns:a16="http://schemas.microsoft.com/office/drawing/2014/main" id="{7DB0AECA-D08A-4430-748D-E1B2D43AC7F5}"/>
              </a:ext>
            </a:extLst>
          </p:cNvPr>
          <p:cNvSpPr txBox="1"/>
          <p:nvPr/>
        </p:nvSpPr>
        <p:spPr>
          <a:xfrm>
            <a:off x="6796396" y="4212942"/>
            <a:ext cx="3910331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 "vessel_info": [</a:t>
            </a: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ZoneTexte 55">
            <a:extLst>
              <a:ext uri="{FF2B5EF4-FFF2-40B4-BE49-F238E27FC236}">
                <a16:creationId xmlns:a16="http://schemas.microsoft.com/office/drawing/2014/main" id="{B1846BB3-AAE5-6FBE-5FCA-B3FC0357AB80}"/>
              </a:ext>
            </a:extLst>
          </p:cNvPr>
          <p:cNvSpPr txBox="1"/>
          <p:nvPr/>
        </p:nvSpPr>
        <p:spPr>
          <a:xfrm>
            <a:off x="10027301" y="6248863"/>
            <a:ext cx="3910331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]</a:t>
            </a: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Rectangle : coins arrondis 24">
            <a:extLst>
              <a:ext uri="{FF2B5EF4-FFF2-40B4-BE49-F238E27FC236}">
                <a16:creationId xmlns:a16="http://schemas.microsoft.com/office/drawing/2014/main" id="{E140AFF0-67CD-DB89-B699-731AD4FF6EAF}"/>
              </a:ext>
            </a:extLst>
          </p:cNvPr>
          <p:cNvSpPr/>
          <p:nvPr/>
        </p:nvSpPr>
        <p:spPr>
          <a:xfrm>
            <a:off x="571500" y="4363983"/>
            <a:ext cx="5073648" cy="125556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36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4EA72E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20">
            <a:extLst>
              <a:ext uri="{FF2B5EF4-FFF2-40B4-BE49-F238E27FC236}">
                <a16:creationId xmlns:a16="http://schemas.microsoft.com/office/drawing/2014/main" id="{33FCC951-B7B3-C4B3-AB4B-B8AC3A13C98E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A7A5B9D-7772-C98E-DA12-41CA68DFC874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0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BUILD STEP 4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B10C7FB-AA2E-376C-8CD6-9476C3C11990}"/>
              </a:ext>
            </a:extLst>
          </p:cNvPr>
          <p:cNvSpPr/>
          <p:nvPr/>
        </p:nvSpPr>
        <p:spPr>
          <a:xfrm>
            <a:off x="571500" y="713990"/>
            <a:ext cx="11048996" cy="4762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r>
              <a:rPr lang="en-US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Representation of a Data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007A1BD-B2FE-EADE-E808-83F7B53792D5}"/>
              </a:ext>
            </a:extLst>
          </p:cNvPr>
          <p:cNvSpPr/>
          <p:nvPr/>
        </p:nvSpPr>
        <p:spPr>
          <a:xfrm>
            <a:off x="571500" y="1190247"/>
            <a:ext cx="11048996" cy="3238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350" b="0" i="0" u="none" strike="noStrike" kern="0" cap="none" spc="0" baseline="0">
                <a:solidFill>
                  <a:srgbClr val="475569"/>
                </a:solidFill>
                <a:uFillTx/>
              </a:defRPr>
            </a:pPr>
            <a:endParaRPr lang="fr-FR" sz="1350" b="0" i="0" u="none" strike="noStrike" kern="1200" cap="none" spc="0" baseline="0">
              <a:solidFill>
                <a:srgbClr val="475569"/>
              </a:solidFill>
              <a:uFillTx/>
              <a:latin typeface="Aptos"/>
            </a:endParaRPr>
          </a:p>
        </p:txBody>
      </p:sp>
      <p:sp>
        <p:nvSpPr>
          <p:cNvPr id="6" name="Rectangle : coins arrondis 4">
            <a:extLst>
              <a:ext uri="{FF2B5EF4-FFF2-40B4-BE49-F238E27FC236}">
                <a16:creationId xmlns:a16="http://schemas.microsoft.com/office/drawing/2014/main" id="{A1D1D137-EEFD-90BA-1B5A-D4DB80D205F5}"/>
              </a:ext>
            </a:extLst>
          </p:cNvPr>
          <p:cNvSpPr/>
          <p:nvPr/>
        </p:nvSpPr>
        <p:spPr>
          <a:xfrm>
            <a:off x="475021" y="2684742"/>
            <a:ext cx="5333996" cy="1785923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D4E59042-D47C-5CE5-F0F9-CCBEEDCFDE6D}"/>
              </a:ext>
            </a:extLst>
          </p:cNvPr>
          <p:cNvSpPr/>
          <p:nvPr/>
        </p:nvSpPr>
        <p:spPr>
          <a:xfrm>
            <a:off x="703621" y="2846280"/>
            <a:ext cx="4991096" cy="149657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{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8080"/>
                </a:highlight>
                <a:uFillTx/>
                <a:latin typeface="Consolas" pitchFamily="49"/>
              </a:rPr>
              <a:t>      "Name": "shipbuilder",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0000"/>
                </a:highlight>
                <a:uFillTx/>
                <a:latin typeface="Consolas" pitchFamily="49"/>
              </a:rPr>
              <a:t>      "Link": "../raw_DATA/ALMI ATLAS.pdf",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FFFFFF"/>
                </a:solidFill>
                <a:highlight>
                  <a:srgbClr val="008000"/>
                </a:highlight>
                <a:uFillTx/>
                <a:latin typeface="Consolas" pitchFamily="49"/>
              </a:rPr>
              <a:t>      </a:t>
            </a: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008000"/>
                </a:highlight>
                <a:uFillTx/>
                <a:latin typeface="Consolas" pitchFamily="49"/>
              </a:rPr>
              <a:t>"DNV_path": "/dnv-v2/vis-3-10a/800a/860/861/861.2/861.21/G52/G52.1",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FFFFFF"/>
                </a:solidFill>
                <a:highlight>
                  <a:srgbClr val="800080"/>
                </a:highlight>
                <a:uFillTx/>
                <a:latin typeface="Consolas" pitchFamily="49"/>
              </a:rPr>
              <a:t>      </a:t>
            </a: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0080"/>
                </a:highlight>
                <a:uFillTx/>
                <a:latin typeface="Consolas" pitchFamily="49"/>
              </a:rPr>
              <a:t>"Value": "Hyundai Samho Heavy Industries Co. Ltd",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FFFFFF"/>
                </a:solidFill>
                <a:highlight>
                  <a:srgbClr val="808000"/>
                </a:highlight>
                <a:uFillTx/>
                <a:latin typeface="Consolas" pitchFamily="49"/>
              </a:rPr>
              <a:t>      </a:t>
            </a:r>
            <a:r>
              <a:rPr lang="fr-FR" sz="1200" b="0" i="0" u="none" strike="noStrike" kern="1200" cap="none" spc="0" baseline="0">
                <a:solidFill>
                  <a:srgbClr val="FFFFFF"/>
                </a:solidFill>
                <a:highlight>
                  <a:srgbClr val="808000"/>
                </a:highlight>
                <a:uFillTx/>
                <a:latin typeface="Consolas" pitchFamily="49"/>
              </a:rPr>
              <a:t>"location": "hull"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2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    }</a:t>
            </a:r>
            <a:endParaRPr lang="fr-FR" sz="12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  <a:ea typeface="Consolas"/>
              <a:cs typeface="Consolas"/>
            </a:endParaRPr>
          </a:p>
        </p:txBody>
      </p:sp>
      <p:sp>
        <p:nvSpPr>
          <p:cNvPr id="8" name="Rectangle : coins arrondis 10">
            <a:extLst>
              <a:ext uri="{FF2B5EF4-FFF2-40B4-BE49-F238E27FC236}">
                <a16:creationId xmlns:a16="http://schemas.microsoft.com/office/drawing/2014/main" id="{E52B3B7D-DF51-4113-42DF-C27EA359ADBB}"/>
              </a:ext>
            </a:extLst>
          </p:cNvPr>
          <p:cNvSpPr/>
          <p:nvPr/>
        </p:nvSpPr>
        <p:spPr>
          <a:xfrm>
            <a:off x="6096003" y="1085091"/>
            <a:ext cx="5333996" cy="52039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BD514A1C-33AC-1675-D4B0-74921DFDCBE9}"/>
              </a:ext>
            </a:extLst>
          </p:cNvPr>
          <p:cNvSpPr/>
          <p:nvPr/>
        </p:nvSpPr>
        <p:spPr>
          <a:xfrm>
            <a:off x="6248396" y="1698113"/>
            <a:ext cx="5029200" cy="420484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This is the representation of a data.</a:t>
            </a:r>
            <a:r>
              <a:rPr lang="en-US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 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We can recognize 5 main blocks :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</a:t>
            </a: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8080"/>
                </a:highlight>
                <a:uFillTx/>
                <a:latin typeface="Consolas" pitchFamily="49"/>
              </a:rPr>
              <a:t>Name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is the label shown to the user 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0000"/>
                </a:highlight>
                <a:uFillTx/>
                <a:latin typeface="Consolas" pitchFamily="49"/>
              </a:rPr>
              <a:t>Link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points to the raw source file stored in the project so the user can open or download it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008000"/>
                </a:highlight>
                <a:uFillTx/>
                <a:latin typeface="Consolas" pitchFamily="49"/>
              </a:rPr>
              <a:t>DNV_path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places the same information in the DNV tree on the right if the path is valid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0080"/>
                </a:highlight>
                <a:uFillTx/>
                <a:latin typeface="Consolas" pitchFamily="49"/>
              </a:rPr>
              <a:t>Value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:is the visible content on the dashboard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FFFFFF"/>
                </a:solidFill>
                <a:highlight>
                  <a:srgbClr val="808000"/>
                </a:highlight>
                <a:uFillTx/>
                <a:latin typeface="Consolas" pitchFamily="49"/>
              </a:rPr>
              <a:t>location</a:t>
            </a: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 : decides in which left-side section or accordion the information appears </a:t>
            </a: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b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</a:b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0" name="Rectangle 18">
            <a:extLst>
              <a:ext uri="{FF2B5EF4-FFF2-40B4-BE49-F238E27FC236}">
                <a16:creationId xmlns:a16="http://schemas.microsoft.com/office/drawing/2014/main" id="{D52BBAD4-78AC-6B72-9F31-B8DFB8D2B853}"/>
              </a:ext>
            </a:extLst>
          </p:cNvPr>
          <p:cNvSpPr/>
          <p:nvPr/>
        </p:nvSpPr>
        <p:spPr>
          <a:xfrm>
            <a:off x="571500" y="6534146"/>
            <a:ext cx="3047996" cy="1904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825" b="0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en-US" sz="825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Data Hub guide - new vessel workflow</a:t>
            </a:r>
          </a:p>
        </p:txBody>
      </p:sp>
      <p:sp>
        <p:nvSpPr>
          <p:cNvPr id="11" name="Rectangle 19">
            <a:extLst>
              <a:ext uri="{FF2B5EF4-FFF2-40B4-BE49-F238E27FC236}">
                <a16:creationId xmlns:a16="http://schemas.microsoft.com/office/drawing/2014/main" id="{EB21A432-6FC4-C43D-A9F5-D94DD8D1C86A}"/>
              </a:ext>
            </a:extLst>
          </p:cNvPr>
          <p:cNvSpPr/>
          <p:nvPr/>
        </p:nvSpPr>
        <p:spPr>
          <a:xfrm>
            <a:off x="11144250" y="6496053"/>
            <a:ext cx="381003" cy="2286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900" b="1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fr-FR" sz="900" b="1" dirty="0">
                <a:solidFill>
                  <a:srgbClr val="64748B"/>
                </a:solidFill>
                <a:latin typeface="Aptos"/>
              </a:rPr>
              <a:t>7</a:t>
            </a:r>
            <a:endParaRPr lang="fr-FR" sz="900" b="1" i="0" u="none" strike="noStrike" kern="1200" cap="none" spc="0" baseline="0" dirty="0">
              <a:solidFill>
                <a:srgbClr val="64748B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20">
            <a:extLst>
              <a:ext uri="{FF2B5EF4-FFF2-40B4-BE49-F238E27FC236}">
                <a16:creationId xmlns:a16="http://schemas.microsoft.com/office/drawing/2014/main" id="{2B78C87E-7BCD-64C8-839F-AD25B5B65CD2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10800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2553D6"/>
          </a:solidFill>
          <a:ln w="0" cap="flat">
            <a:solidFill>
              <a:srgbClr val="2553D6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DD4140D-0546-EEEB-B461-866CC900FFFE}"/>
              </a:ext>
            </a:extLst>
          </p:cNvPr>
          <p:cNvSpPr/>
          <p:nvPr/>
        </p:nvSpPr>
        <p:spPr>
          <a:xfrm>
            <a:off x="571500" y="361946"/>
            <a:ext cx="1619246" cy="28575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76196" tIns="76196" rIns="76196" bIns="76196" anchor="ctr" anchorCtr="1" compatLnSpc="1">
            <a:normAutofit/>
          </a:bodyPr>
          <a:lstStyle/>
          <a:p>
            <a:pPr marL="0" marR="0" lvl="0" indent="0" algn="ctr" defTabSz="914400" rtl="0" fontAlgn="auto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000" b="1" i="0" u="none" strike="noStrike" kern="0" cap="none" spc="0" baseline="0">
                <a:solidFill>
                  <a:srgbClr val="FFFFFF"/>
                </a:solidFill>
                <a:uFillTx/>
              </a:defRPr>
            </a:pPr>
            <a:r>
              <a:rPr lang="fr-FR" sz="1000" b="1" i="0" u="none" strike="noStrike" kern="1200" cap="none" spc="0" baseline="0">
                <a:solidFill>
                  <a:srgbClr val="FFFFFF"/>
                </a:solidFill>
                <a:uFillTx/>
                <a:latin typeface="Aptos"/>
              </a:rPr>
              <a:t>BUILD STEP 4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DE92AC3-88D8-FB90-B4C6-90E949417731}"/>
              </a:ext>
            </a:extLst>
          </p:cNvPr>
          <p:cNvSpPr/>
          <p:nvPr/>
        </p:nvSpPr>
        <p:spPr>
          <a:xfrm>
            <a:off x="571500" y="713990"/>
            <a:ext cx="11048996" cy="47624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r>
              <a:rPr lang="en-US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Representation of </a:t>
            </a:r>
            <a:r>
              <a:rPr lang="fr-FR" sz="3000" b="1" i="0" u="none" strike="noStrike" kern="1200" cap="none" spc="0" baseline="0">
                <a:solidFill>
                  <a:srgbClr val="0F172A"/>
                </a:solidFill>
                <a:uFillTx/>
                <a:latin typeface="Aptos"/>
              </a:rPr>
              <a:t>Link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3000" b="1" i="0" u="none" strike="noStrike" kern="0" cap="none" spc="0" baseline="0">
                <a:solidFill>
                  <a:srgbClr val="0F172A"/>
                </a:solidFill>
                <a:uFillTx/>
              </a:defRPr>
            </a:pPr>
            <a:endParaRPr lang="en-US" sz="3000" b="1" i="0" u="none" strike="noStrike" kern="1200" cap="none" spc="0" baseline="0">
              <a:solidFill>
                <a:srgbClr val="0F172A"/>
              </a:solidFill>
              <a:uFillTx/>
              <a:latin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43A88C-9A01-CEC3-6377-32D9651710CC}"/>
              </a:ext>
            </a:extLst>
          </p:cNvPr>
          <p:cNvSpPr/>
          <p:nvPr/>
        </p:nvSpPr>
        <p:spPr>
          <a:xfrm>
            <a:off x="571500" y="1554745"/>
            <a:ext cx="11048996" cy="32385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350" b="0" i="0" u="none" strike="noStrike" kern="0" cap="none" spc="0" baseline="0">
                <a:solidFill>
                  <a:srgbClr val="475569"/>
                </a:solidFill>
                <a:uFillTx/>
              </a:defRPr>
            </a:pPr>
            <a:endParaRPr lang="fr-FR" sz="1350" b="0" i="0" u="none" strike="noStrike" kern="1200" cap="none" spc="0" baseline="0">
              <a:solidFill>
                <a:srgbClr val="475569"/>
              </a:solidFill>
              <a:uFillTx/>
              <a:latin typeface="Aptos"/>
            </a:endParaRPr>
          </a:p>
        </p:txBody>
      </p:sp>
      <p:sp>
        <p:nvSpPr>
          <p:cNvPr id="6" name="Rectangle : coins arrondis 10">
            <a:extLst>
              <a:ext uri="{FF2B5EF4-FFF2-40B4-BE49-F238E27FC236}">
                <a16:creationId xmlns:a16="http://schemas.microsoft.com/office/drawing/2014/main" id="{77351BC7-4905-CEA3-60E7-9D8CB3DEA992}"/>
              </a:ext>
            </a:extLst>
          </p:cNvPr>
          <p:cNvSpPr/>
          <p:nvPr/>
        </p:nvSpPr>
        <p:spPr>
          <a:xfrm>
            <a:off x="914400" y="1643524"/>
            <a:ext cx="10515600" cy="695702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E5231685-942B-03AE-D2C4-51EF5BB7476D}"/>
              </a:ext>
            </a:extLst>
          </p:cNvPr>
          <p:cNvSpPr/>
          <p:nvPr/>
        </p:nvSpPr>
        <p:spPr>
          <a:xfrm>
            <a:off x="1143000" y="1802401"/>
            <a:ext cx="10134596" cy="695702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Due to the fact that data can come from different documents, a value can be connected to different paths.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8" name="Rectangle 18">
            <a:extLst>
              <a:ext uri="{FF2B5EF4-FFF2-40B4-BE49-F238E27FC236}">
                <a16:creationId xmlns:a16="http://schemas.microsoft.com/office/drawing/2014/main" id="{04A561D8-D4A5-8A70-7FCA-84896DE3A8D2}"/>
              </a:ext>
            </a:extLst>
          </p:cNvPr>
          <p:cNvSpPr/>
          <p:nvPr/>
        </p:nvSpPr>
        <p:spPr>
          <a:xfrm>
            <a:off x="571500" y="6534146"/>
            <a:ext cx="3047996" cy="190496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825" b="0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en-US" sz="825" b="0" i="0" u="none" strike="noStrike" kern="1200" cap="none" spc="0" baseline="0">
                <a:solidFill>
                  <a:srgbClr val="64748B"/>
                </a:solidFill>
                <a:uFillTx/>
                <a:latin typeface="Aptos"/>
              </a:rPr>
              <a:t>Data Hub guide - new vessel workflow</a:t>
            </a:r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38F8AB01-C8D8-0178-DC2B-2F1C1F8679D8}"/>
              </a:ext>
            </a:extLst>
          </p:cNvPr>
          <p:cNvSpPr/>
          <p:nvPr/>
        </p:nvSpPr>
        <p:spPr>
          <a:xfrm>
            <a:off x="11144250" y="6496053"/>
            <a:ext cx="381003" cy="228600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900" b="1" i="0" u="none" strike="noStrike" kern="0" cap="none" spc="0" baseline="0">
                <a:solidFill>
                  <a:srgbClr val="64748B"/>
                </a:solidFill>
                <a:uFillTx/>
              </a:defRPr>
            </a:pPr>
            <a:r>
              <a:rPr lang="fr-FR" sz="900" b="1" dirty="0">
                <a:solidFill>
                  <a:srgbClr val="64748B"/>
                </a:solidFill>
                <a:latin typeface="Aptos"/>
              </a:rPr>
              <a:t>8</a:t>
            </a:r>
            <a:endParaRPr lang="fr-FR" sz="900" b="1" i="0" u="none" strike="noStrike" kern="1200" cap="none" spc="0" baseline="0" dirty="0">
              <a:solidFill>
                <a:srgbClr val="64748B"/>
              </a:solidFill>
              <a:uFillTx/>
              <a:latin typeface="Aptos"/>
            </a:endParaRPr>
          </a:p>
        </p:txBody>
      </p:sp>
      <p:sp>
        <p:nvSpPr>
          <p:cNvPr id="10" name="Rectangle : coins arrondis 32">
            <a:extLst>
              <a:ext uri="{FF2B5EF4-FFF2-40B4-BE49-F238E27FC236}">
                <a16:creationId xmlns:a16="http://schemas.microsoft.com/office/drawing/2014/main" id="{F87027A0-D490-2E55-E493-7BBDA3D47BC8}"/>
              </a:ext>
            </a:extLst>
          </p:cNvPr>
          <p:cNvSpPr/>
          <p:nvPr/>
        </p:nvSpPr>
        <p:spPr>
          <a:xfrm>
            <a:off x="1034415" y="2736908"/>
            <a:ext cx="4555485" cy="2470215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1" name="Rectangle 36">
            <a:extLst>
              <a:ext uri="{FF2B5EF4-FFF2-40B4-BE49-F238E27FC236}">
                <a16:creationId xmlns:a16="http://schemas.microsoft.com/office/drawing/2014/main" id="{8A3ECE60-FED4-EC18-F817-1BB681C964E3}"/>
              </a:ext>
            </a:extLst>
          </p:cNvPr>
          <p:cNvSpPr/>
          <p:nvPr/>
        </p:nvSpPr>
        <p:spPr>
          <a:xfrm>
            <a:off x="1200150" y="3000375"/>
            <a:ext cx="4295174" cy="35814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Case 1 : Only one path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We can write it this way and move to the next key, “DNV_path”.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2" name="Rectangle : coins arrondis 64">
            <a:extLst>
              <a:ext uri="{FF2B5EF4-FFF2-40B4-BE49-F238E27FC236}">
                <a16:creationId xmlns:a16="http://schemas.microsoft.com/office/drawing/2014/main" id="{B6705413-68A7-547A-CA71-69ED3F0E8847}"/>
              </a:ext>
            </a:extLst>
          </p:cNvPr>
          <p:cNvSpPr/>
          <p:nvPr/>
        </p:nvSpPr>
        <p:spPr>
          <a:xfrm>
            <a:off x="1089022" y="3431130"/>
            <a:ext cx="4453292" cy="807223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3" name="Rectangle 66">
            <a:extLst>
              <a:ext uri="{FF2B5EF4-FFF2-40B4-BE49-F238E27FC236}">
                <a16:creationId xmlns:a16="http://schemas.microsoft.com/office/drawing/2014/main" id="{9A267041-62AA-4EF6-2758-E289464FE132}"/>
              </a:ext>
            </a:extLst>
          </p:cNvPr>
          <p:cNvSpPr/>
          <p:nvPr/>
        </p:nvSpPr>
        <p:spPr>
          <a:xfrm>
            <a:off x="1089022" y="3538307"/>
            <a:ext cx="4991096" cy="8072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000" b="0" i="0" u="none" strike="noStrike" kern="1200" cap="none" spc="0" baseline="0">
                <a:solidFill>
                  <a:srgbClr val="FFFFFF"/>
                </a:solidFill>
                <a:uFillTx/>
                <a:latin typeface="Consolas" pitchFamily="49"/>
              </a:rPr>
              <a:t>"Link": "../raw_DATA/ALMI ATLAS.pdf",</a:t>
            </a:r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  <a:ea typeface="Consolas"/>
              <a:cs typeface="Consolas"/>
            </a:endParaRPr>
          </a:p>
        </p:txBody>
      </p:sp>
      <p:sp>
        <p:nvSpPr>
          <p:cNvPr id="14" name="Rectangle : coins arrondis 68">
            <a:extLst>
              <a:ext uri="{FF2B5EF4-FFF2-40B4-BE49-F238E27FC236}">
                <a16:creationId xmlns:a16="http://schemas.microsoft.com/office/drawing/2014/main" id="{60EAB118-C5B1-434B-97F2-68B0EC6C3668}"/>
              </a:ext>
            </a:extLst>
          </p:cNvPr>
          <p:cNvSpPr/>
          <p:nvPr/>
        </p:nvSpPr>
        <p:spPr>
          <a:xfrm>
            <a:off x="6384285" y="2736908"/>
            <a:ext cx="4555485" cy="2470215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2979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FFFFFF"/>
          </a:solidFill>
          <a:ln w="9528" cap="flat">
            <a:solidFill>
              <a:srgbClr val="E2E8F0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5" name="Rectangle 70">
            <a:extLst>
              <a:ext uri="{FF2B5EF4-FFF2-40B4-BE49-F238E27FC236}">
                <a16:creationId xmlns:a16="http://schemas.microsoft.com/office/drawing/2014/main" id="{4E030E0F-646F-ED2A-F14E-3C2B8C7AD0B8}"/>
              </a:ext>
            </a:extLst>
          </p:cNvPr>
          <p:cNvSpPr/>
          <p:nvPr/>
        </p:nvSpPr>
        <p:spPr>
          <a:xfrm>
            <a:off x="6536688" y="3036630"/>
            <a:ext cx="4295174" cy="358140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334155"/>
                </a:solidFill>
                <a:uFillTx/>
                <a:latin typeface="Aptos"/>
              </a:rPr>
              <a:t>Case 2 : Multiple paths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 b="0" i="0" u="none" strike="noStrike" kern="0" cap="none" spc="0" baseline="0">
                <a:solidFill>
                  <a:srgbClr val="334155"/>
                </a:solidFill>
                <a:uFillTx/>
              </a:defRPr>
            </a:pPr>
            <a:r>
              <a:rPr lang="fr-FR" sz="1200" b="0" i="0" u="none" strike="noStrike" kern="0" cap="none" spc="0" baseline="0">
                <a:solidFill>
                  <a:srgbClr val="334155"/>
                </a:solidFill>
                <a:uFillTx/>
                <a:latin typeface="Aptos"/>
              </a:rPr>
              <a:t>We can add the other paths separated by a semicolon “;” and then move to the next key, “DNV_path”.</a:t>
            </a:r>
            <a:endParaRPr lang="en-US" sz="1200" b="0" i="0" u="none" strike="noStrike" kern="1200" cap="none" spc="0" baseline="0">
              <a:solidFill>
                <a:srgbClr val="334155"/>
              </a:solidFill>
              <a:uFillTx/>
              <a:latin typeface="Aptos"/>
            </a:endParaRPr>
          </a:p>
        </p:txBody>
      </p:sp>
      <p:sp>
        <p:nvSpPr>
          <p:cNvPr id="16" name="Rectangle : coins arrondis 72">
            <a:extLst>
              <a:ext uri="{FF2B5EF4-FFF2-40B4-BE49-F238E27FC236}">
                <a16:creationId xmlns:a16="http://schemas.microsoft.com/office/drawing/2014/main" id="{4DE9542F-8B4C-014E-CBFE-636505FD696F}"/>
              </a:ext>
            </a:extLst>
          </p:cNvPr>
          <p:cNvSpPr/>
          <p:nvPr/>
        </p:nvSpPr>
        <p:spPr>
          <a:xfrm>
            <a:off x="6379211" y="3431130"/>
            <a:ext cx="4453292" cy="807223"/>
          </a:xfrm>
          <a:custGeom>
            <a:avLst/>
            <a:gdLst>
              <a:gd name="f0" fmla="val 10800000"/>
              <a:gd name="f1" fmla="val 5400000"/>
              <a:gd name="f2" fmla="val 16200000"/>
              <a:gd name="f3" fmla="val w"/>
              <a:gd name="f4" fmla="val h"/>
              <a:gd name="f5" fmla="val ss"/>
              <a:gd name="f6" fmla="val 0"/>
              <a:gd name="f7" fmla="*/ 5419351 1 1725033"/>
              <a:gd name="f8" fmla="val 45"/>
              <a:gd name="f9" fmla="val 868"/>
              <a:gd name="f10" fmla="abs f3"/>
              <a:gd name="f11" fmla="abs f4"/>
              <a:gd name="f12" fmla="abs f5"/>
              <a:gd name="f13" fmla="*/ f7 1 180"/>
              <a:gd name="f14" fmla="+- 0 0 f1"/>
              <a:gd name="f15" fmla="+- f6 f9 0"/>
              <a:gd name="f16" fmla="?: f10 f3 1"/>
              <a:gd name="f17" fmla="?: f11 f4 1"/>
              <a:gd name="f18" fmla="?: f12 f5 1"/>
              <a:gd name="f19" fmla="*/ f8 f13 1"/>
              <a:gd name="f20" fmla="+- f6 0 f15"/>
              <a:gd name="f21" fmla="+- f15 0 f6"/>
              <a:gd name="f22" fmla="*/ f16 1 21600"/>
              <a:gd name="f23" fmla="*/ f17 1 21600"/>
              <a:gd name="f24" fmla="*/ 21600 f16 1"/>
              <a:gd name="f25" fmla="*/ 21600 f17 1"/>
              <a:gd name="f26" fmla="+- 0 0 f19"/>
              <a:gd name="f27" fmla="abs f20"/>
              <a:gd name="f28" fmla="abs f21"/>
              <a:gd name="f29" fmla="?: f20 f14 f1"/>
              <a:gd name="f30" fmla="?: f20 f1 f14"/>
              <a:gd name="f31" fmla="?: f20 f2 f1"/>
              <a:gd name="f32" fmla="?: f20 f1 f2"/>
              <a:gd name="f33" fmla="?: f21 f14 f1"/>
              <a:gd name="f34" fmla="?: f21 f1 f14"/>
              <a:gd name="f35" fmla="?: f20 0 f0"/>
              <a:gd name="f36" fmla="?: f20 f0 0"/>
              <a:gd name="f37" fmla="min f23 f22"/>
              <a:gd name="f38" fmla="*/ f24 1 f18"/>
              <a:gd name="f39" fmla="*/ f25 1 f18"/>
              <a:gd name="f40" fmla="*/ f26 f0 1"/>
              <a:gd name="f41" fmla="?: f20 f32 f31"/>
              <a:gd name="f42" fmla="?: f20 f31 f32"/>
              <a:gd name="f43" fmla="?: f21 f30 f29"/>
              <a:gd name="f44" fmla="val f38"/>
              <a:gd name="f45" fmla="val f39"/>
              <a:gd name="f46" fmla="*/ f40 1 f7"/>
              <a:gd name="f47" fmla="?: f21 f42 f41"/>
              <a:gd name="f48" fmla="*/ f15 f37 1"/>
              <a:gd name="f49" fmla="*/ f6 f37 1"/>
              <a:gd name="f50" fmla="*/ f27 f37 1"/>
              <a:gd name="f51" fmla="*/ f28 f37 1"/>
              <a:gd name="f52" fmla="+- f45 0 f9"/>
              <a:gd name="f53" fmla="+- f44 0 f9"/>
              <a:gd name="f54" fmla="+- f46 0 f1"/>
              <a:gd name="f55" fmla="*/ f45 f37 1"/>
              <a:gd name="f56" fmla="*/ f44 f37 1"/>
              <a:gd name="f57" fmla="+- f45 0 f52"/>
              <a:gd name="f58" fmla="+- f44 0 f53"/>
              <a:gd name="f59" fmla="+- f52 0 f45"/>
              <a:gd name="f60" fmla="+- f53 0 f44"/>
              <a:gd name="f61" fmla="+- f54 f1 0"/>
              <a:gd name="f62" fmla="*/ f52 f37 1"/>
              <a:gd name="f63" fmla="*/ f53 f37 1"/>
              <a:gd name="f64" fmla="abs f57"/>
              <a:gd name="f65" fmla="?: f57 0 f0"/>
              <a:gd name="f66" fmla="?: f57 f0 0"/>
              <a:gd name="f67" fmla="?: f57 f33 f34"/>
              <a:gd name="f68" fmla="abs f58"/>
              <a:gd name="f69" fmla="abs f59"/>
              <a:gd name="f70" fmla="?: f58 f14 f1"/>
              <a:gd name="f71" fmla="?: f58 f1 f14"/>
              <a:gd name="f72" fmla="?: f58 f2 f1"/>
              <a:gd name="f73" fmla="?: f58 f1 f2"/>
              <a:gd name="f74" fmla="abs f60"/>
              <a:gd name="f75" fmla="?: f60 f14 f1"/>
              <a:gd name="f76" fmla="?: f60 f1 f14"/>
              <a:gd name="f77" fmla="?: f60 f36 f35"/>
              <a:gd name="f78" fmla="?: f60 f35 f36"/>
              <a:gd name="f79" fmla="*/ f61 f7 1"/>
              <a:gd name="f80" fmla="?: f21 f66 f65"/>
              <a:gd name="f81" fmla="?: f21 f65 f66"/>
              <a:gd name="f82" fmla="?: f58 f73 f72"/>
              <a:gd name="f83" fmla="?: f58 f72 f73"/>
              <a:gd name="f84" fmla="?: f59 f71 f70"/>
              <a:gd name="f85" fmla="?: f20 f77 f78"/>
              <a:gd name="f86" fmla="?: f20 f75 f76"/>
              <a:gd name="f87" fmla="*/ f79 1 f0"/>
              <a:gd name="f88" fmla="*/ f64 f37 1"/>
              <a:gd name="f89" fmla="*/ f68 f37 1"/>
              <a:gd name="f90" fmla="*/ f69 f37 1"/>
              <a:gd name="f91" fmla="*/ f74 f37 1"/>
              <a:gd name="f92" fmla="?: f57 f80 f81"/>
              <a:gd name="f93" fmla="?: f59 f83 f82"/>
              <a:gd name="f94" fmla="+- 0 0 f87"/>
              <a:gd name="f95" fmla="+- 0 0 f94"/>
              <a:gd name="f96" fmla="*/ f95 f0 1"/>
              <a:gd name="f97" fmla="*/ f96 1 f7"/>
              <a:gd name="f98" fmla="+- f97 0 f1"/>
              <a:gd name="f99" fmla="cos 1 f98"/>
              <a:gd name="f100" fmla="+- 0 0 f99"/>
              <a:gd name="f101" fmla="+- 0 0 f100"/>
              <a:gd name="f102" fmla="val f101"/>
              <a:gd name="f103" fmla="+- 0 0 f102"/>
              <a:gd name="f104" fmla="*/ f9 f103 1"/>
              <a:gd name="f105" fmla="*/ f104 3163 1"/>
              <a:gd name="f106" fmla="*/ f105 1 7636"/>
              <a:gd name="f107" fmla="+- f6 f106 0"/>
              <a:gd name="f108" fmla="+- f44 0 f106"/>
              <a:gd name="f109" fmla="+- f45 0 f106"/>
              <a:gd name="f110" fmla="*/ f107 f37 1"/>
              <a:gd name="f111" fmla="*/ f108 f37 1"/>
              <a:gd name="f112" fmla="*/ f109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10" t="f110" r="f111" b="f112"/>
            <a:pathLst>
              <a:path>
                <a:moveTo>
                  <a:pt x="f48" y="f49"/>
                </a:moveTo>
                <a:arcTo wR="f50" hR="f51" stAng="f47" swAng="f43"/>
                <a:lnTo>
                  <a:pt x="f49" y="f62"/>
                </a:lnTo>
                <a:arcTo wR="f51" hR="f88" stAng="f92" swAng="f67"/>
                <a:lnTo>
                  <a:pt x="f63" y="f55"/>
                </a:lnTo>
                <a:arcTo wR="f89" hR="f90" stAng="f93" swAng="f84"/>
                <a:lnTo>
                  <a:pt x="f56" y="f48"/>
                </a:lnTo>
                <a:arcTo wR="f91" hR="f50" stAng="f85" swAng="f86"/>
                <a:close/>
              </a:path>
            </a:pathLst>
          </a:custGeom>
          <a:solidFill>
            <a:srgbClr val="0B1220"/>
          </a:solidFill>
          <a:ln w="9528" cap="flat">
            <a:solidFill>
              <a:srgbClr val="1E293B"/>
            </a:solidFill>
            <a:prstDash val="solid"/>
            <a:miter/>
          </a:ln>
          <a:effectLst>
            <a:outerShdw dist="19046" dir="5400000" algn="tl">
              <a:srgbClr val="000000">
                <a:alpha val="63000"/>
              </a:srgbClr>
            </a:outerShdw>
          </a:effectLst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800" b="0" i="0" u="none" strike="noStrike" kern="1200" cap="none" spc="0" baseline="0">
              <a:solidFill>
                <a:srgbClr val="000000"/>
              </a:solidFill>
              <a:uFillTx/>
              <a:latin typeface="Aptos Display"/>
            </a:endParaRPr>
          </a:p>
        </p:txBody>
      </p:sp>
      <p:sp>
        <p:nvSpPr>
          <p:cNvPr id="17" name="Rectangle 74">
            <a:extLst>
              <a:ext uri="{FF2B5EF4-FFF2-40B4-BE49-F238E27FC236}">
                <a16:creationId xmlns:a16="http://schemas.microsoft.com/office/drawing/2014/main" id="{8AEBB67F-79FA-BE72-6C43-0429A4CBE158}"/>
              </a:ext>
            </a:extLst>
          </p:cNvPr>
          <p:cNvSpPr/>
          <p:nvPr/>
        </p:nvSpPr>
        <p:spPr>
          <a:xfrm>
            <a:off x="6438903" y="3538307"/>
            <a:ext cx="4991096" cy="807223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fr-FR" sz="1000" b="0" i="0" u="none" strike="noStrike" kern="1200" cap="none" spc="0" baseline="0">
              <a:solidFill>
                <a:srgbClr val="FFFFFF"/>
              </a:solidFill>
              <a:uFillTx/>
              <a:latin typeface="Consolas" pitchFamily="49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25" b="0" i="0" u="none" strike="noStrike" kern="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defRPr>
            </a:pPr>
            <a:r>
              <a:rPr lang="fr-FR" sz="1000" b="0" i="0" u="none" strike="noStrike" kern="120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rPr>
              <a:t>"Link": "../raw_DATA/source_a.pdf ;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25" b="0" i="0" u="none" strike="noStrike" kern="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defRPr>
            </a:pPr>
            <a:r>
              <a:rPr lang="fr-FR" sz="1000" b="0" i="0" u="none" strike="noStrike" kern="120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rPr>
              <a:t>         ../raw_DATA/source_b.json ;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25" b="0" i="0" u="none" strike="noStrike" kern="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defRPr>
            </a:pPr>
            <a:r>
              <a:rPr lang="fr-FR" sz="1000" b="0" i="0" u="none" strike="noStrike" kern="1200" cap="none" spc="0" baseline="0">
                <a:solidFill>
                  <a:srgbClr val="E2E8F0"/>
                </a:solidFill>
                <a:uFillTx/>
                <a:latin typeface="Consolas"/>
                <a:ea typeface="Consolas"/>
                <a:cs typeface="Consolas"/>
              </a:rPr>
              <a:t>         ../raw_DATA/source_c.csv"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632CCF5-8DD9-45C1-B944-8E9FB7AF978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596445-8715-4F87-BAA7-753D327F412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9B2C93-F1A3-4330-93DD-98A1F4870E1C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DNV_path controls the right side and location controls the left side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7EAF97-FA5C-47B0-87FC-DCB7A037B1D4}"/>
              </a:ext>
            </a:extLst>
          </p:cNvPr>
          <p:cNvSpPr>
            <a:spLocks noGrp="1"/>
          </p:cNvSpPr>
          <p:nvPr/>
        </p:nvSpPr>
        <p:spPr>
          <a:xfrm>
            <a:off x="571500" y="1235964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These two fields connect one JSON object to both parts of the page.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A819926-948A-4865-8E6F-6DFBAD5E4688}"/>
              </a:ext>
            </a:extLst>
          </p:cNvPr>
          <p:cNvSpPr>
            <a:spLocks noGrp="1"/>
          </p:cNvSpPr>
          <p:nvPr/>
        </p:nvSpPr>
        <p:spPr>
          <a:xfrm>
            <a:off x="571500" y="1973580"/>
            <a:ext cx="7239000" cy="373380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t="6292" b="6292"/>
          <a:stretch>
            <a:fillRect/>
          </a:stretch>
        </p:blipFill>
        <p:spPr>
          <a:xfrm>
            <a:off x="742950" y="2145030"/>
            <a:ext cx="6896100" cy="3390900"/>
          </a:xfrm>
          <a:prstGeom prst="roundRect">
            <a:avLst>
              <a:gd name="adj" fmla="val 4494"/>
            </a:avLst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7F68AD6-2AAE-4526-BDB9-7FB6824AB04A}"/>
              </a:ext>
            </a:extLst>
          </p:cNvPr>
          <p:cNvSpPr>
            <a:spLocks noGrp="1"/>
          </p:cNvSpPr>
          <p:nvPr/>
        </p:nvSpPr>
        <p:spPr>
          <a:xfrm>
            <a:off x="8096250" y="17907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E21E4F4-12E6-47C4-98DC-CEB6BEB7D4BF}"/>
              </a:ext>
            </a:extLst>
          </p:cNvPr>
          <p:cNvSpPr>
            <a:spLocks noGrp="1"/>
          </p:cNvSpPr>
          <p:nvPr/>
        </p:nvSpPr>
        <p:spPr>
          <a:xfrm>
            <a:off x="824865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E76EDB-78DB-4BA2-894B-A21024DCBF12}"/>
              </a:ext>
            </a:extLst>
          </p:cNvPr>
          <p:cNvSpPr>
            <a:spLocks noGrp="1"/>
          </p:cNvSpPr>
          <p:nvPr/>
        </p:nvSpPr>
        <p:spPr>
          <a:xfrm>
            <a:off x="824865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CBCCD-C76D-4EEF-86BE-DFC1AC4331E3}"/>
              </a:ext>
            </a:extLst>
          </p:cNvPr>
          <p:cNvSpPr>
            <a:spLocks noGrp="1"/>
          </p:cNvSpPr>
          <p:nvPr/>
        </p:nvSpPr>
        <p:spPr>
          <a:xfrm>
            <a:off x="8248650" y="23050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3734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Groups the entry in the left accordion. Example: hull, engine, crane, wind.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96E2973-D54E-428A-8F3F-237384BD90C9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AFC47360-E945-4433-99B0-6F953EF34E30}"/>
              </a:ext>
            </a:extLst>
          </p:cNvPr>
          <p:cNvSpPr>
            <a:spLocks noGrp="1"/>
          </p:cNvSpPr>
          <p:nvPr/>
        </p:nvSpPr>
        <p:spPr>
          <a:xfrm>
            <a:off x="8248650" y="30099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FC4ED7-8786-415D-91A6-09E5C235F7A2}"/>
              </a:ext>
            </a:extLst>
          </p:cNvPr>
          <p:cNvSpPr>
            <a:spLocks noGrp="1"/>
          </p:cNvSpPr>
          <p:nvPr/>
        </p:nvSpPr>
        <p:spPr>
          <a:xfrm>
            <a:off x="8248650" y="30099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 err="1">
                <a:solidFill>
                  <a:srgbClr val="FFFFFF"/>
                </a:solidFill>
              </a:rPr>
              <a:t>DNV_path</a:t>
            </a:r>
            <a:endParaRPr sz="1000" b="1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C1F6F8-CDAF-46E6-92BE-933D43972144}"/>
              </a:ext>
            </a:extLst>
          </p:cNvPr>
          <p:cNvSpPr>
            <a:spLocks noGrp="1"/>
          </p:cNvSpPr>
          <p:nvPr/>
        </p:nvSpPr>
        <p:spPr>
          <a:xfrm>
            <a:off x="8248650" y="33718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216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Places the same entry on the right if the path is valid.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C14AA3B5-5657-46B5-AC8A-E16B4DB67649}"/>
              </a:ext>
            </a:extLst>
          </p:cNvPr>
          <p:cNvSpPr>
            <a:spLocks noGrp="1"/>
          </p:cNvSpPr>
          <p:nvPr/>
        </p:nvSpPr>
        <p:spPr>
          <a:xfrm>
            <a:off x="8096250" y="39243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E2DC61A9-1E1D-447B-88D0-C6011616ECCC}"/>
              </a:ext>
            </a:extLst>
          </p:cNvPr>
          <p:cNvSpPr>
            <a:spLocks noGrp="1"/>
          </p:cNvSpPr>
          <p:nvPr/>
        </p:nvSpPr>
        <p:spPr>
          <a:xfrm>
            <a:off x="8248650" y="4076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165BF1-D566-4079-BDAC-43DA080AB27E}"/>
              </a:ext>
            </a:extLst>
          </p:cNvPr>
          <p:cNvSpPr>
            <a:spLocks noGrp="1"/>
          </p:cNvSpPr>
          <p:nvPr/>
        </p:nvSpPr>
        <p:spPr>
          <a:xfrm>
            <a:off x="8248650" y="4076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Green tag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DA188F-C095-4062-8E05-A1B5452A0091}"/>
              </a:ext>
            </a:extLst>
          </p:cNvPr>
          <p:cNvSpPr>
            <a:spLocks noGrp="1"/>
          </p:cNvSpPr>
          <p:nvPr/>
        </p:nvSpPr>
        <p:spPr>
          <a:xfrm>
            <a:off x="8248650" y="44386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897" lnSpcReduction="1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Shows the mapped value and keeps the source clickable.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CD093144-676C-4EE4-A7D5-C0E64958D416}"/>
              </a:ext>
            </a:extLst>
          </p:cNvPr>
          <p:cNvSpPr>
            <a:spLocks noGrp="1"/>
          </p:cNvSpPr>
          <p:nvPr/>
        </p:nvSpPr>
        <p:spPr>
          <a:xfrm>
            <a:off x="8096250" y="49911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8668711C-3D66-4D32-8181-97BA72184FFA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D0899-5269-4BCD-8D32-1A719A8CC67A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Show in DNV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5E09B8-D770-464D-ADED-A068C0093D7D}"/>
              </a:ext>
            </a:extLst>
          </p:cNvPr>
          <p:cNvSpPr>
            <a:spLocks noGrp="1"/>
          </p:cNvSpPr>
          <p:nvPr/>
        </p:nvSpPr>
        <p:spPr>
          <a:xfrm>
            <a:off x="8248650" y="55054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122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Scrolls the user to the correct mapped node from the left side.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C2A300-0428-49F0-975D-71FB989F8603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659BFC-BABA-42A4-ACF0-05A0112D3DBC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lang="fr-FR" sz="900" b="1" dirty="0">
                <a:solidFill>
                  <a:srgbClr val="64748B"/>
                </a:solidFill>
              </a:rPr>
              <a:t>9</a:t>
            </a:r>
            <a:endParaRPr sz="900" b="1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78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4759DB67-BE25-472F-9758-E1330E6754B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3E6EAF-D1CA-4D22-93B1-DC0CFE14982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A3E7F9-22BD-4521-9B8D-F0980EFB7E15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If the JSON is clean, the page builds itself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85ED02-F122-4C42-BFEB-FBD28FF8EB59}"/>
              </a:ext>
            </a:extLst>
          </p:cNvPr>
          <p:cNvSpPr>
            <a:spLocks noGrp="1"/>
          </p:cNvSpPr>
          <p:nvPr/>
        </p:nvSpPr>
        <p:spPr>
          <a:xfrm>
            <a:off x="571500" y="122682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 shared scripts are generic. The content changes, but the workflow stays the same.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C45C687-74AB-493F-ADDF-1BC4EBB328EB}"/>
              </a:ext>
            </a:extLst>
          </p:cNvPr>
          <p:cNvSpPr>
            <a:spLocks noGrp="1"/>
          </p:cNvSpPr>
          <p:nvPr/>
        </p:nvSpPr>
        <p:spPr>
          <a:xfrm>
            <a:off x="571500" y="2028444"/>
            <a:ext cx="533400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l="3945" r="3945"/>
          <a:stretch>
            <a:fillRect/>
          </a:stretch>
        </p:blipFill>
        <p:spPr>
          <a:xfrm>
            <a:off x="742950" y="2199894"/>
            <a:ext cx="4991100" cy="3048000"/>
          </a:xfrm>
          <a:prstGeom prst="roundRect">
            <a:avLst>
              <a:gd name="adj" fmla="val 5000"/>
            </a:avLst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AEA4E6F-888F-456E-8C3C-E002EB73C3C7}"/>
              </a:ext>
            </a:extLst>
          </p:cNvPr>
          <p:cNvSpPr>
            <a:spLocks noGrp="1"/>
          </p:cNvSpPr>
          <p:nvPr/>
        </p:nvSpPr>
        <p:spPr>
          <a:xfrm>
            <a:off x="6286500" y="179070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5F7761B-5659-42C2-A398-C4EB6C204AF3}"/>
              </a:ext>
            </a:extLst>
          </p:cNvPr>
          <p:cNvSpPr>
            <a:spLocks noGrp="1"/>
          </p:cNvSpPr>
          <p:nvPr/>
        </p:nvSpPr>
        <p:spPr>
          <a:xfrm>
            <a:off x="643890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4CF27-F39E-4FC5-A3A4-DCB0EEC0686C}"/>
              </a:ext>
            </a:extLst>
          </p:cNvPr>
          <p:cNvSpPr>
            <a:spLocks noGrp="1"/>
          </p:cNvSpPr>
          <p:nvPr/>
        </p:nvSpPr>
        <p:spPr>
          <a:xfrm>
            <a:off x="643890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Left side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883D94-B8BE-43AB-BF34-DE024CD32A49}"/>
              </a:ext>
            </a:extLst>
          </p:cNvPr>
          <p:cNvSpPr>
            <a:spLocks noGrp="1"/>
          </p:cNvSpPr>
          <p:nvPr/>
        </p:nvSpPr>
        <p:spPr>
          <a:xfrm>
            <a:off x="6438900" y="230505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summary + accordions + source-aware entries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7C9CB77F-5D0D-4F01-9AB8-C918DFD2BC14}"/>
              </a:ext>
            </a:extLst>
          </p:cNvPr>
          <p:cNvSpPr>
            <a:spLocks noGrp="1"/>
          </p:cNvSpPr>
          <p:nvPr/>
        </p:nvSpPr>
        <p:spPr>
          <a:xfrm>
            <a:off x="6286500" y="280035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6981FF51-3742-478F-8FD2-98BC097D9AFD}"/>
              </a:ext>
            </a:extLst>
          </p:cNvPr>
          <p:cNvSpPr>
            <a:spLocks noGrp="1"/>
          </p:cNvSpPr>
          <p:nvPr/>
        </p:nvSpPr>
        <p:spPr>
          <a:xfrm>
            <a:off x="6438900" y="29527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7B32A-8998-4D35-8E6F-C836625A9616}"/>
              </a:ext>
            </a:extLst>
          </p:cNvPr>
          <p:cNvSpPr>
            <a:spLocks noGrp="1"/>
          </p:cNvSpPr>
          <p:nvPr/>
        </p:nvSpPr>
        <p:spPr>
          <a:xfrm>
            <a:off x="6438900" y="29527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Right side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043C35-5B63-49F8-8850-2A02C37D6DC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Filtered DNV tree with only mapped values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0A24E98B-3888-42C2-94F8-A3EF200CA0EC}"/>
              </a:ext>
            </a:extLst>
          </p:cNvPr>
          <p:cNvSpPr>
            <a:spLocks noGrp="1"/>
          </p:cNvSpPr>
          <p:nvPr/>
        </p:nvSpPr>
        <p:spPr>
          <a:xfrm>
            <a:off x="6286500" y="381000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6E4958A-4817-485B-B035-9A88ABC43A7C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DF1123-A004-44DD-B895-41574405C121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2AA21-4D28-4653-86F1-FA7A8CC02356}"/>
              </a:ext>
            </a:extLst>
          </p:cNvPr>
          <p:cNvSpPr>
            <a:spLocks noGrp="1"/>
          </p:cNvSpPr>
          <p:nvPr/>
        </p:nvSpPr>
        <p:spPr>
          <a:xfrm>
            <a:off x="6438900" y="432435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GPS route built from the raw file linked in Link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413E559C-A8F1-409C-8A32-DD3D09DFB97D}"/>
              </a:ext>
            </a:extLst>
          </p:cNvPr>
          <p:cNvSpPr>
            <a:spLocks noGrp="1"/>
          </p:cNvSpPr>
          <p:nvPr/>
        </p:nvSpPr>
        <p:spPr>
          <a:xfrm>
            <a:off x="6286500" y="481965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5453C989-08C1-4455-B4A8-4EDB985CB520}"/>
              </a:ext>
            </a:extLst>
          </p:cNvPr>
          <p:cNvSpPr>
            <a:spLocks noGrp="1"/>
          </p:cNvSpPr>
          <p:nvPr/>
        </p:nvSpPr>
        <p:spPr>
          <a:xfrm>
            <a:off x="6438900" y="49720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117C97-0D9B-4BCC-B6DB-AF3793869CD6}"/>
              </a:ext>
            </a:extLst>
          </p:cNvPr>
          <p:cNvSpPr>
            <a:spLocks noGrp="1"/>
          </p:cNvSpPr>
          <p:nvPr/>
        </p:nvSpPr>
        <p:spPr>
          <a:xfrm>
            <a:off x="6438900" y="49720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Get Json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8BDA9A7-FD7B-4E18-AB00-63D9BB204795}"/>
              </a:ext>
            </a:extLst>
          </p:cNvPr>
          <p:cNvSpPr>
            <a:spLocks noGrp="1"/>
          </p:cNvSpPr>
          <p:nvPr/>
        </p:nvSpPr>
        <p:spPr>
          <a:xfrm>
            <a:off x="6438900" y="533400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Downloads the main JSON file loaded for the project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3ED2D9-7E76-47F1-8ED0-D4593CF7FC51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25700E-8DC5-4DD3-BE69-147B384DD3FC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lang="fr-FR" sz="900" b="1" dirty="0">
                <a:solidFill>
                  <a:srgbClr val="64748B"/>
                </a:solidFill>
              </a:rPr>
              <a:t>10</a:t>
            </a:r>
            <a:endParaRPr sz="900" b="1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28128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1592</Words>
  <Application>Microsoft Office PowerPoint</Application>
  <DocSecurity>0</DocSecurity>
  <PresentationFormat>Grand écran</PresentationFormat>
  <Paragraphs>221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Calibri</vt:lpstr>
      <vt:lpstr>Consolas</vt:lpstr>
      <vt:lpstr>ChatGPT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Anas SADIK</cp:lastModifiedBy>
  <cp:revision>8</cp:revision>
  <dcterms:created xsi:type="dcterms:W3CDTF">2026-07-07T14:59:42Z</dcterms:created>
  <dcterms:modified xsi:type="dcterms:W3CDTF">2026-07-08T09:23:26Z</dcterms:modified>
</cp:coreProperties>
</file>