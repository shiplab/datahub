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4D244DB-14F6-431B-9FEE-A64B2695D85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7630A149-A23C-4E6E-86E0-B3791172F647}"/>
              </a:ext>
            </a:extLst>
          </p:cNvPr>
          <p:cNvSpPr>
            <a:spLocks noGrp="1"/>
          </p:cNvSpPr>
          <p:nvPr/>
        </p:nvSpPr>
        <p:spPr>
          <a:xfrm>
            <a:off x="581025" y="342900"/>
            <a:ext cx="1962150" cy="361950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 w="0">
            <a:solidFill>
              <a:srgbClr val="E8EEF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156DCD-1F7F-432E-9941-14FE4985970E}"/>
              </a:ext>
            </a:extLst>
          </p:cNvPr>
          <p:cNvSpPr>
            <a:spLocks noGrp="1"/>
          </p:cNvSpPr>
          <p:nvPr/>
        </p:nvSpPr>
        <p:spPr>
          <a:xfrm>
            <a:off x="704850" y="381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600" b="1" dirty="0">
                <a:solidFill>
                  <a:srgbClr val="0F172A"/>
                </a:solidFill>
              </a:rPr>
              <a:t>DATA HUB GUIDE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792576-9DF2-4ABB-8413-8E57A2957DE1}"/>
              </a:ext>
            </a:extLst>
          </p:cNvPr>
          <p:cNvSpPr>
            <a:spLocks noGrp="1"/>
          </p:cNvSpPr>
          <p:nvPr/>
        </p:nvSpPr>
        <p:spPr>
          <a:xfrm>
            <a:off x="704850" y="914400"/>
            <a:ext cx="5334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</a:defRPr>
            </a:pPr>
            <a:r>
              <a:rPr sz="3750" b="1" dirty="0">
                <a:solidFill>
                  <a:srgbClr val="FFFFFF"/>
                </a:solidFill>
              </a:rPr>
              <a:t>How to add a new </a:t>
            </a:r>
            <a:r>
              <a:rPr lang="fr-FR" sz="3750" b="1" dirty="0" err="1">
                <a:solidFill>
                  <a:srgbClr val="FFFFFF"/>
                </a:solidFill>
              </a:rPr>
              <a:t>project</a:t>
            </a:r>
            <a:endParaRPr sz="3750" b="1" dirty="0">
              <a:solidFill>
                <a:srgbClr val="FFFFFF"/>
              </a:solidFill>
            </a:endParaRPr>
          </a:p>
          <a:p>
            <a:pPr algn="l">
              <a:defRPr sz="3750" b="1">
                <a:solidFill>
                  <a:srgbClr val="FFFFFF"/>
                </a:solidFill>
              </a:defRPr>
            </a:pPr>
            <a:r>
              <a:rPr sz="3750" b="1" dirty="0">
                <a:solidFill>
                  <a:srgbClr val="FFFFFF"/>
                </a:solidFill>
              </a:rPr>
              <a:t>to the </a:t>
            </a:r>
            <a:r>
              <a:rPr sz="3750" b="1" dirty="0" err="1">
                <a:solidFill>
                  <a:srgbClr val="FFFFFF"/>
                </a:solidFill>
              </a:rPr>
              <a:t>DataHub</a:t>
            </a:r>
            <a:endParaRPr sz="3750" b="1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F7B673-021D-4ED4-B98A-7034D6D69E04}"/>
              </a:ext>
            </a:extLst>
          </p:cNvPr>
          <p:cNvSpPr>
            <a:spLocks noGrp="1"/>
          </p:cNvSpPr>
          <p:nvPr/>
        </p:nvSpPr>
        <p:spPr>
          <a:xfrm>
            <a:off x="752475" y="2495550"/>
            <a:ext cx="5048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D7E3F3"/>
                </a:solidFill>
              </a:defRPr>
            </a:pPr>
            <a:r>
              <a:rPr sz="1650" b="0" dirty="0">
                <a:solidFill>
                  <a:srgbClr val="D7E3F3"/>
                </a:solidFill>
              </a:rPr>
              <a:t>A direct onboarding deck for new contributors.</a:t>
            </a:r>
          </a:p>
          <a:p>
            <a:pPr algn="l">
              <a:defRPr sz="1650" b="0">
                <a:solidFill>
                  <a:srgbClr val="D7E3F3"/>
                </a:solidFill>
              </a:defRPr>
            </a:pPr>
            <a:r>
              <a:rPr sz="1650" b="0" dirty="0">
                <a:solidFill>
                  <a:srgbClr val="D7E3F3"/>
                </a:solidFill>
              </a:rPr>
              <a:t>Running example: ALMI ATLAS in the RINA block.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0C8205F-66CB-4474-AC7E-61DA71598139}"/>
              </a:ext>
            </a:extLst>
          </p:cNvPr>
          <p:cNvSpPr>
            <a:spLocks noGrp="1"/>
          </p:cNvSpPr>
          <p:nvPr/>
        </p:nvSpPr>
        <p:spPr>
          <a:xfrm>
            <a:off x="619125" y="3638550"/>
            <a:ext cx="1962150" cy="2857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1E71B-2764-4982-AE7B-CF39DB05CA17}"/>
              </a:ext>
            </a:extLst>
          </p:cNvPr>
          <p:cNvSpPr>
            <a:spLocks noGrp="1"/>
          </p:cNvSpPr>
          <p:nvPr/>
        </p:nvSpPr>
        <p:spPr>
          <a:xfrm>
            <a:off x="619125" y="3638550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Running example: ATLAS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2EEC5AA-3935-43AA-8569-16F238A2D097}"/>
              </a:ext>
            </a:extLst>
          </p:cNvPr>
          <p:cNvSpPr>
            <a:spLocks noGrp="1"/>
          </p:cNvSpPr>
          <p:nvPr/>
        </p:nvSpPr>
        <p:spPr>
          <a:xfrm>
            <a:off x="2733675" y="363855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A433BF-6680-4366-82E9-EE6EBD28BB8B}"/>
              </a:ext>
            </a:extLst>
          </p:cNvPr>
          <p:cNvSpPr>
            <a:spLocks noGrp="1"/>
          </p:cNvSpPr>
          <p:nvPr/>
        </p:nvSpPr>
        <p:spPr>
          <a:xfrm>
            <a:off x="2733675" y="3638550"/>
            <a:ext cx="1390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Block: RINA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E22E08C-D558-4C55-9CF5-BF1D5D07B3D1}"/>
              </a:ext>
            </a:extLst>
          </p:cNvPr>
          <p:cNvSpPr>
            <a:spLocks noGrp="1"/>
          </p:cNvSpPr>
          <p:nvPr/>
        </p:nvSpPr>
        <p:spPr>
          <a:xfrm>
            <a:off x="4276725" y="363855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BA2D50-CCAF-4CC1-8844-AEAF216251D2}"/>
              </a:ext>
            </a:extLst>
          </p:cNvPr>
          <p:cNvSpPr>
            <a:spLocks noGrp="1"/>
          </p:cNvSpPr>
          <p:nvPr/>
        </p:nvSpPr>
        <p:spPr>
          <a:xfrm>
            <a:off x="4276725" y="36385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Audience: new user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AB32B19-BB7E-4803-A20E-3428596771C1}"/>
              </a:ext>
            </a:extLst>
          </p:cNvPr>
          <p:cNvSpPr>
            <a:spLocks noGrp="1"/>
          </p:cNvSpPr>
          <p:nvPr/>
        </p:nvSpPr>
        <p:spPr>
          <a:xfrm>
            <a:off x="657225" y="4714875"/>
            <a:ext cx="5143500" cy="781050"/>
          </a:xfrm>
          <a:prstGeom prst="roundRect">
            <a:avLst>
              <a:gd name="adj" fmla="val 16667"/>
            </a:avLst>
          </a:prstGeom>
          <a:solidFill>
            <a:srgbClr val="EBFBF1"/>
          </a:solidFill>
          <a:ln w="9525">
            <a:solidFill>
              <a:srgbClr val="A7F3D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468ADD-74CD-4FFC-8A97-86D2C6522142}"/>
              </a:ext>
            </a:extLst>
          </p:cNvPr>
          <p:cNvSpPr>
            <a:spLocks noGrp="1"/>
          </p:cNvSpPr>
          <p:nvPr/>
        </p:nvSpPr>
        <p:spPr>
          <a:xfrm>
            <a:off x="809625" y="4848225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55119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B43D8C-E5BA-40DC-8021-1F16303AB701}"/>
              </a:ext>
            </a:extLst>
          </p:cNvPr>
          <p:cNvSpPr>
            <a:spLocks noGrp="1"/>
          </p:cNvSpPr>
          <p:nvPr/>
        </p:nvSpPr>
        <p:spPr>
          <a:xfrm>
            <a:off x="809625" y="4848225"/>
            <a:ext cx="4775454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rPr sz="1200" b="1" u="sng" dirty="0">
                <a:solidFill>
                  <a:srgbClr val="1E293B"/>
                </a:solidFill>
              </a:rPr>
              <a:t>Goal:</a:t>
            </a:r>
            <a:r>
              <a:rPr lang="fr-FR" sz="1200" u="sng" dirty="0">
                <a:solidFill>
                  <a:srgbClr val="1E293B"/>
                </a:solidFill>
              </a:rPr>
              <a:t> </a:t>
            </a:r>
            <a:r>
              <a:rPr sz="1200" b="0" dirty="0">
                <a:solidFill>
                  <a:srgbClr val="1E293B"/>
                </a:solidFill>
              </a:rPr>
              <a:t>show which files to create, what to write in the JSON, and how the website turns that data into the left panel, source links, GPS route, and DNV tree.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AAB7AE-8250-4E26-911D-55E47DB06931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DA06CA-6CC5-4742-87F6-3B1713A69EC1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</a:t>
            </a:r>
          </a:p>
        </p:txBody>
      </p:sp>
      <p:pic>
        <p:nvPicPr>
          <p:cNvPr id="21" name="Image 20" descr="200 passagers d'une croisière de luxe bloqués dans la glace du Groenland à  2 000 kilomètres des secours | Vanity Fair">
            <a:extLst>
              <a:ext uri="{FF2B5EF4-FFF2-40B4-BE49-F238E27FC236}">
                <a16:creationId xmlns:a16="http://schemas.microsoft.com/office/drawing/2014/main" id="{DF8BB11E-3BCF-C1BB-EB01-6E6F104825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644" r="7720"/>
          <a:stretch>
            <a:fillRect/>
          </a:stretch>
        </p:blipFill>
        <p:spPr>
          <a:xfrm>
            <a:off x="6934200" y="857893"/>
            <a:ext cx="4171950" cy="51422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45203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55B230D3-3697-4CF4-8CBD-FD85A4EC1E5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33901-CFDB-452D-A8B4-4B828CAC352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DC4DA3-DDD7-4089-86AF-CC17E237F54D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This deck follows the real creation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B17821-3953-46EC-9334-22B8B0040963}"/>
              </a:ext>
            </a:extLst>
          </p:cNvPr>
          <p:cNvSpPr>
            <a:spLocks noGrp="1"/>
          </p:cNvSpPr>
          <p:nvPr/>
        </p:nvSpPr>
        <p:spPr>
          <a:xfrm>
            <a:off x="742950" y="53721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Blue slides are build steps. Green slides explain how the JSON controls the website.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97FA41B-BA8D-4241-8B5D-370299F7B07E}"/>
              </a:ext>
            </a:extLst>
          </p:cNvPr>
          <p:cNvSpPr>
            <a:spLocks noGrp="1"/>
          </p:cNvSpPr>
          <p:nvPr/>
        </p:nvSpPr>
        <p:spPr>
          <a:xfrm>
            <a:off x="571500" y="1444371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451770D-DFC5-4351-B2FB-A1805CB1FCF7}"/>
              </a:ext>
            </a:extLst>
          </p:cNvPr>
          <p:cNvSpPr>
            <a:spLocks noGrp="1"/>
          </p:cNvSpPr>
          <p:nvPr/>
        </p:nvSpPr>
        <p:spPr>
          <a:xfrm>
            <a:off x="742950" y="1615821"/>
            <a:ext cx="342900" cy="342900"/>
          </a:xfrm>
          <a:prstGeom prst="ellipse">
            <a:avLst/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FFFEFB-992F-4E5D-9CF7-167FAF7E5695}"/>
              </a:ext>
            </a:extLst>
          </p:cNvPr>
          <p:cNvSpPr>
            <a:spLocks noGrp="1"/>
          </p:cNvSpPr>
          <p:nvPr/>
        </p:nvSpPr>
        <p:spPr>
          <a:xfrm>
            <a:off x="742950" y="1615821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1F1CC1-23E4-41E7-9782-BB75DE44852B}"/>
              </a:ext>
            </a:extLst>
          </p:cNvPr>
          <p:cNvSpPr>
            <a:spLocks noGrp="1"/>
          </p:cNvSpPr>
          <p:nvPr/>
        </p:nvSpPr>
        <p:spPr>
          <a:xfrm>
            <a:off x="1181100" y="1615821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Create the vessel folder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E595EA-80C5-4DA2-8582-29E7F92320D0}"/>
              </a:ext>
            </a:extLst>
          </p:cNvPr>
          <p:cNvSpPr>
            <a:spLocks noGrp="1"/>
          </p:cNvSpPr>
          <p:nvPr/>
        </p:nvSpPr>
        <p:spPr>
          <a:xfrm>
            <a:off x="742950" y="2206371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 dirty="0">
                <a:solidFill>
                  <a:srgbClr val="334155"/>
                </a:solidFill>
              </a:rPr>
              <a:t>Add </a:t>
            </a:r>
            <a:r>
              <a:rPr lang="fr-FR" sz="1200" b="0" dirty="0">
                <a:solidFill>
                  <a:srgbClr val="334155"/>
                </a:solidFill>
              </a:rPr>
              <a:t>a folder in the folder </a:t>
            </a:r>
            <a:r>
              <a:rPr lang="fr-FR" sz="1200" b="0" dirty="0" err="1">
                <a:solidFill>
                  <a:srgbClr val="334155"/>
                </a:solidFill>
              </a:rPr>
              <a:t>Projects</a:t>
            </a:r>
            <a:r>
              <a:rPr lang="fr-FR" sz="1200" b="0" dirty="0">
                <a:solidFill>
                  <a:srgbClr val="334155"/>
                </a:solidFill>
              </a:rPr>
              <a:t>, </a:t>
            </a:r>
            <a:r>
              <a:rPr lang="fr-FR" sz="1200" b="0" dirty="0" err="1">
                <a:solidFill>
                  <a:srgbClr val="334155"/>
                </a:solidFill>
              </a:rPr>
              <a:t>inside</a:t>
            </a:r>
            <a:r>
              <a:rPr lang="fr-FR" sz="1200" b="0" dirty="0">
                <a:solidFill>
                  <a:srgbClr val="334155"/>
                </a:solidFill>
              </a:rPr>
              <a:t> </a:t>
            </a:r>
            <a:r>
              <a:rPr lang="fr-FR" sz="1200" b="0" dirty="0" err="1">
                <a:solidFill>
                  <a:srgbClr val="334155"/>
                </a:solidFill>
              </a:rPr>
              <a:t>add</a:t>
            </a:r>
            <a:r>
              <a:rPr lang="fr-FR" sz="1200" b="0" dirty="0">
                <a:solidFill>
                  <a:srgbClr val="334155"/>
                </a:solidFill>
              </a:rPr>
              <a:t> </a:t>
            </a:r>
            <a:r>
              <a:rPr sz="1200" b="0" dirty="0">
                <a:solidFill>
                  <a:srgbClr val="334155"/>
                </a:solidFill>
              </a:rPr>
              <a:t>one folder </a:t>
            </a:r>
            <a:r>
              <a:rPr lang="fr-FR" sz="1200" b="0" dirty="0" err="1">
                <a:solidFill>
                  <a:srgbClr val="334155"/>
                </a:solidFill>
              </a:rPr>
              <a:t>named</a:t>
            </a:r>
            <a:r>
              <a:rPr sz="1200" b="0" dirty="0">
                <a:solidFill>
                  <a:srgbClr val="334155"/>
                </a:solidFill>
              </a:rPr>
              <a:t> JSON/ and </a:t>
            </a:r>
            <a:r>
              <a:rPr sz="1200" b="0" dirty="0" err="1">
                <a:solidFill>
                  <a:srgbClr val="334155"/>
                </a:solidFill>
              </a:rPr>
              <a:t>raw_DATA</a:t>
            </a:r>
            <a:r>
              <a:rPr sz="1200" b="0" dirty="0">
                <a:solidFill>
                  <a:srgbClr val="334155"/>
                </a:solidFill>
              </a:rPr>
              <a:t>/. </a:t>
            </a:r>
            <a:endParaRPr lang="fr-FR" sz="1200" b="0" dirty="0">
              <a:solidFill>
                <a:srgbClr val="334155"/>
              </a:solidFill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5522C68-9B85-48CF-B823-27D7D0FB6600}"/>
              </a:ext>
            </a:extLst>
          </p:cNvPr>
          <p:cNvSpPr>
            <a:spLocks noGrp="1"/>
          </p:cNvSpPr>
          <p:nvPr/>
        </p:nvSpPr>
        <p:spPr>
          <a:xfrm>
            <a:off x="4381500" y="1444371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89F63B7-DFDE-4D95-ACA0-5ECE6334F711}"/>
              </a:ext>
            </a:extLst>
          </p:cNvPr>
          <p:cNvSpPr>
            <a:spLocks noGrp="1"/>
          </p:cNvSpPr>
          <p:nvPr/>
        </p:nvSpPr>
        <p:spPr>
          <a:xfrm>
            <a:off x="4552950" y="1615821"/>
            <a:ext cx="342900" cy="342900"/>
          </a:xfrm>
          <a:prstGeom prst="ellipse">
            <a:avLst/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AF0B1B-F811-47B0-9B34-88914505A38D}"/>
              </a:ext>
            </a:extLst>
          </p:cNvPr>
          <p:cNvSpPr>
            <a:spLocks noGrp="1"/>
          </p:cNvSpPr>
          <p:nvPr/>
        </p:nvSpPr>
        <p:spPr>
          <a:xfrm>
            <a:off x="4552950" y="1615821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6EC219-1F16-441D-8645-0B7442450A8A}"/>
              </a:ext>
            </a:extLst>
          </p:cNvPr>
          <p:cNvSpPr>
            <a:spLocks noGrp="1"/>
          </p:cNvSpPr>
          <p:nvPr/>
        </p:nvSpPr>
        <p:spPr>
          <a:xfrm>
            <a:off x="4991100" y="1615821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Build the dashboard block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20C92D-75E0-4DB9-9B16-6BEDB08C300A}"/>
              </a:ext>
            </a:extLst>
          </p:cNvPr>
          <p:cNvSpPr>
            <a:spLocks noGrp="1"/>
          </p:cNvSpPr>
          <p:nvPr/>
        </p:nvSpPr>
        <p:spPr>
          <a:xfrm>
            <a:off x="4552950" y="2073021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Write the block HTML, add the project image, and leave an empty list container for the vessel links.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907F5C54-C1EF-42AC-BD46-7BA22527764A}"/>
              </a:ext>
            </a:extLst>
          </p:cNvPr>
          <p:cNvSpPr>
            <a:spLocks noGrp="1"/>
          </p:cNvSpPr>
          <p:nvPr/>
        </p:nvSpPr>
        <p:spPr>
          <a:xfrm>
            <a:off x="8191500" y="1444371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4E94869-2352-4284-98FB-2441BB92A667}"/>
              </a:ext>
            </a:extLst>
          </p:cNvPr>
          <p:cNvSpPr>
            <a:spLocks noGrp="1"/>
          </p:cNvSpPr>
          <p:nvPr/>
        </p:nvSpPr>
        <p:spPr>
          <a:xfrm>
            <a:off x="8362950" y="1615821"/>
            <a:ext cx="342900" cy="342900"/>
          </a:xfrm>
          <a:prstGeom prst="ellipse">
            <a:avLst/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4EDBBA-C0EF-48B2-A9C9-39536C77041B}"/>
              </a:ext>
            </a:extLst>
          </p:cNvPr>
          <p:cNvSpPr>
            <a:spLocks noGrp="1"/>
          </p:cNvSpPr>
          <p:nvPr/>
        </p:nvSpPr>
        <p:spPr>
          <a:xfrm>
            <a:off x="8362950" y="1615821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3D757E-9548-4685-AF9D-60B9049771B3}"/>
              </a:ext>
            </a:extLst>
          </p:cNvPr>
          <p:cNvSpPr>
            <a:spLocks noGrp="1"/>
          </p:cNvSpPr>
          <p:nvPr/>
        </p:nvSpPr>
        <p:spPr>
          <a:xfrm>
            <a:off x="8801100" y="1615821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Register the project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7EA2C9-353F-4FF0-8BCC-F774FB418737}"/>
              </a:ext>
            </a:extLst>
          </p:cNvPr>
          <p:cNvSpPr>
            <a:spLocks noGrp="1"/>
          </p:cNvSpPr>
          <p:nvPr/>
        </p:nvSpPr>
        <p:spPr>
          <a:xfrm>
            <a:off x="8362950" y="2073021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Add one entry in project-config.js so the generic page knows which JSON file to load.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20BD5609-19F6-461A-B98B-8A738287635E}"/>
              </a:ext>
            </a:extLst>
          </p:cNvPr>
          <p:cNvSpPr>
            <a:spLocks noGrp="1"/>
          </p:cNvSpPr>
          <p:nvPr/>
        </p:nvSpPr>
        <p:spPr>
          <a:xfrm>
            <a:off x="571500" y="3292221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6396C56-4D73-42E4-8574-13FF6DEB25D2}"/>
              </a:ext>
            </a:extLst>
          </p:cNvPr>
          <p:cNvSpPr>
            <a:spLocks noGrp="1"/>
          </p:cNvSpPr>
          <p:nvPr/>
        </p:nvSpPr>
        <p:spPr>
          <a:xfrm>
            <a:off x="742950" y="3463671"/>
            <a:ext cx="342900" cy="342900"/>
          </a:xfrm>
          <a:prstGeom prst="ellipse">
            <a:avLst/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4CA423-C4BB-49CA-A4E4-0C9AB8C5FD1E}"/>
              </a:ext>
            </a:extLst>
          </p:cNvPr>
          <p:cNvSpPr>
            <a:spLocks noGrp="1"/>
          </p:cNvSpPr>
          <p:nvPr/>
        </p:nvSpPr>
        <p:spPr>
          <a:xfrm>
            <a:off x="742950" y="3463671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B3C694-9FD2-484E-8AA2-79E6E8A569FD}"/>
              </a:ext>
            </a:extLst>
          </p:cNvPr>
          <p:cNvSpPr>
            <a:spLocks noGrp="1"/>
          </p:cNvSpPr>
          <p:nvPr/>
        </p:nvSpPr>
        <p:spPr>
          <a:xfrm>
            <a:off x="1181100" y="3463671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Create the main JSON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1804CA-28E3-4129-B842-52CE8E8A944A}"/>
              </a:ext>
            </a:extLst>
          </p:cNvPr>
          <p:cNvSpPr>
            <a:spLocks noGrp="1"/>
          </p:cNvSpPr>
          <p:nvPr/>
        </p:nvSpPr>
        <p:spPr>
          <a:xfrm>
            <a:off x="742950" y="3920871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Write summary and vessel_info. This is the main file the page reads.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C93D54C4-FDC0-47B3-9ACC-69B29A4D07FB}"/>
              </a:ext>
            </a:extLst>
          </p:cNvPr>
          <p:cNvSpPr>
            <a:spLocks noGrp="1"/>
          </p:cNvSpPr>
          <p:nvPr/>
        </p:nvSpPr>
        <p:spPr>
          <a:xfrm>
            <a:off x="4381500" y="3292221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585CE71-DCB9-48A4-82C9-9A0CF7EA1AE4}"/>
              </a:ext>
            </a:extLst>
          </p:cNvPr>
          <p:cNvSpPr>
            <a:spLocks noGrp="1"/>
          </p:cNvSpPr>
          <p:nvPr/>
        </p:nvSpPr>
        <p:spPr>
          <a:xfrm>
            <a:off x="4552950" y="3463671"/>
            <a:ext cx="342900" cy="342900"/>
          </a:xfrm>
          <a:prstGeom prst="ellipse">
            <a:avLst/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B77078-0856-4044-A67B-8181BEB40C40}"/>
              </a:ext>
            </a:extLst>
          </p:cNvPr>
          <p:cNvSpPr>
            <a:spLocks noGrp="1"/>
          </p:cNvSpPr>
          <p:nvPr/>
        </p:nvSpPr>
        <p:spPr>
          <a:xfrm>
            <a:off x="4552950" y="3463671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BA6B1C-E38E-4A33-BC6B-416C552D5DF4}"/>
              </a:ext>
            </a:extLst>
          </p:cNvPr>
          <p:cNvSpPr>
            <a:spLocks noGrp="1"/>
          </p:cNvSpPr>
          <p:nvPr/>
        </p:nvSpPr>
        <p:spPr>
          <a:xfrm>
            <a:off x="4991100" y="3463671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Map Link and DNV_path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13796C-6A01-4CBE-8E96-E293F7BA502E}"/>
              </a:ext>
            </a:extLst>
          </p:cNvPr>
          <p:cNvSpPr>
            <a:spLocks noGrp="1"/>
          </p:cNvSpPr>
          <p:nvPr/>
        </p:nvSpPr>
        <p:spPr>
          <a:xfrm>
            <a:off x="4552950" y="3920871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Each JSON entry connects a visible value to a raw source file and a DNV location.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E7D00FC0-94EB-4A33-88C2-829FC4D106B6}"/>
              </a:ext>
            </a:extLst>
          </p:cNvPr>
          <p:cNvSpPr>
            <a:spLocks noGrp="1"/>
          </p:cNvSpPr>
          <p:nvPr/>
        </p:nvSpPr>
        <p:spPr>
          <a:xfrm>
            <a:off x="8191500" y="3292221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F245A9B2-549A-4572-8B6D-A64BBD0D41D4}"/>
              </a:ext>
            </a:extLst>
          </p:cNvPr>
          <p:cNvSpPr>
            <a:spLocks noGrp="1"/>
          </p:cNvSpPr>
          <p:nvPr/>
        </p:nvSpPr>
        <p:spPr>
          <a:xfrm>
            <a:off x="8362950" y="3463671"/>
            <a:ext cx="342900" cy="342900"/>
          </a:xfrm>
          <a:prstGeom prst="ellipse">
            <a:avLst/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787D5D-3F02-4E9C-BDEC-43088046743A}"/>
              </a:ext>
            </a:extLst>
          </p:cNvPr>
          <p:cNvSpPr>
            <a:spLocks noGrp="1"/>
          </p:cNvSpPr>
          <p:nvPr/>
        </p:nvSpPr>
        <p:spPr>
          <a:xfrm>
            <a:off x="8362950" y="3463671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CBC6A9-5ECE-424F-B747-AA9692F651EE}"/>
              </a:ext>
            </a:extLst>
          </p:cNvPr>
          <p:cNvSpPr>
            <a:spLocks noGrp="1"/>
          </p:cNvSpPr>
          <p:nvPr/>
        </p:nvSpPr>
        <p:spPr>
          <a:xfrm>
            <a:off x="8801100" y="3463671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Let the page build itself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2D5031-D21A-40CB-9B13-575D0D39E706}"/>
              </a:ext>
            </a:extLst>
          </p:cNvPr>
          <p:cNvSpPr>
            <a:spLocks noGrp="1"/>
          </p:cNvSpPr>
          <p:nvPr/>
        </p:nvSpPr>
        <p:spPr>
          <a:xfrm>
            <a:off x="8362950" y="3920871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shared scripts generate the left panel, the DNV tree, the downloads, and the GPS route automatically.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1E52EB4-3687-42D6-991E-74F2EF02FBBF}"/>
              </a:ext>
            </a:extLst>
          </p:cNvPr>
          <p:cNvSpPr>
            <a:spLocks noGrp="1"/>
          </p:cNvSpPr>
          <p:nvPr/>
        </p:nvSpPr>
        <p:spPr>
          <a:xfrm>
            <a:off x="571500" y="5695950"/>
            <a:ext cx="5334000" cy="628650"/>
          </a:xfrm>
          <a:prstGeom prst="roundRect">
            <a:avLst>
              <a:gd name="adj" fmla="val 24242"/>
            </a:avLst>
          </a:prstGeom>
          <a:solidFill>
            <a:srgbClr val="E8EE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788D080F-3D07-40C9-9D29-0496E54EC3BA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D48B54-F9C2-4A1B-9921-B362B1070AA7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FFFFFF"/>
                </a:solidFill>
              </a:rPr>
              <a:t>BUILD STEP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67DFC5-3E2C-4EED-8AA2-B2F8010EDF4B}"/>
              </a:ext>
            </a:extLst>
          </p:cNvPr>
          <p:cNvSpPr>
            <a:spLocks noGrp="1"/>
          </p:cNvSpPr>
          <p:nvPr/>
        </p:nvSpPr>
        <p:spPr>
          <a:xfrm>
            <a:off x="723900" y="6210300"/>
            <a:ext cx="50292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Edit files or add content.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333EA040-D227-4331-A40F-7E80539CB847}"/>
              </a:ext>
            </a:extLst>
          </p:cNvPr>
          <p:cNvSpPr>
            <a:spLocks noGrp="1"/>
          </p:cNvSpPr>
          <p:nvPr/>
        </p:nvSpPr>
        <p:spPr>
          <a:xfrm>
            <a:off x="6191250" y="5695950"/>
            <a:ext cx="5334000" cy="628650"/>
          </a:xfrm>
          <a:prstGeom prst="roundRect">
            <a:avLst>
              <a:gd name="adj" fmla="val 24242"/>
            </a:avLst>
          </a:prstGeom>
          <a:solidFill>
            <a:srgbClr val="EBFBF1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65A3F535-F9D3-45DD-AC52-1EE39D8AF37D}"/>
              </a:ext>
            </a:extLst>
          </p:cNvPr>
          <p:cNvSpPr>
            <a:spLocks noGrp="1"/>
          </p:cNvSpPr>
          <p:nvPr/>
        </p:nvSpPr>
        <p:spPr>
          <a:xfrm>
            <a:off x="6343650" y="58483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F9C6D8F-E013-4057-9E0D-4442FD7F3787}"/>
              </a:ext>
            </a:extLst>
          </p:cNvPr>
          <p:cNvSpPr>
            <a:spLocks noGrp="1"/>
          </p:cNvSpPr>
          <p:nvPr/>
        </p:nvSpPr>
        <p:spPr>
          <a:xfrm>
            <a:off x="6343650" y="58483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7B95B93-EBE6-4410-812E-D54CB1D47896}"/>
              </a:ext>
            </a:extLst>
          </p:cNvPr>
          <p:cNvSpPr>
            <a:spLocks noGrp="1"/>
          </p:cNvSpPr>
          <p:nvPr/>
        </p:nvSpPr>
        <p:spPr>
          <a:xfrm>
            <a:off x="6343650" y="6210300"/>
            <a:ext cx="50292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Understand what each JSON field does.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2584E1E-CB37-46C3-8DA1-02013B1285EE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B46CD4-5B26-4D59-A679-C746EB0F1195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6344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FE50C17-62D4-484D-A632-1A791957816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C6A4BC-555A-423F-9107-06A486DA516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BUILD STEP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C83891-17D9-4294-8756-D5319311A9EC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Create the vessel folder before writing any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CD2C1D-0951-4E90-9057-1CE84894F697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Keep the main JSON file </a:t>
            </a:r>
            <a:r>
              <a:rPr lang="fr-FR" sz="1350" b="0" dirty="0">
                <a:solidFill>
                  <a:srgbClr val="475569"/>
                </a:solidFill>
              </a:rPr>
              <a:t>in the folder </a:t>
            </a:r>
            <a:r>
              <a:rPr lang="fr-FR" sz="1350" b="0" dirty="0" err="1">
                <a:solidFill>
                  <a:srgbClr val="475569"/>
                </a:solidFill>
              </a:rPr>
              <a:t>named</a:t>
            </a:r>
            <a:r>
              <a:rPr lang="fr-FR" sz="1350" b="0" dirty="0">
                <a:solidFill>
                  <a:srgbClr val="475569"/>
                </a:solidFill>
              </a:rPr>
              <a:t> JSON/ </a:t>
            </a:r>
            <a:r>
              <a:rPr sz="1350" b="0" dirty="0">
                <a:solidFill>
                  <a:srgbClr val="475569"/>
                </a:solidFill>
              </a:rPr>
              <a:t>and the raw sources </a:t>
            </a:r>
            <a:r>
              <a:rPr lang="fr-FR" sz="1350" b="0" dirty="0">
                <a:solidFill>
                  <a:srgbClr val="475569"/>
                </a:solidFill>
              </a:rPr>
              <a:t>in the folder </a:t>
            </a:r>
            <a:r>
              <a:rPr lang="fr-FR" sz="1350" b="0" dirty="0" err="1">
                <a:solidFill>
                  <a:srgbClr val="475569"/>
                </a:solidFill>
              </a:rPr>
              <a:t>named</a:t>
            </a:r>
            <a:r>
              <a:rPr lang="fr-FR" sz="1350" b="0" dirty="0">
                <a:solidFill>
                  <a:srgbClr val="475569"/>
                </a:solidFill>
              </a:rPr>
              <a:t> </a:t>
            </a:r>
            <a:r>
              <a:rPr lang="fr-FR" sz="1350" b="0" dirty="0" err="1">
                <a:solidFill>
                  <a:srgbClr val="475569"/>
                </a:solidFill>
              </a:rPr>
              <a:t>raw_DATA</a:t>
            </a:r>
            <a:r>
              <a:rPr sz="1350" b="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6E3304C-7A83-4066-99B6-A4B6863A6236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4953000" cy="400050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BCAA80-A151-4CBB-9BAA-7E4CD71E77CC}"/>
              </a:ext>
            </a:extLst>
          </p:cNvPr>
          <p:cNvSpPr>
            <a:spLocks noGrp="1"/>
          </p:cNvSpPr>
          <p:nvPr/>
        </p:nvSpPr>
        <p:spPr>
          <a:xfrm>
            <a:off x="762000" y="2466975"/>
            <a:ext cx="4610100" cy="3695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lang="fr-FR"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Projects/</a:t>
            </a:r>
          </a:p>
          <a:p>
            <a:pPr algn="l">
              <a:defRPr sz="15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lang="fr-FR"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RINA Sig. Ships/</a:t>
            </a:r>
          </a:p>
          <a:p>
            <a:pPr algn="l">
              <a:defRPr sz="15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lang="fr-FR"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Vol.2018/</a:t>
            </a:r>
          </a:p>
          <a:p>
            <a:pPr algn="l">
              <a:defRPr sz="15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lang="fr-FR"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ALMI ATLAS/</a:t>
            </a:r>
          </a:p>
          <a:p>
            <a:pPr algn="l">
              <a:defRPr sz="15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fr-FR"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JSON/</a:t>
            </a:r>
          </a:p>
          <a:p>
            <a:pPr algn="l">
              <a:defRPr sz="15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lang="fr-FR" sz="1575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575" b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ALMI_ATLAS.json</a:t>
            </a:r>
            <a:endParaRPr sz="1575" b="0" dirty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lang="fr-FR"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575" b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raw_DATA</a:t>
            </a: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/</a:t>
            </a:r>
          </a:p>
          <a:p>
            <a:pPr algn="l">
              <a:defRPr sz="15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fr-FR"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&gt;</a:t>
            </a: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ALMI ATLAS.pdf</a:t>
            </a:r>
          </a:p>
          <a:p>
            <a:pPr algn="l">
              <a:defRPr sz="15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lang="fr-FR" sz="1575" b="0" dirty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&gt;</a:t>
            </a:r>
            <a:r>
              <a:rPr sz="1575" b="0" dirty="0" err="1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raw_GPS_data_ALMI_ATLAS.json</a:t>
            </a:r>
            <a:endParaRPr sz="1575" b="0" dirty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CA3100B-9E6D-490D-ADF6-6A733D96122B}"/>
              </a:ext>
            </a:extLst>
          </p:cNvPr>
          <p:cNvSpPr>
            <a:spLocks noGrp="1"/>
          </p:cNvSpPr>
          <p:nvPr/>
        </p:nvSpPr>
        <p:spPr>
          <a:xfrm>
            <a:off x="5905500" y="1885950"/>
            <a:ext cx="5619750" cy="10477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12208DE-FF9D-43A5-9E2F-6AA821BCDF9B}"/>
              </a:ext>
            </a:extLst>
          </p:cNvPr>
          <p:cNvSpPr>
            <a:spLocks noGrp="1"/>
          </p:cNvSpPr>
          <p:nvPr/>
        </p:nvSpPr>
        <p:spPr>
          <a:xfrm>
            <a:off x="6057900" y="20383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2797E2-E17B-4B35-936C-85B1BDA8486F}"/>
              </a:ext>
            </a:extLst>
          </p:cNvPr>
          <p:cNvSpPr>
            <a:spLocks noGrp="1"/>
          </p:cNvSpPr>
          <p:nvPr/>
        </p:nvSpPr>
        <p:spPr>
          <a:xfrm>
            <a:off x="6057900" y="20383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JSON/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4F7F3B-6D38-4A1D-A216-06D26E61CB68}"/>
              </a:ext>
            </a:extLst>
          </p:cNvPr>
          <p:cNvSpPr>
            <a:spLocks noGrp="1"/>
          </p:cNvSpPr>
          <p:nvPr/>
        </p:nvSpPr>
        <p:spPr>
          <a:xfrm>
            <a:off x="6057900" y="2400300"/>
            <a:ext cx="531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Store the single main file read by the website. The Get Json button downloads this file.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8936414-154B-43E6-B142-D5AC593C796D}"/>
              </a:ext>
            </a:extLst>
          </p:cNvPr>
          <p:cNvSpPr>
            <a:spLocks noGrp="1"/>
          </p:cNvSpPr>
          <p:nvPr/>
        </p:nvSpPr>
        <p:spPr>
          <a:xfrm>
            <a:off x="5905500" y="3181350"/>
            <a:ext cx="5619750" cy="10477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3BC44147-7AF9-4441-967F-2A136CBC09F1}"/>
              </a:ext>
            </a:extLst>
          </p:cNvPr>
          <p:cNvSpPr>
            <a:spLocks noGrp="1"/>
          </p:cNvSpPr>
          <p:nvPr/>
        </p:nvSpPr>
        <p:spPr>
          <a:xfrm>
            <a:off x="6057900" y="33337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430B02-87D4-4758-852E-75D9C9D9E272}"/>
              </a:ext>
            </a:extLst>
          </p:cNvPr>
          <p:cNvSpPr>
            <a:spLocks noGrp="1"/>
          </p:cNvSpPr>
          <p:nvPr/>
        </p:nvSpPr>
        <p:spPr>
          <a:xfrm>
            <a:off x="6057900" y="33337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raw_DATA/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96A87F-B2D5-4FD3-9256-880DDDBD7DAF}"/>
              </a:ext>
            </a:extLst>
          </p:cNvPr>
          <p:cNvSpPr>
            <a:spLocks noGrp="1"/>
          </p:cNvSpPr>
          <p:nvPr/>
        </p:nvSpPr>
        <p:spPr>
          <a:xfrm>
            <a:off x="6057900" y="3695700"/>
            <a:ext cx="531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Store the original sources used by Link: PDF, GPS JSON, CSV, or any other raw file.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0C48F79-4B65-429F-81D9-ADAA513C6960}"/>
              </a:ext>
            </a:extLst>
          </p:cNvPr>
          <p:cNvSpPr>
            <a:spLocks noGrp="1"/>
          </p:cNvSpPr>
          <p:nvPr/>
        </p:nvSpPr>
        <p:spPr>
          <a:xfrm>
            <a:off x="5905500" y="4476750"/>
            <a:ext cx="5619750" cy="10477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DF41788-DFEB-4281-BBD3-EC1E21DE0369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BD6678-E5BF-4361-8453-B571CFE9A340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Why this comes first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2EDF83-16B2-4506-A94B-ECBF9C12F26E}"/>
              </a:ext>
            </a:extLst>
          </p:cNvPr>
          <p:cNvSpPr>
            <a:spLocks noGrp="1"/>
          </p:cNvSpPr>
          <p:nvPr/>
        </p:nvSpPr>
        <p:spPr>
          <a:xfrm>
            <a:off x="6057900" y="4991100"/>
            <a:ext cx="5314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folder structure decides every path used later in project-config.js, in the JSON file, and in the dashboard image path.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016685E-F5DC-4FE1-8D13-75383F54F207}"/>
              </a:ext>
            </a:extLst>
          </p:cNvPr>
          <p:cNvSpPr>
            <a:spLocks noGrp="1"/>
          </p:cNvSpPr>
          <p:nvPr/>
        </p:nvSpPr>
        <p:spPr>
          <a:xfrm>
            <a:off x="5905500" y="5715000"/>
            <a:ext cx="5619750" cy="495300"/>
          </a:xfrm>
          <a:prstGeom prst="roundRect">
            <a:avLst>
              <a:gd name="adj" fmla="val 30769"/>
            </a:avLst>
          </a:prstGeom>
          <a:solidFill>
            <a:srgbClr val="EBFBF1"/>
          </a:solidFill>
          <a:ln w="9525">
            <a:solidFill>
              <a:srgbClr val="A7F3D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118606-88EE-44F2-86D6-0157B29BAA81}"/>
              </a:ext>
            </a:extLst>
          </p:cNvPr>
          <p:cNvSpPr>
            <a:spLocks noGrp="1"/>
          </p:cNvSpPr>
          <p:nvPr/>
        </p:nvSpPr>
        <p:spPr>
          <a:xfrm>
            <a:off x="6057900" y="58483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55119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123B1B-AD70-4D45-B7FF-8559F0553B9D}"/>
              </a:ext>
            </a:extLst>
          </p:cNvPr>
          <p:cNvSpPr>
            <a:spLocks noGrp="1"/>
          </p:cNvSpPr>
          <p:nvPr/>
        </p:nvSpPr>
        <p:spPr>
          <a:xfrm>
            <a:off x="6457950" y="5865114"/>
            <a:ext cx="4800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rPr sz="1200" b="0" dirty="0">
                <a:solidFill>
                  <a:srgbClr val="1E293B"/>
                </a:solidFill>
              </a:rPr>
              <a:t>Simple rule: create the folder once, then keep every file inside it.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CD4AF2-A1BD-4C1C-9101-833400F0755C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F43C3E-F5DE-4AB1-92AC-D8D6A73E9289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54791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7F0FDB1-D833-4921-B0F8-F2D5EF8F5AC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99E832-4CFC-447C-8A70-70C9F77EFD1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BUILD STEP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A1602C-F9D2-4284-921B-1E2B9074D947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 dirty="0">
                <a:solidFill>
                  <a:srgbClr val="0F172A"/>
                </a:solidFill>
              </a:rPr>
              <a:t>Create the dashboard block and add the image</a:t>
            </a:r>
            <a:r>
              <a:rPr lang="fr-FR" sz="3000" b="1" dirty="0">
                <a:solidFill>
                  <a:srgbClr val="0F172A"/>
                </a:solidFill>
              </a:rPr>
              <a:t> – Rina_blocs.html</a:t>
            </a:r>
            <a:endParaRPr sz="3000" b="1" dirty="0">
              <a:solidFill>
                <a:srgbClr val="0F172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2189A4-5477-4846-84C5-4F63A344F30D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This is where the project becomes visible on the home page.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1D24884-F6A8-4650-AC32-B3C1A7100F77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4762500" cy="3638550"/>
          </a:xfrm>
          <a:prstGeom prst="roundRect">
            <a:avLst>
              <a:gd name="adj" fmla="val 418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9402CB-2538-497D-883E-711E0006D291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44196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43" lnSpcReduction="10000"/>
          </a:bodyPr>
          <a:lstStyle/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&lt;section class="project-card"&gt;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&lt;h2&gt;RINA&lt;/h2&gt;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&lt;p class="project-description"&gt;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Short project description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&lt;/p&gt;</a:t>
            </a:r>
          </a:p>
          <a:p>
            <a:endParaRPr sz="1200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&lt;div class="project-card-content"&gt;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&lt;div class="project-image-box"&gt;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&lt;img src="Image/RINA/Image_Rina.png" alt="RINA image"&gt;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&lt;/div&gt;</a:t>
            </a:r>
          </a:p>
          <a:p>
            <a:endParaRPr sz="1200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&lt;div class="project-vessels"&gt;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&lt;h3&gt;Vessels&lt;/h3&gt;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&lt;div id="rina-vessel-links" class="vessel-link-list"&gt;&lt;/div&gt;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&lt;/div&gt;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&lt;/div&gt;</a:t>
            </a:r>
          </a:p>
          <a:p>
            <a:pPr algn="l">
              <a:defRPr sz="12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&lt;/section&gt;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3881132-3D0C-4323-975E-6116254F0F55}"/>
              </a:ext>
            </a:extLst>
          </p:cNvPr>
          <p:cNvSpPr>
            <a:spLocks noGrp="1"/>
          </p:cNvSpPr>
          <p:nvPr/>
        </p:nvSpPr>
        <p:spPr>
          <a:xfrm>
            <a:off x="5619750" y="1790700"/>
            <a:ext cx="59055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3"/>
          <a:srcRect t="13166" b="13166"/>
          <a:stretch>
            <a:fillRect/>
          </a:stretch>
        </p:blipFill>
        <p:spPr>
          <a:xfrm>
            <a:off x="5791200" y="1962150"/>
            <a:ext cx="5562600" cy="2305050"/>
          </a:xfrm>
          <a:prstGeom prst="roundRect">
            <a:avLst>
              <a:gd name="adj" fmla="val 6612"/>
            </a:avLst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019CEAB-9B41-465E-92CF-5D3657F36913}"/>
              </a:ext>
            </a:extLst>
          </p:cNvPr>
          <p:cNvSpPr>
            <a:spLocks noGrp="1"/>
          </p:cNvSpPr>
          <p:nvPr/>
        </p:nvSpPr>
        <p:spPr>
          <a:xfrm>
            <a:off x="5619750" y="4686300"/>
            <a:ext cx="276225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D9508BB-F096-4318-82D9-5F3B949547E2}"/>
              </a:ext>
            </a:extLst>
          </p:cNvPr>
          <p:cNvSpPr>
            <a:spLocks noGrp="1"/>
          </p:cNvSpPr>
          <p:nvPr/>
        </p:nvSpPr>
        <p:spPr>
          <a:xfrm>
            <a:off x="5772150" y="48387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5DCA1B-EE01-4494-88F3-9ACF2A21A4CC}"/>
              </a:ext>
            </a:extLst>
          </p:cNvPr>
          <p:cNvSpPr>
            <a:spLocks noGrp="1"/>
          </p:cNvSpPr>
          <p:nvPr/>
        </p:nvSpPr>
        <p:spPr>
          <a:xfrm>
            <a:off x="5772150" y="48387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HTML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DD6274-90E1-4345-9445-B861327A4AC8}"/>
              </a:ext>
            </a:extLst>
          </p:cNvPr>
          <p:cNvSpPr>
            <a:spLocks noGrp="1"/>
          </p:cNvSpPr>
          <p:nvPr/>
        </p:nvSpPr>
        <p:spPr>
          <a:xfrm>
            <a:off x="5772150" y="5200650"/>
            <a:ext cx="2457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Write the title and the project description directly in the block file.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0DC2DC2-911D-4496-8A52-FFB6F7CF9279}"/>
              </a:ext>
            </a:extLst>
          </p:cNvPr>
          <p:cNvSpPr>
            <a:spLocks noGrp="1"/>
          </p:cNvSpPr>
          <p:nvPr/>
        </p:nvSpPr>
        <p:spPr>
          <a:xfrm>
            <a:off x="8763000" y="4686300"/>
            <a:ext cx="276225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7AE5124-7436-464F-BBEF-3116B7448084}"/>
              </a:ext>
            </a:extLst>
          </p:cNvPr>
          <p:cNvSpPr>
            <a:spLocks noGrp="1"/>
          </p:cNvSpPr>
          <p:nvPr/>
        </p:nvSpPr>
        <p:spPr>
          <a:xfrm>
            <a:off x="8915400" y="48387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3CA8B8-7445-46C1-92D7-D1EF91810C59}"/>
              </a:ext>
            </a:extLst>
          </p:cNvPr>
          <p:cNvSpPr>
            <a:spLocks noGrp="1"/>
          </p:cNvSpPr>
          <p:nvPr/>
        </p:nvSpPr>
        <p:spPr>
          <a:xfrm>
            <a:off x="8915400" y="48387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122CE9-8D7B-46DB-BB46-E9E5E2CA981B}"/>
              </a:ext>
            </a:extLst>
          </p:cNvPr>
          <p:cNvSpPr>
            <a:spLocks noGrp="1"/>
          </p:cNvSpPr>
          <p:nvPr/>
        </p:nvSpPr>
        <p:spPr>
          <a:xfrm>
            <a:off x="8915400" y="5200650"/>
            <a:ext cx="2457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372" lnSpcReduction="20000"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Point the img tag to Image/... The shared CSS keeps the image centered and fixed in size.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965A4750-C098-4BD6-9F5A-99E3DE32C80B}"/>
              </a:ext>
            </a:extLst>
          </p:cNvPr>
          <p:cNvSpPr>
            <a:spLocks noGrp="1"/>
          </p:cNvSpPr>
          <p:nvPr/>
        </p:nvSpPr>
        <p:spPr>
          <a:xfrm>
            <a:off x="381000" y="5962650"/>
            <a:ext cx="5796204" cy="533400"/>
          </a:xfrm>
          <a:prstGeom prst="roundRect">
            <a:avLst>
              <a:gd name="adj" fmla="val 28571"/>
            </a:avLst>
          </a:prstGeom>
          <a:solidFill>
            <a:srgbClr val="EBFBF1"/>
          </a:solidFill>
          <a:ln w="9525">
            <a:solidFill>
              <a:srgbClr val="A7F3D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6CAC30-53C5-47FE-9A71-4BA4A636FB1A}"/>
              </a:ext>
            </a:extLst>
          </p:cNvPr>
          <p:cNvSpPr>
            <a:spLocks noGrp="1"/>
          </p:cNvSpPr>
          <p:nvPr/>
        </p:nvSpPr>
        <p:spPr>
          <a:xfrm>
            <a:off x="723900" y="5829300"/>
            <a:ext cx="40041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55119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294527-1DE9-409F-AEAA-1E780958F687}"/>
              </a:ext>
            </a:extLst>
          </p:cNvPr>
          <p:cNvSpPr>
            <a:spLocks noGrp="1"/>
          </p:cNvSpPr>
          <p:nvPr/>
        </p:nvSpPr>
        <p:spPr>
          <a:xfrm>
            <a:off x="550545" y="6129528"/>
            <a:ext cx="553021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rPr sz="1200" b="0" dirty="0">
                <a:solidFill>
                  <a:srgbClr val="1E293B"/>
                </a:solidFill>
              </a:rPr>
              <a:t>Important: the vessel link list stays empty in HTML. JavaScript fills it automatically later.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B0F003-D2DB-4DE3-9FDF-D7F97E90A4D4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9842DA-52E5-483A-93C2-ACF4F076E614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6CB9AE-8E77-1181-EC12-5C3F314C83A7}"/>
              </a:ext>
            </a:extLst>
          </p:cNvPr>
          <p:cNvSpPr/>
          <p:nvPr/>
        </p:nvSpPr>
        <p:spPr>
          <a:xfrm>
            <a:off x="723900" y="2852928"/>
            <a:ext cx="4438650" cy="102412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81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C282679E-D6E3-4F3C-8AD5-CC8D1FBA7A57}"/>
              </a:ext>
            </a:extLst>
          </p:cNvPr>
          <p:cNvSpPr>
            <a:spLocks noGrp="1"/>
          </p:cNvSpPr>
          <p:nvPr/>
        </p:nvSpPr>
        <p:spPr>
          <a:xfrm>
            <a:off x="571500" y="425958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92C5F-7834-44D9-AB53-E31D041B1143}"/>
              </a:ext>
            </a:extLst>
          </p:cNvPr>
          <p:cNvSpPr>
            <a:spLocks noGrp="1"/>
          </p:cNvSpPr>
          <p:nvPr/>
        </p:nvSpPr>
        <p:spPr>
          <a:xfrm>
            <a:off x="571500" y="444246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BUILD STEP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C87C7-DDBC-44A5-89FD-D5A9E2F1357F}"/>
              </a:ext>
            </a:extLst>
          </p:cNvPr>
          <p:cNvSpPr>
            <a:spLocks noGrp="1"/>
          </p:cNvSpPr>
          <p:nvPr/>
        </p:nvSpPr>
        <p:spPr>
          <a:xfrm>
            <a:off x="571500" y="862584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 dirty="0">
                <a:solidFill>
                  <a:srgbClr val="0F172A"/>
                </a:solidFill>
              </a:rPr>
              <a:t>Register the project once in project-config.js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759C8F-6AFF-4C64-BBB1-7A250DF5D613}"/>
              </a:ext>
            </a:extLst>
          </p:cNvPr>
          <p:cNvSpPr>
            <a:spLocks noGrp="1"/>
          </p:cNvSpPr>
          <p:nvPr/>
        </p:nvSpPr>
        <p:spPr>
          <a:xfrm>
            <a:off x="571500" y="1400556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This is the bridge between the dashboard block, the page URL, and the main JSON file.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197C6ED-5835-4687-A6B0-FD7DF04B089A}"/>
              </a:ext>
            </a:extLst>
          </p:cNvPr>
          <p:cNvSpPr>
            <a:spLocks noGrp="1"/>
          </p:cNvSpPr>
          <p:nvPr/>
        </p:nvSpPr>
        <p:spPr>
          <a:xfrm>
            <a:off x="571500" y="2258568"/>
            <a:ext cx="4476750" cy="3086100"/>
          </a:xfrm>
          <a:prstGeom prst="roundRect">
            <a:avLst>
              <a:gd name="adj" fmla="val 493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22F649-5821-44FA-95DA-2AEB10DB7F39}"/>
              </a:ext>
            </a:extLst>
          </p:cNvPr>
          <p:cNvSpPr>
            <a:spLocks noGrp="1"/>
          </p:cNvSpPr>
          <p:nvPr/>
        </p:nvSpPr>
        <p:spPr>
          <a:xfrm>
            <a:off x="742950" y="2410968"/>
            <a:ext cx="413385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id: "atlas",</a:t>
            </a:r>
          </a:p>
          <a:p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name: "ALMI ATLAS",</a:t>
            </a:r>
          </a:p>
          <a:p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dashboardListId: "rina-vessel-links",</a:t>
            </a:r>
          </a:p>
          <a:p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jsonPath: "Projects/RINA Sig. Ships/Vol.2018/ALMI ATLAS/JSON/ALMI_ATLAS.json"</a:t>
            </a:r>
          </a:p>
          <a:p>
            <a:pPr algn="l">
              <a:defRPr sz="150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9BE4D16-99C1-481C-B09F-F5784EF8BB16}"/>
              </a:ext>
            </a:extLst>
          </p:cNvPr>
          <p:cNvSpPr>
            <a:spLocks noGrp="1"/>
          </p:cNvSpPr>
          <p:nvPr/>
        </p:nvSpPr>
        <p:spPr>
          <a:xfrm>
            <a:off x="5391150" y="2258568"/>
            <a:ext cx="27241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B2DA3EF-D615-4FA4-8711-FE6CAB004134}"/>
              </a:ext>
            </a:extLst>
          </p:cNvPr>
          <p:cNvSpPr>
            <a:spLocks noGrp="1"/>
          </p:cNvSpPr>
          <p:nvPr/>
        </p:nvSpPr>
        <p:spPr>
          <a:xfrm>
            <a:off x="5543550" y="2410968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2142E5-B6BA-4933-B827-BE38B048D188}"/>
              </a:ext>
            </a:extLst>
          </p:cNvPr>
          <p:cNvSpPr>
            <a:spLocks noGrp="1"/>
          </p:cNvSpPr>
          <p:nvPr/>
        </p:nvSpPr>
        <p:spPr>
          <a:xfrm>
            <a:off x="5543550" y="2410968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1652FE-DB40-45C2-B368-225D58FF8046}"/>
              </a:ext>
            </a:extLst>
          </p:cNvPr>
          <p:cNvSpPr>
            <a:spLocks noGrp="1"/>
          </p:cNvSpPr>
          <p:nvPr/>
        </p:nvSpPr>
        <p:spPr>
          <a:xfrm>
            <a:off x="5543550" y="2772918"/>
            <a:ext cx="2419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 dirty="0">
                <a:solidFill>
                  <a:srgbClr val="334155"/>
                </a:solidFill>
              </a:rPr>
              <a:t>Unique key used in the URL.</a:t>
            </a:r>
          </a:p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 dirty="0">
                <a:solidFill>
                  <a:srgbClr val="334155"/>
                </a:solidFill>
              </a:rPr>
              <a:t>Example: project=atlas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75B6E37-095D-4C9B-ABF6-53B06A9290BE}"/>
              </a:ext>
            </a:extLst>
          </p:cNvPr>
          <p:cNvSpPr>
            <a:spLocks noGrp="1"/>
          </p:cNvSpPr>
          <p:nvPr/>
        </p:nvSpPr>
        <p:spPr>
          <a:xfrm>
            <a:off x="8420100" y="2258568"/>
            <a:ext cx="31051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1B5D687-48AB-4D74-966D-2815FC55ECFD}"/>
              </a:ext>
            </a:extLst>
          </p:cNvPr>
          <p:cNvSpPr>
            <a:spLocks noGrp="1"/>
          </p:cNvSpPr>
          <p:nvPr/>
        </p:nvSpPr>
        <p:spPr>
          <a:xfrm>
            <a:off x="8572500" y="2410968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39E889-660D-4CF8-898D-EE7ACDE9BB41}"/>
              </a:ext>
            </a:extLst>
          </p:cNvPr>
          <p:cNvSpPr>
            <a:spLocks noGrp="1"/>
          </p:cNvSpPr>
          <p:nvPr/>
        </p:nvSpPr>
        <p:spPr>
          <a:xfrm>
            <a:off x="8572500" y="2410968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050138-AAC8-46B8-9A90-FBFA7284F043}"/>
              </a:ext>
            </a:extLst>
          </p:cNvPr>
          <p:cNvSpPr>
            <a:spLocks noGrp="1"/>
          </p:cNvSpPr>
          <p:nvPr/>
        </p:nvSpPr>
        <p:spPr>
          <a:xfrm>
            <a:off x="8572500" y="2772918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Visible name shown in the dashboard and in the details page header.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B02FE4E-1A81-4988-AED8-C7B93572FF47}"/>
              </a:ext>
            </a:extLst>
          </p:cNvPr>
          <p:cNvSpPr>
            <a:spLocks noGrp="1"/>
          </p:cNvSpPr>
          <p:nvPr/>
        </p:nvSpPr>
        <p:spPr>
          <a:xfrm>
            <a:off x="5391150" y="4177284"/>
            <a:ext cx="27241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ECEBF19-FB5E-4A33-9301-6F340CB25B35}"/>
              </a:ext>
            </a:extLst>
          </p:cNvPr>
          <p:cNvSpPr>
            <a:spLocks noGrp="1"/>
          </p:cNvSpPr>
          <p:nvPr/>
        </p:nvSpPr>
        <p:spPr>
          <a:xfrm>
            <a:off x="5543550" y="4329684"/>
            <a:ext cx="1238250" cy="2476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CC21A4-047B-4FF0-8E9C-0A7E64E21499}"/>
              </a:ext>
            </a:extLst>
          </p:cNvPr>
          <p:cNvSpPr>
            <a:spLocks noGrp="1"/>
          </p:cNvSpPr>
          <p:nvPr/>
        </p:nvSpPr>
        <p:spPr>
          <a:xfrm>
            <a:off x="5543550" y="4329684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 err="1">
                <a:solidFill>
                  <a:srgbClr val="FFFFFF"/>
                </a:solidFill>
              </a:rPr>
              <a:t>dashboardListId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C423AF-FEB6-4CE1-B234-25AFF543E89E}"/>
              </a:ext>
            </a:extLst>
          </p:cNvPr>
          <p:cNvSpPr>
            <a:spLocks noGrp="1"/>
          </p:cNvSpPr>
          <p:nvPr/>
        </p:nvSpPr>
        <p:spPr>
          <a:xfrm>
            <a:off x="5543550" y="4691634"/>
            <a:ext cx="2419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 dirty="0">
                <a:solidFill>
                  <a:srgbClr val="334155"/>
                </a:solidFill>
              </a:rPr>
              <a:t>Must match the empty list container id inside the dashboard block.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76ECA61B-8C67-4A40-97F3-30625F914414}"/>
              </a:ext>
            </a:extLst>
          </p:cNvPr>
          <p:cNvSpPr>
            <a:spLocks noGrp="1"/>
          </p:cNvSpPr>
          <p:nvPr/>
        </p:nvSpPr>
        <p:spPr>
          <a:xfrm>
            <a:off x="8420100" y="4177284"/>
            <a:ext cx="310515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D33EF37-1F16-4DF9-9402-5627511565AB}"/>
              </a:ext>
            </a:extLst>
          </p:cNvPr>
          <p:cNvSpPr>
            <a:spLocks noGrp="1"/>
          </p:cNvSpPr>
          <p:nvPr/>
        </p:nvSpPr>
        <p:spPr>
          <a:xfrm>
            <a:off x="8572500" y="4329684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A2B9FB-69AF-4A0B-843C-4E9CDE5DA358}"/>
              </a:ext>
            </a:extLst>
          </p:cNvPr>
          <p:cNvSpPr>
            <a:spLocks noGrp="1"/>
          </p:cNvSpPr>
          <p:nvPr/>
        </p:nvSpPr>
        <p:spPr>
          <a:xfrm>
            <a:off x="8572500" y="4329684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 err="1">
                <a:solidFill>
                  <a:srgbClr val="FFFFFF"/>
                </a:solidFill>
              </a:rPr>
              <a:t>jsonPath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26F69E-37AA-491D-8C75-FE16A0F15306}"/>
              </a:ext>
            </a:extLst>
          </p:cNvPr>
          <p:cNvSpPr>
            <a:spLocks noGrp="1"/>
          </p:cNvSpPr>
          <p:nvPr/>
        </p:nvSpPr>
        <p:spPr>
          <a:xfrm>
            <a:off x="8572500" y="4691634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Path to the single main JSON file for this project.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56F445E-6F04-4A0F-9143-2540B8764046}"/>
              </a:ext>
            </a:extLst>
          </p:cNvPr>
          <p:cNvSpPr>
            <a:spLocks noGrp="1"/>
          </p:cNvSpPr>
          <p:nvPr/>
        </p:nvSpPr>
        <p:spPr>
          <a:xfrm>
            <a:off x="3031998" y="5971794"/>
            <a:ext cx="6305550" cy="381000"/>
          </a:xfrm>
          <a:prstGeom prst="roundRect">
            <a:avLst>
              <a:gd name="adj" fmla="val 18182"/>
            </a:avLst>
          </a:prstGeom>
          <a:solidFill>
            <a:srgbClr val="EBFBF1"/>
          </a:solidFill>
          <a:ln w="9525">
            <a:solidFill>
              <a:srgbClr val="A7F3D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F803A6-21E9-4065-B274-D6316EEAF4FC}"/>
              </a:ext>
            </a:extLst>
          </p:cNvPr>
          <p:cNvSpPr>
            <a:spLocks noGrp="1"/>
          </p:cNvSpPr>
          <p:nvPr/>
        </p:nvSpPr>
        <p:spPr>
          <a:xfrm>
            <a:off x="3355848" y="6105144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55119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A3CAA-7629-4200-B7E9-806124B38E43}"/>
              </a:ext>
            </a:extLst>
          </p:cNvPr>
          <p:cNvSpPr>
            <a:spLocks noGrp="1"/>
          </p:cNvSpPr>
          <p:nvPr/>
        </p:nvSpPr>
        <p:spPr>
          <a:xfrm>
            <a:off x="3143250" y="6076950"/>
            <a:ext cx="6087618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rPr sz="1200" b="0" dirty="0">
                <a:solidFill>
                  <a:srgbClr val="1E293B"/>
                </a:solidFill>
              </a:rPr>
              <a:t>When you add a new vessel or project later, this is usually the only JavaScript file you need to edit.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5D556A-C9AC-4B59-9486-6D63B475C9D2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469773-1725-4EFF-A9FB-A2BF1EFABAFD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7302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BF569BC-CEA1-4D54-9527-DCD84B97AD34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2C3A2-99C3-4EE3-8548-46096A35ACA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BUILD STEP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6D612E-1368-4076-AF4F-CA3BB12622A6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Create the main JSON file with two top-level parts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C2C810-98FD-4AEB-A828-E0A9089B8166}"/>
              </a:ext>
            </a:extLst>
          </p:cNvPr>
          <p:cNvSpPr>
            <a:spLocks noGrp="1"/>
          </p:cNvSpPr>
          <p:nvPr/>
        </p:nvSpPr>
        <p:spPr>
          <a:xfrm>
            <a:off x="571500" y="1190244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Keep the structure simple so the same shared scripts can work for every future project.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1EDABD3-373E-4BA0-8A2C-E00060CEE083}"/>
              </a:ext>
            </a:extLst>
          </p:cNvPr>
          <p:cNvSpPr>
            <a:spLocks noGrp="1"/>
          </p:cNvSpPr>
          <p:nvPr/>
        </p:nvSpPr>
        <p:spPr>
          <a:xfrm>
            <a:off x="571500" y="1514094"/>
            <a:ext cx="5334000" cy="4963668"/>
          </a:xfrm>
          <a:prstGeom prst="roundRect">
            <a:avLst>
              <a:gd name="adj" fmla="val 4020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A7561A-B36A-4CB0-9390-7163907C8F63}"/>
              </a:ext>
            </a:extLst>
          </p:cNvPr>
          <p:cNvSpPr>
            <a:spLocks noGrp="1"/>
          </p:cNvSpPr>
          <p:nvPr/>
        </p:nvSpPr>
        <p:spPr>
          <a:xfrm>
            <a:off x="742950" y="1666494"/>
            <a:ext cx="4991100" cy="481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summary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"ALMI ATLAS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a RINA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Significant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Ship of 2018. The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vessel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is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presented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in the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project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with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key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ship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data,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mapped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DNV information, and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linked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raw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sources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such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as the source PDF and GPS route data.",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vessel_info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[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"Name":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shipbuilder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"Link": "../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raw_DATA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/ALMI ATLAS.pdf",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DNV_path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"/dnv-v2/vis-3-10a/800a/860/861/861.2/861.21/G52/G52.1",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"Value": "Hyundai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Samho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Heavy Industries Co. Ltd",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source_context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{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"group": {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group_name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shipbuilder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display_name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Shipbuilder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data_kind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document_fact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source_page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1,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taxonomy_node_id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design_data.general_vessel_information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},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"item": {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display_name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Shipbuilder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proposed_extension_if_missing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"not 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specified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in document"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},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original_attribute_name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shipbuilder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 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original_DNV_source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": "/dnv-v2/vis-3-10a/800a/860/861/861.2/861.21/G52/G52.1"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},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  "location": "</a:t>
            </a:r>
            <a:r>
              <a:rPr lang="fr-FR" sz="1000" dirty="0" err="1">
                <a:solidFill>
                  <a:schemeClr val="bg1"/>
                </a:solidFill>
                <a:latin typeface="Consolas" panose="020B0609020204030204" pitchFamily="49" charset="0"/>
              </a:rPr>
              <a:t>hull</a:t>
            </a:r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"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  ]</a:t>
            </a:r>
          </a:p>
          <a:p>
            <a:r>
              <a:rPr lang="fr-FR" sz="10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fr-FR" sz="1000" b="0" dirty="0">
              <a:solidFill>
                <a:schemeClr val="bg1"/>
              </a:solidFill>
              <a:latin typeface="Consolas" panose="020B0609020204030204" pitchFamily="49" charset="0"/>
              <a:ea typeface="Consolas"/>
              <a:cs typeface="Consola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DD93D7C-1D59-4FAF-9649-BD78967F1DAB}"/>
              </a:ext>
            </a:extLst>
          </p:cNvPr>
          <p:cNvSpPr>
            <a:spLocks noGrp="1"/>
          </p:cNvSpPr>
          <p:nvPr/>
        </p:nvSpPr>
        <p:spPr>
          <a:xfrm>
            <a:off x="6191250" y="1885950"/>
            <a:ext cx="5334000" cy="8191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66FE1C7-ACFE-4195-BC1E-4B1D09B3211B}"/>
              </a:ext>
            </a:extLst>
          </p:cNvPr>
          <p:cNvSpPr>
            <a:spLocks noGrp="1"/>
          </p:cNvSpPr>
          <p:nvPr/>
        </p:nvSpPr>
        <p:spPr>
          <a:xfrm>
            <a:off x="6343650" y="20383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B352C7-DA64-43C2-B8E6-B62C3EC9AE30}"/>
              </a:ext>
            </a:extLst>
          </p:cNvPr>
          <p:cNvSpPr>
            <a:spLocks noGrp="1"/>
          </p:cNvSpPr>
          <p:nvPr/>
        </p:nvSpPr>
        <p:spPr>
          <a:xfrm>
            <a:off x="6343650" y="20383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369352-2664-4A11-86A7-CF96A41BE690}"/>
              </a:ext>
            </a:extLst>
          </p:cNvPr>
          <p:cNvSpPr>
            <a:spLocks noGrp="1"/>
          </p:cNvSpPr>
          <p:nvPr/>
        </p:nvSpPr>
        <p:spPr>
          <a:xfrm>
            <a:off x="6343650" y="2400300"/>
            <a:ext cx="502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One short paragraph. It appears at the top of the left panel.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DBCAEDE-A525-4036-9ED5-26D50A0C530C}"/>
              </a:ext>
            </a:extLst>
          </p:cNvPr>
          <p:cNvSpPr>
            <a:spLocks noGrp="1"/>
          </p:cNvSpPr>
          <p:nvPr/>
        </p:nvSpPr>
        <p:spPr>
          <a:xfrm>
            <a:off x="6191250" y="2834640"/>
            <a:ext cx="5334000" cy="9715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D9445FE-9223-4576-B50A-CAAA50AD48D5}"/>
              </a:ext>
            </a:extLst>
          </p:cNvPr>
          <p:cNvSpPr>
            <a:spLocks noGrp="1"/>
          </p:cNvSpPr>
          <p:nvPr/>
        </p:nvSpPr>
        <p:spPr>
          <a:xfrm>
            <a:off x="6343650" y="298704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15A376-3C46-46B1-84F9-D5119A1B1C19}"/>
              </a:ext>
            </a:extLst>
          </p:cNvPr>
          <p:cNvSpPr>
            <a:spLocks noGrp="1"/>
          </p:cNvSpPr>
          <p:nvPr/>
        </p:nvSpPr>
        <p:spPr>
          <a:xfrm>
            <a:off x="6343650" y="298704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fr-FR" sz="1000" b="1" dirty="0" err="1">
                <a:solidFill>
                  <a:srgbClr val="FFFFFF"/>
                </a:solidFill>
              </a:rPr>
              <a:t>vessel_info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D1B76B-196D-47D5-B470-967908850D44}"/>
              </a:ext>
            </a:extLst>
          </p:cNvPr>
          <p:cNvSpPr>
            <a:spLocks noGrp="1"/>
          </p:cNvSpPr>
          <p:nvPr/>
        </p:nvSpPr>
        <p:spPr>
          <a:xfrm>
            <a:off x="6343650" y="3348990"/>
            <a:ext cx="502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An array of entries. Each entry represents one visible fact, one source link, or one GPS source.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5186490-0EED-4A19-A5D9-826E6A25651F}"/>
              </a:ext>
            </a:extLst>
          </p:cNvPr>
          <p:cNvSpPr>
            <a:spLocks noGrp="1"/>
          </p:cNvSpPr>
          <p:nvPr/>
        </p:nvSpPr>
        <p:spPr>
          <a:xfrm>
            <a:off x="6191250" y="3938778"/>
            <a:ext cx="5334000" cy="259537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A3D57D2-374D-4FE5-BCAE-669F46C09F80}"/>
              </a:ext>
            </a:extLst>
          </p:cNvPr>
          <p:cNvSpPr>
            <a:spLocks noGrp="1"/>
          </p:cNvSpPr>
          <p:nvPr/>
        </p:nvSpPr>
        <p:spPr>
          <a:xfrm>
            <a:off x="6343650" y="4091178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9925F8-7C9A-4BB9-9059-EE2F585D959D}"/>
              </a:ext>
            </a:extLst>
          </p:cNvPr>
          <p:cNvSpPr>
            <a:spLocks noGrp="1"/>
          </p:cNvSpPr>
          <p:nvPr/>
        </p:nvSpPr>
        <p:spPr>
          <a:xfrm>
            <a:off x="6343650" y="4091178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How to build 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F3F0E9-E505-4D37-9DBE-6597D7D894BD}"/>
              </a:ext>
            </a:extLst>
          </p:cNvPr>
          <p:cNvSpPr>
            <a:spLocks noGrp="1"/>
          </p:cNvSpPr>
          <p:nvPr/>
        </p:nvSpPr>
        <p:spPr>
          <a:xfrm>
            <a:off x="6343650" y="4434840"/>
            <a:ext cx="5029200" cy="20429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rPr sz="1200" b="0" dirty="0">
                <a:solidFill>
                  <a:srgbClr val="334155"/>
                </a:solidFill>
              </a:rPr>
              <a:t>Start with summary. </a:t>
            </a:r>
            <a:r>
              <a:rPr lang="fr-FR" sz="1200" dirty="0"/>
              <a:t>Then </a:t>
            </a:r>
            <a:r>
              <a:rPr lang="fr-FR" sz="1200" dirty="0" err="1"/>
              <a:t>fill</a:t>
            </a:r>
            <a:r>
              <a:rPr lang="fr-FR" sz="1200" dirty="0"/>
              <a:t> </a:t>
            </a:r>
            <a:r>
              <a:rPr lang="fr-FR" sz="1200" dirty="0" err="1"/>
              <a:t>vessel_info</a:t>
            </a:r>
            <a:r>
              <a:rPr lang="fr-FR" sz="1200" dirty="0"/>
              <a:t> </a:t>
            </a:r>
            <a:r>
              <a:rPr lang="fr-FR" sz="1200" dirty="0" err="1"/>
              <a:t>with</a:t>
            </a:r>
            <a:r>
              <a:rPr lang="fr-FR" sz="1200" dirty="0"/>
              <a:t> one </a:t>
            </a:r>
            <a:r>
              <a:rPr lang="fr-FR" sz="1200" dirty="0" err="1"/>
              <a:t>object</a:t>
            </a:r>
            <a:r>
              <a:rPr lang="fr-FR" sz="1200" dirty="0"/>
              <a:t> per </a:t>
            </a:r>
            <a:r>
              <a:rPr lang="fr-FR" sz="1200" dirty="0" err="1"/>
              <a:t>piece</a:t>
            </a:r>
            <a:r>
              <a:rPr lang="fr-FR" sz="1200" dirty="0"/>
              <a:t> of information </a:t>
            </a:r>
            <a:r>
              <a:rPr lang="fr-FR" sz="1200" dirty="0" err="1"/>
              <a:t>you</a:t>
            </a:r>
            <a:r>
              <a:rPr lang="fr-FR" sz="1200" dirty="0"/>
              <a:t> </a:t>
            </a:r>
            <a:r>
              <a:rPr lang="fr-FR" sz="1200" dirty="0" err="1"/>
              <a:t>want</a:t>
            </a:r>
            <a:r>
              <a:rPr lang="fr-FR" sz="1200" dirty="0"/>
              <a:t> to display on the </a:t>
            </a:r>
            <a:r>
              <a:rPr lang="fr-FR" sz="1200" dirty="0" err="1"/>
              <a:t>website</a:t>
            </a:r>
            <a:r>
              <a:rPr lang="fr-FR" sz="1200" dirty="0"/>
              <a:t>. </a:t>
            </a:r>
            <a:r>
              <a:rPr lang="fr-FR" sz="1200" dirty="0" err="1"/>
              <a:t>Each</a:t>
            </a:r>
            <a:r>
              <a:rPr lang="fr-FR" sz="1200" dirty="0"/>
              <a:t> </a:t>
            </a:r>
            <a:r>
              <a:rPr lang="fr-FR" sz="1200" dirty="0" err="1"/>
              <a:t>object</a:t>
            </a:r>
            <a:r>
              <a:rPr lang="fr-FR" sz="1200" dirty="0"/>
              <a:t> </a:t>
            </a:r>
            <a:r>
              <a:rPr lang="fr-FR" sz="1200" dirty="0" err="1"/>
              <a:t>should</a:t>
            </a:r>
            <a:r>
              <a:rPr lang="fr-FR" sz="1200" dirty="0"/>
              <a:t> </a:t>
            </a:r>
            <a:r>
              <a:rPr lang="fr-FR" sz="1200" dirty="0" err="1"/>
              <a:t>describe</a:t>
            </a:r>
            <a:r>
              <a:rPr lang="fr-FR" sz="1200" dirty="0"/>
              <a:t> one </a:t>
            </a:r>
            <a:r>
              <a:rPr lang="fr-FR" sz="1200" dirty="0" err="1"/>
              <a:t>fact</a:t>
            </a:r>
            <a:r>
              <a:rPr lang="fr-FR" sz="1200" dirty="0"/>
              <a:t> </a:t>
            </a:r>
            <a:r>
              <a:rPr lang="fr-FR" sz="1200" dirty="0" err="1"/>
              <a:t>only</a:t>
            </a:r>
            <a:r>
              <a:rPr lang="fr-FR" sz="1200" dirty="0"/>
              <a:t>, for </a:t>
            </a:r>
            <a:r>
              <a:rPr lang="fr-FR" sz="1200" dirty="0" err="1"/>
              <a:t>example</a:t>
            </a:r>
            <a:r>
              <a:rPr lang="fr-FR" sz="1200" dirty="0"/>
              <a:t> the </a:t>
            </a:r>
            <a:r>
              <a:rPr lang="fr-FR" sz="1200" dirty="0" err="1"/>
              <a:t>shipbuilder</a:t>
            </a:r>
            <a:r>
              <a:rPr lang="fr-FR" sz="1200" dirty="0"/>
              <a:t>, </a:t>
            </a:r>
            <a:r>
              <a:rPr lang="fr-FR" sz="1200" dirty="0" err="1"/>
              <a:t>owner</a:t>
            </a:r>
            <a:r>
              <a:rPr lang="fr-FR" sz="1200" dirty="0"/>
              <a:t>, </a:t>
            </a:r>
            <a:r>
              <a:rPr lang="fr-FR" sz="1200" dirty="0" err="1"/>
              <a:t>vessel</a:t>
            </a:r>
            <a:r>
              <a:rPr lang="fr-FR" sz="1200" dirty="0"/>
              <a:t> type, or a GPS source. In </a:t>
            </a:r>
            <a:r>
              <a:rPr lang="fr-FR" sz="1200" dirty="0" err="1"/>
              <a:t>that</a:t>
            </a:r>
            <a:r>
              <a:rPr lang="fr-FR" sz="1200" dirty="0"/>
              <a:t> </a:t>
            </a:r>
            <a:r>
              <a:rPr lang="fr-FR" sz="1200" dirty="0" err="1"/>
              <a:t>object</a:t>
            </a:r>
            <a:r>
              <a:rPr lang="fr-FR" sz="1200" dirty="0"/>
              <a:t>, Name </a:t>
            </a:r>
            <a:r>
              <a:rPr lang="fr-FR" sz="1200" dirty="0" err="1"/>
              <a:t>is</a:t>
            </a:r>
            <a:r>
              <a:rPr lang="fr-FR" sz="1200" dirty="0"/>
              <a:t> the label </a:t>
            </a:r>
            <a:r>
              <a:rPr lang="fr-FR" sz="1200" dirty="0" err="1"/>
              <a:t>shown</a:t>
            </a:r>
            <a:r>
              <a:rPr lang="fr-FR" sz="1200" dirty="0"/>
              <a:t> to the user, Value </a:t>
            </a:r>
            <a:r>
              <a:rPr lang="fr-FR" sz="1200" dirty="0" err="1"/>
              <a:t>is</a:t>
            </a:r>
            <a:r>
              <a:rPr lang="fr-FR" sz="1200" dirty="0"/>
              <a:t> the visible content, location </a:t>
            </a:r>
            <a:r>
              <a:rPr lang="fr-FR" sz="1200" dirty="0" err="1"/>
              <a:t>decides</a:t>
            </a:r>
            <a:r>
              <a:rPr lang="fr-FR" sz="1200" dirty="0"/>
              <a:t> in </a:t>
            </a:r>
            <a:r>
              <a:rPr lang="fr-FR" sz="1200" dirty="0" err="1"/>
              <a:t>which</a:t>
            </a:r>
            <a:r>
              <a:rPr lang="fr-FR" sz="1200" dirty="0"/>
              <a:t> </a:t>
            </a:r>
            <a:r>
              <a:rPr lang="fr-FR" sz="1200" dirty="0" err="1"/>
              <a:t>left-side</a:t>
            </a:r>
            <a:r>
              <a:rPr lang="fr-FR" sz="1200" dirty="0"/>
              <a:t> section or </a:t>
            </a:r>
            <a:r>
              <a:rPr lang="fr-FR" sz="1200" dirty="0" err="1"/>
              <a:t>accordion</a:t>
            </a:r>
            <a:r>
              <a:rPr lang="fr-FR" sz="1200" dirty="0"/>
              <a:t> the information </a:t>
            </a:r>
            <a:r>
              <a:rPr lang="fr-FR" sz="1200" dirty="0" err="1"/>
              <a:t>appears</a:t>
            </a:r>
            <a:r>
              <a:rPr lang="fr-FR" sz="1200" dirty="0"/>
              <a:t>, </a:t>
            </a:r>
            <a:r>
              <a:rPr lang="fr-FR" sz="1200" dirty="0" err="1"/>
              <a:t>DNV_path</a:t>
            </a:r>
            <a:r>
              <a:rPr lang="fr-FR" sz="1200" dirty="0"/>
              <a:t> places the </a:t>
            </a:r>
            <a:r>
              <a:rPr lang="fr-FR" sz="1200" dirty="0" err="1"/>
              <a:t>same</a:t>
            </a:r>
            <a:r>
              <a:rPr lang="fr-FR" sz="1200" dirty="0"/>
              <a:t> information in the DNV </a:t>
            </a:r>
            <a:r>
              <a:rPr lang="fr-FR" sz="1200" dirty="0" err="1"/>
              <a:t>tree</a:t>
            </a:r>
            <a:r>
              <a:rPr lang="fr-FR" sz="1200" dirty="0"/>
              <a:t> on the right if the </a:t>
            </a:r>
            <a:r>
              <a:rPr lang="fr-FR" sz="1200" dirty="0" err="1"/>
              <a:t>path</a:t>
            </a:r>
            <a:r>
              <a:rPr lang="fr-FR" sz="1200" dirty="0"/>
              <a:t> </a:t>
            </a:r>
            <a:r>
              <a:rPr lang="fr-FR" sz="1200" dirty="0" err="1"/>
              <a:t>is</a:t>
            </a:r>
            <a:r>
              <a:rPr lang="fr-FR" sz="1200" dirty="0"/>
              <a:t> </a:t>
            </a:r>
            <a:r>
              <a:rPr lang="fr-FR" sz="1200" dirty="0" err="1"/>
              <a:t>valid</a:t>
            </a:r>
            <a:r>
              <a:rPr lang="fr-FR" sz="1200" dirty="0"/>
              <a:t>, Link points to the </a:t>
            </a:r>
            <a:r>
              <a:rPr lang="fr-FR" sz="1200" dirty="0" err="1"/>
              <a:t>raw</a:t>
            </a:r>
            <a:r>
              <a:rPr lang="fr-FR" sz="1200" dirty="0"/>
              <a:t> source file </a:t>
            </a:r>
            <a:r>
              <a:rPr lang="fr-FR" sz="1200" dirty="0" err="1"/>
              <a:t>stored</a:t>
            </a:r>
            <a:r>
              <a:rPr lang="fr-FR" sz="1200" dirty="0"/>
              <a:t> in the </a:t>
            </a:r>
            <a:r>
              <a:rPr lang="fr-FR" sz="1200" dirty="0" err="1"/>
              <a:t>project</a:t>
            </a:r>
            <a:r>
              <a:rPr lang="fr-FR" sz="1200" dirty="0"/>
              <a:t> </a:t>
            </a:r>
            <a:r>
              <a:rPr lang="fr-FR" sz="1200" dirty="0" err="1"/>
              <a:t>so</a:t>
            </a:r>
            <a:r>
              <a:rPr lang="fr-FR" sz="1200" dirty="0"/>
              <a:t> the user can open or download </a:t>
            </a:r>
            <a:r>
              <a:rPr lang="fr-FR" sz="1200" dirty="0" err="1"/>
              <a:t>it</a:t>
            </a:r>
            <a:r>
              <a:rPr lang="fr-FR" sz="1200" dirty="0"/>
              <a:t>, and </a:t>
            </a:r>
            <a:r>
              <a:rPr lang="fr-FR" sz="1200" dirty="0" err="1"/>
              <a:t>source_context</a:t>
            </a:r>
            <a:r>
              <a:rPr lang="fr-FR" sz="1200" dirty="0"/>
              <a:t> </a:t>
            </a:r>
            <a:r>
              <a:rPr lang="fr-FR" sz="1200" dirty="0" err="1"/>
              <a:t>keeps</a:t>
            </a:r>
            <a:r>
              <a:rPr lang="fr-FR" sz="1200" dirty="0"/>
              <a:t> the </a:t>
            </a:r>
            <a:r>
              <a:rPr lang="fr-FR" sz="1200" dirty="0" err="1"/>
              <a:t>traceability</a:t>
            </a:r>
            <a:r>
              <a:rPr lang="fr-FR" sz="1200" dirty="0"/>
              <a:t> </a:t>
            </a:r>
            <a:r>
              <a:rPr lang="fr-FR" sz="1200" dirty="0" err="1"/>
              <a:t>details</a:t>
            </a:r>
            <a:r>
              <a:rPr lang="fr-FR" sz="1200" dirty="0"/>
              <a:t> about </a:t>
            </a:r>
            <a:r>
              <a:rPr lang="fr-FR" sz="1200" dirty="0" err="1"/>
              <a:t>where</a:t>
            </a:r>
            <a:r>
              <a:rPr lang="fr-FR" sz="1200" dirty="0"/>
              <a:t> the information came </a:t>
            </a:r>
            <a:r>
              <a:rPr lang="fr-FR" sz="1200" dirty="0" err="1"/>
              <a:t>from</a:t>
            </a:r>
            <a:r>
              <a:rPr lang="fr-FR" sz="1200" dirty="0"/>
              <a:t>. The </a:t>
            </a:r>
            <a:r>
              <a:rPr lang="fr-FR" sz="1200" dirty="0" err="1"/>
              <a:t>easiest</a:t>
            </a:r>
            <a:r>
              <a:rPr lang="fr-FR" sz="1200" dirty="0"/>
              <a:t> </a:t>
            </a:r>
            <a:r>
              <a:rPr lang="fr-FR" sz="1200" dirty="0" err="1"/>
              <a:t>method</a:t>
            </a:r>
            <a:r>
              <a:rPr lang="fr-FR" sz="1200" dirty="0"/>
              <a:t> </a:t>
            </a:r>
            <a:r>
              <a:rPr lang="fr-FR" sz="1200" dirty="0" err="1"/>
              <a:t>is</a:t>
            </a:r>
            <a:r>
              <a:rPr lang="fr-FR" sz="1200" dirty="0"/>
              <a:t> to start </a:t>
            </a:r>
            <a:r>
              <a:rPr lang="fr-FR" sz="1200" dirty="0" err="1"/>
              <a:t>with</a:t>
            </a:r>
            <a:r>
              <a:rPr lang="fr-FR" sz="1200" dirty="0"/>
              <a:t> one </a:t>
            </a:r>
            <a:r>
              <a:rPr lang="fr-FR" sz="1200" dirty="0" err="1"/>
              <a:t>working</a:t>
            </a:r>
            <a:r>
              <a:rPr lang="fr-FR" sz="1200" dirty="0"/>
              <a:t> entry, test </a:t>
            </a:r>
            <a:r>
              <a:rPr lang="fr-FR" sz="1200" dirty="0" err="1"/>
              <a:t>it</a:t>
            </a:r>
            <a:r>
              <a:rPr lang="fr-FR" sz="1200" dirty="0"/>
              <a:t> on the page, </a:t>
            </a:r>
            <a:r>
              <a:rPr lang="fr-FR" sz="1200" dirty="0" err="1"/>
              <a:t>then</a:t>
            </a:r>
            <a:r>
              <a:rPr lang="fr-FR" sz="1200" dirty="0"/>
              <a:t> </a:t>
            </a:r>
            <a:r>
              <a:rPr lang="fr-FR" sz="1200" dirty="0" err="1"/>
              <a:t>repeat</a:t>
            </a:r>
            <a:r>
              <a:rPr lang="fr-FR" sz="1200" dirty="0"/>
              <a:t> the </a:t>
            </a:r>
            <a:r>
              <a:rPr lang="fr-FR" sz="1200" dirty="0" err="1"/>
              <a:t>same</a:t>
            </a:r>
            <a:r>
              <a:rPr lang="fr-FR" sz="1200" dirty="0"/>
              <a:t> structure for </a:t>
            </a:r>
            <a:r>
              <a:rPr lang="fr-FR" sz="1200" dirty="0" err="1"/>
              <a:t>each</a:t>
            </a:r>
            <a:r>
              <a:rPr lang="fr-FR" sz="1200" dirty="0"/>
              <a:t> new </a:t>
            </a:r>
            <a:r>
              <a:rPr lang="fr-FR" sz="1200" dirty="0" err="1"/>
              <a:t>fact</a:t>
            </a:r>
            <a:r>
              <a:rPr lang="fr-FR" sz="1200" dirty="0"/>
              <a:t> </a:t>
            </a:r>
            <a:r>
              <a:rPr lang="fr-FR" sz="1200" dirty="0" err="1"/>
              <a:t>until</a:t>
            </a:r>
            <a:r>
              <a:rPr lang="fr-FR" sz="1200" dirty="0"/>
              <a:t> the </a:t>
            </a:r>
            <a:r>
              <a:rPr lang="fr-FR" sz="1200" dirty="0" err="1"/>
              <a:t>vessel</a:t>
            </a:r>
            <a:r>
              <a:rPr lang="fr-FR" sz="1200" dirty="0"/>
              <a:t> file </a:t>
            </a:r>
            <a:r>
              <a:rPr lang="fr-FR" sz="1200" dirty="0" err="1"/>
              <a:t>is</a:t>
            </a:r>
            <a:r>
              <a:rPr lang="fr-FR" sz="1200" dirty="0"/>
              <a:t> </a:t>
            </a:r>
            <a:r>
              <a:rPr lang="fr-FR" sz="1200" dirty="0" err="1"/>
              <a:t>complete</a:t>
            </a:r>
            <a:r>
              <a:rPr lang="fr-FR" sz="1200" dirty="0"/>
              <a:t>.</a:t>
            </a:r>
            <a:endParaRPr sz="1200" b="0" dirty="0">
              <a:solidFill>
                <a:srgbClr val="334155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C441B9-06E8-4B8C-A592-9D440846FB25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85CED8-2D7B-49D3-A06F-94C912821434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3892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B5A2D892-E2D1-4ACB-AD7A-E1AA5C590F3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B80C77-0A3B-4FD1-B6D9-8BC371178F14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166F63-9C6B-4176-BDA8-FF593413E5AF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Each vessel_info object needs only six useful fields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10CC7-D54E-494B-80A5-EC4201692ADD}"/>
              </a:ext>
            </a:extLst>
          </p:cNvPr>
          <p:cNvSpPr>
            <a:spLocks noGrp="1"/>
          </p:cNvSpPr>
          <p:nvPr/>
        </p:nvSpPr>
        <p:spPr>
          <a:xfrm>
            <a:off x="571500" y="1208532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This is the core JSON rule to remember when you create a new entry.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F9CA65F-923A-4A66-8B2B-C2FBC2CFCFFD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4400550" cy="4095750"/>
          </a:xfrm>
          <a:prstGeom prst="roundRect">
            <a:avLst>
              <a:gd name="adj" fmla="val 372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0DC2AB-B851-479D-A0D8-F05A6F7796E4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4057650" cy="3790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"Name": "shipbuilder",</a:t>
            </a:r>
          </a:p>
          <a:p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"Link": "../raw_DATA/ALMI ATLAS.pdf",</a:t>
            </a:r>
          </a:p>
          <a:p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"DNV_path": "/dnv-v2/vis-3-10a/.../G52/G52.1",</a:t>
            </a:r>
          </a:p>
          <a:p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"Value": "Hyundai Samho Heavy Industries Co. Ltd",</a:t>
            </a:r>
          </a:p>
          <a:p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"source_context": { ... },</a:t>
            </a:r>
          </a:p>
          <a:p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"location": "hull"</a:t>
            </a:r>
          </a:p>
          <a:p>
            <a:pPr algn="l"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21FD9F8-F23E-4BB5-ACAE-3B5F715F90BA}"/>
              </a:ext>
            </a:extLst>
          </p:cNvPr>
          <p:cNvSpPr>
            <a:spLocks noGrp="1"/>
          </p:cNvSpPr>
          <p:nvPr/>
        </p:nvSpPr>
        <p:spPr>
          <a:xfrm>
            <a:off x="5219700" y="1809750"/>
            <a:ext cx="30289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9472BA8-AA18-4DBA-AD70-1D20AC6583ED}"/>
              </a:ext>
            </a:extLst>
          </p:cNvPr>
          <p:cNvSpPr>
            <a:spLocks noGrp="1"/>
          </p:cNvSpPr>
          <p:nvPr/>
        </p:nvSpPr>
        <p:spPr>
          <a:xfrm>
            <a:off x="5372100" y="19621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C237F1-BEE2-4B4C-B603-2D3FA64B9938}"/>
              </a:ext>
            </a:extLst>
          </p:cNvPr>
          <p:cNvSpPr>
            <a:spLocks noGrp="1"/>
          </p:cNvSpPr>
          <p:nvPr/>
        </p:nvSpPr>
        <p:spPr>
          <a:xfrm>
            <a:off x="5372100" y="19621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6B8B3F-60A1-4782-A6B0-2C03E1E7A473}"/>
              </a:ext>
            </a:extLst>
          </p:cNvPr>
          <p:cNvSpPr>
            <a:spLocks noGrp="1"/>
          </p:cNvSpPr>
          <p:nvPr/>
        </p:nvSpPr>
        <p:spPr>
          <a:xfrm>
            <a:off x="5372100" y="2324100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Label shown in the left panel and in the green DNV tag.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703980B-D568-4148-A8FE-B99A4B094524}"/>
              </a:ext>
            </a:extLst>
          </p:cNvPr>
          <p:cNvSpPr>
            <a:spLocks noGrp="1"/>
          </p:cNvSpPr>
          <p:nvPr/>
        </p:nvSpPr>
        <p:spPr>
          <a:xfrm>
            <a:off x="8496300" y="1809750"/>
            <a:ext cx="30289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41515591-8D51-4057-96CA-FB101B05B93B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A679D4-F0D6-4DC3-9F21-20A9A3AFE19A}"/>
              </a:ext>
            </a:extLst>
          </p:cNvPr>
          <p:cNvSpPr>
            <a:spLocks noGrp="1"/>
          </p:cNvSpPr>
          <p:nvPr/>
        </p:nvSpPr>
        <p:spPr>
          <a:xfrm>
            <a:off x="8648700" y="19621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Link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1E40D4-3F9C-4F2C-BE25-D6ADB3FE6086}"/>
              </a:ext>
            </a:extLst>
          </p:cNvPr>
          <p:cNvSpPr>
            <a:spLocks noGrp="1"/>
          </p:cNvSpPr>
          <p:nvPr/>
        </p:nvSpPr>
        <p:spPr>
          <a:xfrm>
            <a:off x="8648700" y="2324100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Project file used as the source download.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4660FEE-EF16-456B-990B-37011BEB1D8D}"/>
              </a:ext>
            </a:extLst>
          </p:cNvPr>
          <p:cNvSpPr>
            <a:spLocks noGrp="1"/>
          </p:cNvSpPr>
          <p:nvPr/>
        </p:nvSpPr>
        <p:spPr>
          <a:xfrm>
            <a:off x="5219700" y="3200400"/>
            <a:ext cx="30289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1B939BD-128B-44EA-995D-042447E94A5C}"/>
              </a:ext>
            </a:extLst>
          </p:cNvPr>
          <p:cNvSpPr>
            <a:spLocks noGrp="1"/>
          </p:cNvSpPr>
          <p:nvPr/>
        </p:nvSpPr>
        <p:spPr>
          <a:xfrm>
            <a:off x="5372100" y="33528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FC9BB2-B532-479E-A105-EF04791E7788}"/>
              </a:ext>
            </a:extLst>
          </p:cNvPr>
          <p:cNvSpPr>
            <a:spLocks noGrp="1"/>
          </p:cNvSpPr>
          <p:nvPr/>
        </p:nvSpPr>
        <p:spPr>
          <a:xfrm>
            <a:off x="5372100" y="33528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DNV_path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7D6126-96B4-4016-A65D-D7E8995637D9}"/>
              </a:ext>
            </a:extLst>
          </p:cNvPr>
          <p:cNvSpPr>
            <a:spLocks noGrp="1"/>
          </p:cNvSpPr>
          <p:nvPr/>
        </p:nvSpPr>
        <p:spPr>
          <a:xfrm>
            <a:off x="5372100" y="3714750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Exact DNV node used on the right side.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7160FCC-582A-40D9-99C9-0522CEDFF363}"/>
              </a:ext>
            </a:extLst>
          </p:cNvPr>
          <p:cNvSpPr>
            <a:spLocks noGrp="1"/>
          </p:cNvSpPr>
          <p:nvPr/>
        </p:nvSpPr>
        <p:spPr>
          <a:xfrm>
            <a:off x="8496300" y="3200400"/>
            <a:ext cx="30289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9DE268D-1196-48DD-9FD6-F62CCC3528F0}"/>
              </a:ext>
            </a:extLst>
          </p:cNvPr>
          <p:cNvSpPr>
            <a:spLocks noGrp="1"/>
          </p:cNvSpPr>
          <p:nvPr/>
        </p:nvSpPr>
        <p:spPr>
          <a:xfrm>
            <a:off x="8648700" y="33528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D07DB-884D-4FC8-BE37-A51E15901D13}"/>
              </a:ext>
            </a:extLst>
          </p:cNvPr>
          <p:cNvSpPr>
            <a:spLocks noGrp="1"/>
          </p:cNvSpPr>
          <p:nvPr/>
        </p:nvSpPr>
        <p:spPr>
          <a:xfrm>
            <a:off x="8648700" y="33528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71BBDC-80E6-4F49-9403-EBDFFECF7461}"/>
              </a:ext>
            </a:extLst>
          </p:cNvPr>
          <p:cNvSpPr>
            <a:spLocks noGrp="1"/>
          </p:cNvSpPr>
          <p:nvPr/>
        </p:nvSpPr>
        <p:spPr>
          <a:xfrm>
            <a:off x="8648700" y="3714750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Visible value shown to the user.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2AC4A91-BF9A-4EB2-AC44-FA48764F04BD}"/>
              </a:ext>
            </a:extLst>
          </p:cNvPr>
          <p:cNvSpPr>
            <a:spLocks noGrp="1"/>
          </p:cNvSpPr>
          <p:nvPr/>
        </p:nvSpPr>
        <p:spPr>
          <a:xfrm>
            <a:off x="5219700" y="4591050"/>
            <a:ext cx="30289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46774BE-0A51-4165-9906-896D2C42F6E6}"/>
              </a:ext>
            </a:extLst>
          </p:cNvPr>
          <p:cNvSpPr>
            <a:spLocks noGrp="1"/>
          </p:cNvSpPr>
          <p:nvPr/>
        </p:nvSpPr>
        <p:spPr>
          <a:xfrm>
            <a:off x="5372100" y="47434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522A09-6D50-45C1-AFE2-FD1662BDD06E}"/>
              </a:ext>
            </a:extLst>
          </p:cNvPr>
          <p:cNvSpPr>
            <a:spLocks noGrp="1"/>
          </p:cNvSpPr>
          <p:nvPr/>
        </p:nvSpPr>
        <p:spPr>
          <a:xfrm>
            <a:off x="5372100" y="47434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87DD3E-4D89-4302-80AE-57F0A12558E7}"/>
              </a:ext>
            </a:extLst>
          </p:cNvPr>
          <p:cNvSpPr>
            <a:spLocks noGrp="1"/>
          </p:cNvSpPr>
          <p:nvPr/>
        </p:nvSpPr>
        <p:spPr>
          <a:xfrm>
            <a:off x="5372100" y="5105400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Left-panel accordion group. Example: hull, engine, crane.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CFF091F-84CA-4E18-BFE9-83C4AD7752AD}"/>
              </a:ext>
            </a:extLst>
          </p:cNvPr>
          <p:cNvSpPr>
            <a:spLocks noGrp="1"/>
          </p:cNvSpPr>
          <p:nvPr/>
        </p:nvSpPr>
        <p:spPr>
          <a:xfrm>
            <a:off x="8496300" y="4591050"/>
            <a:ext cx="30289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FFC85549-1030-459D-81BC-83B017FD86F0}"/>
              </a:ext>
            </a:extLst>
          </p:cNvPr>
          <p:cNvSpPr>
            <a:spLocks noGrp="1"/>
          </p:cNvSpPr>
          <p:nvPr/>
        </p:nvSpPr>
        <p:spPr>
          <a:xfrm>
            <a:off x="8648700" y="47434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A7BFF7-0E86-40D9-93A6-CD4AF93D4EA7}"/>
              </a:ext>
            </a:extLst>
          </p:cNvPr>
          <p:cNvSpPr>
            <a:spLocks noGrp="1"/>
          </p:cNvSpPr>
          <p:nvPr/>
        </p:nvSpPr>
        <p:spPr>
          <a:xfrm>
            <a:off x="8648700" y="47434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7024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source_context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9B4514-2D03-4EBD-8189-1A0898A4B1C1}"/>
              </a:ext>
            </a:extLst>
          </p:cNvPr>
          <p:cNvSpPr>
            <a:spLocks noGrp="1"/>
          </p:cNvSpPr>
          <p:nvPr/>
        </p:nvSpPr>
        <p:spPr>
          <a:xfrm>
            <a:off x="8648700" y="5105400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Traceability metadata kept for maintenance and later updates.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2B96A6-0D1F-4C88-8BC0-EF840DBADB32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34CAA0-FCA5-4EC9-9CBE-E43666E3AC88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92879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4035DF2B-98AB-4134-B888-5523BCC5FD9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22C313-CF55-47D8-AA32-569110699F0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E743C9-C094-4CD6-8AC2-97082B27D559}"/>
              </a:ext>
            </a:extLst>
          </p:cNvPr>
          <p:cNvSpPr>
            <a:spLocks noGrp="1"/>
          </p:cNvSpPr>
          <p:nvPr/>
        </p:nvSpPr>
        <p:spPr>
          <a:xfrm>
            <a:off x="571500" y="798576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Write the JSON one entry at a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0D91B1-CBF9-44DF-9CE1-B2716F074B78}"/>
              </a:ext>
            </a:extLst>
          </p:cNvPr>
          <p:cNvSpPr>
            <a:spLocks noGrp="1"/>
          </p:cNvSpPr>
          <p:nvPr/>
        </p:nvSpPr>
        <p:spPr>
          <a:xfrm>
            <a:off x="571500" y="1217676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The easiest method is to build the file from small repeated objects.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076DC41-AD62-4E6A-BE8C-3DE6F1EB8447}"/>
              </a:ext>
            </a:extLst>
          </p:cNvPr>
          <p:cNvSpPr>
            <a:spLocks noGrp="1"/>
          </p:cNvSpPr>
          <p:nvPr/>
        </p:nvSpPr>
        <p:spPr>
          <a:xfrm>
            <a:off x="571500" y="1981200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1A93580-A011-4A85-99A5-A8A86B92F566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342900" cy="342900"/>
          </a:xfrm>
          <a:prstGeom prst="ellipse">
            <a:avLst/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4FB97-6F5E-4FAD-9FAA-4B2ED8BF0368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71110A-C261-4409-9A44-9AF8B9116321}"/>
              </a:ext>
            </a:extLst>
          </p:cNvPr>
          <p:cNvSpPr>
            <a:spLocks noGrp="1"/>
          </p:cNvSpPr>
          <p:nvPr/>
        </p:nvSpPr>
        <p:spPr>
          <a:xfrm>
            <a:off x="1181100" y="21526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Pick one fact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343F27-DADA-49F4-9707-E6A09E390172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Example: shipbuilder, owner, vessel type, or a GPS source.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BAF86A3E-21B7-4676-AA69-4DC1751F72D3}"/>
              </a:ext>
            </a:extLst>
          </p:cNvPr>
          <p:cNvSpPr>
            <a:spLocks noGrp="1"/>
          </p:cNvSpPr>
          <p:nvPr/>
        </p:nvSpPr>
        <p:spPr>
          <a:xfrm>
            <a:off x="4381500" y="1981200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3B321CF-8C3C-4D78-B87E-126658C43FD4}"/>
              </a:ext>
            </a:extLst>
          </p:cNvPr>
          <p:cNvSpPr>
            <a:spLocks noGrp="1"/>
          </p:cNvSpPr>
          <p:nvPr/>
        </p:nvSpPr>
        <p:spPr>
          <a:xfrm>
            <a:off x="4552950" y="2152650"/>
            <a:ext cx="342900" cy="342900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11382B-8F5F-4111-9FA8-74A28C39E556}"/>
              </a:ext>
            </a:extLst>
          </p:cNvPr>
          <p:cNvSpPr>
            <a:spLocks noGrp="1"/>
          </p:cNvSpPr>
          <p:nvPr/>
        </p:nvSpPr>
        <p:spPr>
          <a:xfrm>
            <a:off x="4552950" y="21526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8E8416-9070-4806-9791-DB16A805F55A}"/>
              </a:ext>
            </a:extLst>
          </p:cNvPr>
          <p:cNvSpPr>
            <a:spLocks noGrp="1"/>
          </p:cNvSpPr>
          <p:nvPr/>
        </p:nvSpPr>
        <p:spPr>
          <a:xfrm>
            <a:off x="4991100" y="21526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Give it a visible value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5B5A13-54AC-4365-BC95-905F103894CE}"/>
              </a:ext>
            </a:extLst>
          </p:cNvPr>
          <p:cNvSpPr>
            <a:spLocks noGrp="1"/>
          </p:cNvSpPr>
          <p:nvPr/>
        </p:nvSpPr>
        <p:spPr>
          <a:xfrm>
            <a:off x="4552950" y="2609850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Write Name, Value, and location so the left panel can display it clearly.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E0A2A44-3AD6-413F-BDB7-977121ED6B3B}"/>
              </a:ext>
            </a:extLst>
          </p:cNvPr>
          <p:cNvSpPr>
            <a:spLocks noGrp="1"/>
          </p:cNvSpPr>
          <p:nvPr/>
        </p:nvSpPr>
        <p:spPr>
          <a:xfrm>
            <a:off x="8191500" y="1981200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77ADE5F-E903-4D77-81F6-47AA3ECF336A}"/>
              </a:ext>
            </a:extLst>
          </p:cNvPr>
          <p:cNvSpPr>
            <a:spLocks noGrp="1"/>
          </p:cNvSpPr>
          <p:nvPr/>
        </p:nvSpPr>
        <p:spPr>
          <a:xfrm>
            <a:off x="8362950" y="2152650"/>
            <a:ext cx="342900" cy="342900"/>
          </a:xfrm>
          <a:prstGeom prst="ellipse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306160-622F-474B-9E67-D315C407C071}"/>
              </a:ext>
            </a:extLst>
          </p:cNvPr>
          <p:cNvSpPr>
            <a:spLocks noGrp="1"/>
          </p:cNvSpPr>
          <p:nvPr/>
        </p:nvSpPr>
        <p:spPr>
          <a:xfrm>
            <a:off x="8362950" y="21526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3B0EC7-7A00-44A6-B40B-7F6215206BA9}"/>
              </a:ext>
            </a:extLst>
          </p:cNvPr>
          <p:cNvSpPr>
            <a:spLocks noGrp="1"/>
          </p:cNvSpPr>
          <p:nvPr/>
        </p:nvSpPr>
        <p:spPr>
          <a:xfrm>
            <a:off x="8801100" y="21526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Attach the 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2E5D6E-3DBF-4DF7-9E0E-BCE20692E74F}"/>
              </a:ext>
            </a:extLst>
          </p:cNvPr>
          <p:cNvSpPr>
            <a:spLocks noGrp="1"/>
          </p:cNvSpPr>
          <p:nvPr/>
        </p:nvSpPr>
        <p:spPr>
          <a:xfrm>
            <a:off x="8362950" y="2609850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Write Link so the green tag can open or download the correct raw file.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8D95492-9184-48CB-BDA0-8C916CC75E79}"/>
              </a:ext>
            </a:extLst>
          </p:cNvPr>
          <p:cNvSpPr>
            <a:spLocks noGrp="1"/>
          </p:cNvSpPr>
          <p:nvPr/>
        </p:nvSpPr>
        <p:spPr>
          <a:xfrm>
            <a:off x="571500" y="3848100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74D1DA7-F799-4BA3-A12F-391509C1CF8E}"/>
              </a:ext>
            </a:extLst>
          </p:cNvPr>
          <p:cNvSpPr>
            <a:spLocks noGrp="1"/>
          </p:cNvSpPr>
          <p:nvPr/>
        </p:nvSpPr>
        <p:spPr>
          <a:xfrm>
            <a:off x="742950" y="4019550"/>
            <a:ext cx="342900" cy="342900"/>
          </a:xfrm>
          <a:prstGeom prst="ellipse">
            <a:avLst/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99B9C2-6C9F-4379-871C-BB1C7B996A3F}"/>
              </a:ext>
            </a:extLst>
          </p:cNvPr>
          <p:cNvSpPr>
            <a:spLocks noGrp="1"/>
          </p:cNvSpPr>
          <p:nvPr/>
        </p:nvSpPr>
        <p:spPr>
          <a:xfrm>
            <a:off x="742950" y="40195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7FA2BA-4878-4134-A64F-672CC11A59EE}"/>
              </a:ext>
            </a:extLst>
          </p:cNvPr>
          <p:cNvSpPr>
            <a:spLocks noGrp="1"/>
          </p:cNvSpPr>
          <p:nvPr/>
        </p:nvSpPr>
        <p:spPr>
          <a:xfrm>
            <a:off x="1181100" y="40195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Place it in DNV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17522E-B786-4F1A-89C1-BD62DE49EE35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Write DNV_path only if you know the exact valid DNV node.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FAFF1DC-AA7C-48F3-B98C-A94CB78BD5AD}"/>
              </a:ext>
            </a:extLst>
          </p:cNvPr>
          <p:cNvSpPr>
            <a:spLocks noGrp="1"/>
          </p:cNvSpPr>
          <p:nvPr/>
        </p:nvSpPr>
        <p:spPr>
          <a:xfrm>
            <a:off x="4381500" y="3848100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FA3EC82-1AFB-4E66-A646-FCE483824EC6}"/>
              </a:ext>
            </a:extLst>
          </p:cNvPr>
          <p:cNvSpPr>
            <a:spLocks noGrp="1"/>
          </p:cNvSpPr>
          <p:nvPr/>
        </p:nvSpPr>
        <p:spPr>
          <a:xfrm>
            <a:off x="4552950" y="4019550"/>
            <a:ext cx="342900" cy="342900"/>
          </a:xfrm>
          <a:prstGeom prst="ellipse">
            <a:avLst/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4E5C79-73D2-441B-94E2-66EFB8DBE823}"/>
              </a:ext>
            </a:extLst>
          </p:cNvPr>
          <p:cNvSpPr>
            <a:spLocks noGrp="1"/>
          </p:cNvSpPr>
          <p:nvPr/>
        </p:nvSpPr>
        <p:spPr>
          <a:xfrm>
            <a:off x="4552950" y="40195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F8CF53-5A9C-404B-A092-AB1824700333}"/>
              </a:ext>
            </a:extLst>
          </p:cNvPr>
          <p:cNvSpPr>
            <a:spLocks noGrp="1"/>
          </p:cNvSpPr>
          <p:nvPr/>
        </p:nvSpPr>
        <p:spPr>
          <a:xfrm>
            <a:off x="4991100" y="40195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Keep the context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195142-BCE6-4687-981F-4E7F4515816E}"/>
              </a:ext>
            </a:extLst>
          </p:cNvPr>
          <p:cNvSpPr>
            <a:spLocks noGrp="1"/>
          </p:cNvSpPr>
          <p:nvPr/>
        </p:nvSpPr>
        <p:spPr>
          <a:xfrm>
            <a:off x="4552950" y="4476750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Store source_context so the origin of the information stays clear.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5BADFD74-FD2C-4C97-926F-45B5D0392624}"/>
              </a:ext>
            </a:extLst>
          </p:cNvPr>
          <p:cNvSpPr>
            <a:spLocks noGrp="1"/>
          </p:cNvSpPr>
          <p:nvPr/>
        </p:nvSpPr>
        <p:spPr>
          <a:xfrm>
            <a:off x="8191500" y="3848100"/>
            <a:ext cx="34290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6BC71767-F967-4ABA-84CC-CE58F8DD2BAB}"/>
              </a:ext>
            </a:extLst>
          </p:cNvPr>
          <p:cNvSpPr>
            <a:spLocks noGrp="1"/>
          </p:cNvSpPr>
          <p:nvPr/>
        </p:nvSpPr>
        <p:spPr>
          <a:xfrm>
            <a:off x="8362950" y="4019550"/>
            <a:ext cx="342900" cy="342900"/>
          </a:xfrm>
          <a:prstGeom prst="ellipse">
            <a:avLst/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F8AD95-FDEE-42DB-8C12-1DE0E4950012}"/>
              </a:ext>
            </a:extLst>
          </p:cNvPr>
          <p:cNvSpPr>
            <a:spLocks noGrp="1"/>
          </p:cNvSpPr>
          <p:nvPr/>
        </p:nvSpPr>
        <p:spPr>
          <a:xfrm>
            <a:off x="8362950" y="40195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D0E274-3105-463E-8FC1-962083AF08E8}"/>
              </a:ext>
            </a:extLst>
          </p:cNvPr>
          <p:cNvSpPr>
            <a:spLocks noGrp="1"/>
          </p:cNvSpPr>
          <p:nvPr/>
        </p:nvSpPr>
        <p:spPr>
          <a:xfrm>
            <a:off x="8801100" y="4019550"/>
            <a:ext cx="2647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778" lnSpcReduction="10000"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Repeat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0CDEDC-B58A-42AE-B069-825FEAC1C3D6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3086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Add another object for the next fact until the vessel file is complete.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DBAAD7DA-D200-44A2-B613-79E6CF83DEC3}"/>
              </a:ext>
            </a:extLst>
          </p:cNvPr>
          <p:cNvSpPr>
            <a:spLocks noGrp="1"/>
          </p:cNvSpPr>
          <p:nvPr/>
        </p:nvSpPr>
        <p:spPr>
          <a:xfrm>
            <a:off x="1435608" y="5868543"/>
            <a:ext cx="9400032" cy="381000"/>
          </a:xfrm>
          <a:prstGeom prst="roundRect">
            <a:avLst>
              <a:gd name="adj" fmla="val 26667"/>
            </a:avLst>
          </a:prstGeom>
          <a:solidFill>
            <a:srgbClr val="EBFBF1"/>
          </a:solidFill>
          <a:ln w="9525">
            <a:solidFill>
              <a:srgbClr val="A7F3D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09DF9D-037F-4CFA-8E08-C2A79D9F4A4C}"/>
              </a:ext>
            </a:extLst>
          </p:cNvPr>
          <p:cNvSpPr>
            <a:spLocks noGrp="1"/>
          </p:cNvSpPr>
          <p:nvPr/>
        </p:nvSpPr>
        <p:spPr>
          <a:xfrm>
            <a:off x="1281684" y="6001893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55119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165B12C-1505-4A12-AB2A-2B2385DF3CB5}"/>
              </a:ext>
            </a:extLst>
          </p:cNvPr>
          <p:cNvSpPr>
            <a:spLocks noGrp="1"/>
          </p:cNvSpPr>
          <p:nvPr/>
        </p:nvSpPr>
        <p:spPr>
          <a:xfrm>
            <a:off x="1712976" y="5981700"/>
            <a:ext cx="10134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rPr sz="1200" b="0" dirty="0">
                <a:solidFill>
                  <a:srgbClr val="1E293B"/>
                </a:solidFill>
              </a:rPr>
              <a:t>Good habit: test the JSON after a few entries instead of writing everything at once. It is easier to catch wrong paths and wrong DNV nodes early.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E76F87A-51F3-4FE2-9AAD-15D355F756BE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D05F55-2195-4647-A951-BD72FB96D221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43445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7CF1615-A59F-4B5C-9BD8-9DA06577BFF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9CF953-FECC-4D50-BD07-A2497EA5C224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7CB121-C310-4A9A-8C9A-787D018EDC04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Link decides which source file opens when a user clicks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F10C05-A14B-4AD2-A587-8E5670D02CFD}"/>
              </a:ext>
            </a:extLst>
          </p:cNvPr>
          <p:cNvSpPr>
            <a:spLocks noGrp="1"/>
          </p:cNvSpPr>
          <p:nvPr/>
        </p:nvSpPr>
        <p:spPr>
          <a:xfrm>
            <a:off x="571500" y="11811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The right-side green DNV tag and the source list both come from Link.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6C9719BC-2315-4F21-88E5-C6168A2E568A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4476750" cy="2838450"/>
          </a:xfrm>
          <a:prstGeom prst="roundRect">
            <a:avLst>
              <a:gd name="adj" fmla="val 5369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43F841-9D43-49EE-9725-53F8BFA82A5D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41338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Single source</a:t>
            </a:r>
          </a:p>
          <a:p>
            <a:pPr algn="l"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"Link": "../raw_DATA/ALMI ATLAS.pdf"</a:t>
            </a:r>
          </a:p>
          <a:p>
            <a:endParaRPr sz="1425" b="0">
              <a:solidFill>
                <a:srgbClr val="E2E8F0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Multiple sources</a:t>
            </a:r>
          </a:p>
          <a:p>
            <a:pPr algn="l"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"Link": "../raw_DATA/source_a.pdf ; ../raw_DATA/source_b.json ; ../raw_DATA/source_c.csv"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B22FA83-EEE8-477E-9A4A-A9182AB461AA}"/>
              </a:ext>
            </a:extLst>
          </p:cNvPr>
          <p:cNvSpPr>
            <a:spLocks noGrp="1"/>
          </p:cNvSpPr>
          <p:nvPr/>
        </p:nvSpPr>
        <p:spPr>
          <a:xfrm>
            <a:off x="5334000" y="1790700"/>
            <a:ext cx="295275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56EA5A7-0679-457B-8AD9-4707822412F8}"/>
              </a:ext>
            </a:extLst>
          </p:cNvPr>
          <p:cNvSpPr>
            <a:spLocks noGrp="1"/>
          </p:cNvSpPr>
          <p:nvPr/>
        </p:nvSpPr>
        <p:spPr>
          <a:xfrm>
            <a:off x="5486400" y="19431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916747-2B6D-44D3-A528-38B067A2324E}"/>
              </a:ext>
            </a:extLst>
          </p:cNvPr>
          <p:cNvSpPr>
            <a:spLocks noGrp="1"/>
          </p:cNvSpPr>
          <p:nvPr/>
        </p:nvSpPr>
        <p:spPr>
          <a:xfrm>
            <a:off x="5486400" y="19431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FFFFFF"/>
                </a:solidFill>
              </a:rPr>
              <a:t>Single source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F57DBB-5653-451D-84FA-776E0036E041}"/>
              </a:ext>
            </a:extLst>
          </p:cNvPr>
          <p:cNvSpPr>
            <a:spLocks noGrp="1"/>
          </p:cNvSpPr>
          <p:nvPr/>
        </p:nvSpPr>
        <p:spPr>
          <a:xfrm>
            <a:off x="5486400" y="2305050"/>
            <a:ext cx="2647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click opens or downloads that one raw file directly.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4B4DC8A-0836-41C7-B6D1-03AB771FBAC5}"/>
              </a:ext>
            </a:extLst>
          </p:cNvPr>
          <p:cNvSpPr>
            <a:spLocks noGrp="1"/>
          </p:cNvSpPr>
          <p:nvPr/>
        </p:nvSpPr>
        <p:spPr>
          <a:xfrm>
            <a:off x="8572500" y="1790700"/>
            <a:ext cx="2952750" cy="12573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24DAE93-099E-4836-BFC5-AC3FF98CCC08}"/>
              </a:ext>
            </a:extLst>
          </p:cNvPr>
          <p:cNvSpPr>
            <a:spLocks noGrp="1"/>
          </p:cNvSpPr>
          <p:nvPr/>
        </p:nvSpPr>
        <p:spPr>
          <a:xfrm>
            <a:off x="8724900" y="19431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CDCFDF-8B55-4AB6-A0B2-6D2C5C202050}"/>
              </a:ext>
            </a:extLst>
          </p:cNvPr>
          <p:cNvSpPr>
            <a:spLocks noGrp="1"/>
          </p:cNvSpPr>
          <p:nvPr/>
        </p:nvSpPr>
        <p:spPr>
          <a:xfrm>
            <a:off x="8724900" y="19431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FFFFFF"/>
                </a:solidFill>
              </a:rPr>
              <a:t>Multiple sources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62E5A7-39EE-43CB-AC33-51CE49CE50D6}"/>
              </a:ext>
            </a:extLst>
          </p:cNvPr>
          <p:cNvSpPr>
            <a:spLocks noGrp="1"/>
          </p:cNvSpPr>
          <p:nvPr/>
        </p:nvSpPr>
        <p:spPr>
          <a:xfrm>
            <a:off x="8724900" y="2305050"/>
            <a:ext cx="2647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The site shows one green tag. Clicking it opens a small list of the available source files.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47062A7-9427-41BA-BF2A-967F333C9B64}"/>
              </a:ext>
            </a:extLst>
          </p:cNvPr>
          <p:cNvSpPr>
            <a:spLocks noGrp="1"/>
          </p:cNvSpPr>
          <p:nvPr/>
        </p:nvSpPr>
        <p:spPr>
          <a:xfrm>
            <a:off x="5334000" y="3257550"/>
            <a:ext cx="619125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FDBABC4-539A-4B76-A2FF-AC3F9581A306}"/>
              </a:ext>
            </a:extLst>
          </p:cNvPr>
          <p:cNvSpPr>
            <a:spLocks noGrp="1"/>
          </p:cNvSpPr>
          <p:nvPr/>
        </p:nvSpPr>
        <p:spPr>
          <a:xfrm>
            <a:off x="5486400" y="34099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2F6EE0-69E0-4D4E-BEBB-A86944C0168D}"/>
              </a:ext>
            </a:extLst>
          </p:cNvPr>
          <p:cNvSpPr>
            <a:spLocks noGrp="1"/>
          </p:cNvSpPr>
          <p:nvPr/>
        </p:nvSpPr>
        <p:spPr>
          <a:xfrm>
            <a:off x="5486400" y="34099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FFFFFF"/>
                </a:solidFill>
              </a:rPr>
              <a:t>Writing rule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A72D54-E077-47EA-A9D4-7B256C9FBB9F}"/>
              </a:ext>
            </a:extLst>
          </p:cNvPr>
          <p:cNvSpPr>
            <a:spLocks noGrp="1"/>
          </p:cNvSpPr>
          <p:nvPr/>
        </p:nvSpPr>
        <p:spPr>
          <a:xfrm>
            <a:off x="5486400" y="3771900"/>
            <a:ext cx="588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391" lnSpcReduction="10000"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Separate multiple paths with a semicolon. Keep every path relative to the JSON file so the project stays portable.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8EC32C0-0F39-4EC2-B9E0-33C7AF85C38A}"/>
              </a:ext>
            </a:extLst>
          </p:cNvPr>
          <p:cNvSpPr>
            <a:spLocks noGrp="1"/>
          </p:cNvSpPr>
          <p:nvPr/>
        </p:nvSpPr>
        <p:spPr>
          <a:xfrm>
            <a:off x="5334000" y="4438650"/>
            <a:ext cx="619125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2B832B34-129F-409F-8063-7F442F9DA838}"/>
              </a:ext>
            </a:extLst>
          </p:cNvPr>
          <p:cNvSpPr>
            <a:spLocks noGrp="1"/>
          </p:cNvSpPr>
          <p:nvPr/>
        </p:nvSpPr>
        <p:spPr>
          <a:xfrm>
            <a:off x="5486400" y="45910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09C6F9-30F1-4DB4-893D-366F284527AC}"/>
              </a:ext>
            </a:extLst>
          </p:cNvPr>
          <p:cNvSpPr>
            <a:spLocks noGrp="1"/>
          </p:cNvSpPr>
          <p:nvPr/>
        </p:nvSpPr>
        <p:spPr>
          <a:xfrm>
            <a:off x="5486400" y="45910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FFFFFF"/>
                </a:solidFill>
              </a:rPr>
              <a:t>GPS case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8BCB9D-03AC-4A74-9A44-C44901BC261A}"/>
              </a:ext>
            </a:extLst>
          </p:cNvPr>
          <p:cNvSpPr>
            <a:spLocks noGrp="1"/>
          </p:cNvSpPr>
          <p:nvPr/>
        </p:nvSpPr>
        <p:spPr>
          <a:xfrm>
            <a:off x="5486400" y="4953000"/>
            <a:ext cx="5886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784"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If Link points to a raw GPS JSON file, the map script can fetch it and draw the route automatically.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CEFDA1-66D5-4D1C-ADF6-AE5347C3DB8A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95677B-8CBC-499C-A063-54E8814979B7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1239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632CCF5-8DD9-45C1-B944-8E9FB7AF9785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596445-8715-4F87-BAA7-753D327F4124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B2C93-F1A3-4330-93DD-98A1F4870E1C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DNV_path controls the right side and location controls the left side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7EAF97-FA5C-47B0-87FC-DCB7A037B1D4}"/>
              </a:ext>
            </a:extLst>
          </p:cNvPr>
          <p:cNvSpPr>
            <a:spLocks noGrp="1"/>
          </p:cNvSpPr>
          <p:nvPr/>
        </p:nvSpPr>
        <p:spPr>
          <a:xfrm>
            <a:off x="571500" y="1235964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These two fields connect one JSON object to both parts of the page.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A819926-948A-4865-8E6F-6DFBAD5E4688}"/>
              </a:ext>
            </a:extLst>
          </p:cNvPr>
          <p:cNvSpPr>
            <a:spLocks noGrp="1"/>
          </p:cNvSpPr>
          <p:nvPr/>
        </p:nvSpPr>
        <p:spPr>
          <a:xfrm>
            <a:off x="571500" y="1973580"/>
            <a:ext cx="723900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3"/>
          <a:srcRect t="6292" b="6292"/>
          <a:stretch>
            <a:fillRect/>
          </a:stretch>
        </p:blipFill>
        <p:spPr>
          <a:xfrm>
            <a:off x="742950" y="2145030"/>
            <a:ext cx="6896100" cy="3390900"/>
          </a:xfrm>
          <a:prstGeom prst="roundRect">
            <a:avLst>
              <a:gd name="adj" fmla="val 4494"/>
            </a:avLst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7F68AD6-2AAE-4526-BDB9-7FB6824AB04A}"/>
              </a:ext>
            </a:extLst>
          </p:cNvPr>
          <p:cNvSpPr>
            <a:spLocks noGrp="1"/>
          </p:cNvSpPr>
          <p:nvPr/>
        </p:nvSpPr>
        <p:spPr>
          <a:xfrm>
            <a:off x="8096250" y="1790700"/>
            <a:ext cx="34290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E21E4F4-12E6-47C4-98DC-CEB6BEB7D4BF}"/>
              </a:ext>
            </a:extLst>
          </p:cNvPr>
          <p:cNvSpPr>
            <a:spLocks noGrp="1"/>
          </p:cNvSpPr>
          <p:nvPr/>
        </p:nvSpPr>
        <p:spPr>
          <a:xfrm>
            <a:off x="8248650" y="19431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76EDB-78DB-4BA2-894B-A21024DCBF12}"/>
              </a:ext>
            </a:extLst>
          </p:cNvPr>
          <p:cNvSpPr>
            <a:spLocks noGrp="1"/>
          </p:cNvSpPr>
          <p:nvPr/>
        </p:nvSpPr>
        <p:spPr>
          <a:xfrm>
            <a:off x="8248650" y="19431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BCBCCD-C76D-4EEF-86BE-DFC1AC4331E3}"/>
              </a:ext>
            </a:extLst>
          </p:cNvPr>
          <p:cNvSpPr>
            <a:spLocks noGrp="1"/>
          </p:cNvSpPr>
          <p:nvPr/>
        </p:nvSpPr>
        <p:spPr>
          <a:xfrm>
            <a:off x="8248650" y="2305050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734" lnSpcReduction="20000"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Groups the entry in the left accordion. Example: hull, engine, crane, wind.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96E2973-D54E-428A-8F3F-237384BD90C9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34290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FC47360-E945-4433-99B0-6F953EF34E30}"/>
              </a:ext>
            </a:extLst>
          </p:cNvPr>
          <p:cNvSpPr>
            <a:spLocks noGrp="1"/>
          </p:cNvSpPr>
          <p:nvPr/>
        </p:nvSpPr>
        <p:spPr>
          <a:xfrm>
            <a:off x="8248650" y="30099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FC4ED7-8786-415D-91A6-09E5C235F7A2}"/>
              </a:ext>
            </a:extLst>
          </p:cNvPr>
          <p:cNvSpPr>
            <a:spLocks noGrp="1"/>
          </p:cNvSpPr>
          <p:nvPr/>
        </p:nvSpPr>
        <p:spPr>
          <a:xfrm>
            <a:off x="8248650" y="30099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 err="1">
                <a:solidFill>
                  <a:srgbClr val="FFFFFF"/>
                </a:solidFill>
              </a:rPr>
              <a:t>DNV_path</a:t>
            </a:r>
            <a:endParaRPr sz="1000" b="1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C1F6F8-CDAF-46E6-92BE-933D43972144}"/>
              </a:ext>
            </a:extLst>
          </p:cNvPr>
          <p:cNvSpPr>
            <a:spLocks noGrp="1"/>
          </p:cNvSpPr>
          <p:nvPr/>
        </p:nvSpPr>
        <p:spPr>
          <a:xfrm>
            <a:off x="8248650" y="3371850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16"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Places the same entry on the right if the path is valid.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14AA3B5-5657-46B5-AC8A-E16B4DB67649}"/>
              </a:ext>
            </a:extLst>
          </p:cNvPr>
          <p:cNvSpPr>
            <a:spLocks noGrp="1"/>
          </p:cNvSpPr>
          <p:nvPr/>
        </p:nvSpPr>
        <p:spPr>
          <a:xfrm>
            <a:off x="8096250" y="3924300"/>
            <a:ext cx="34290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2DC61A9-1E1D-447B-88D0-C6011616ECCC}"/>
              </a:ext>
            </a:extLst>
          </p:cNvPr>
          <p:cNvSpPr>
            <a:spLocks noGrp="1"/>
          </p:cNvSpPr>
          <p:nvPr/>
        </p:nvSpPr>
        <p:spPr>
          <a:xfrm>
            <a:off x="8248650" y="40767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165BF1-D566-4079-BDAC-43DA080AB27E}"/>
              </a:ext>
            </a:extLst>
          </p:cNvPr>
          <p:cNvSpPr>
            <a:spLocks noGrp="1"/>
          </p:cNvSpPr>
          <p:nvPr/>
        </p:nvSpPr>
        <p:spPr>
          <a:xfrm>
            <a:off x="8248650" y="40767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FFFFFF"/>
                </a:solidFill>
              </a:rPr>
              <a:t>Green tag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DA188F-C095-4062-8E05-A1B5452A0091}"/>
              </a:ext>
            </a:extLst>
          </p:cNvPr>
          <p:cNvSpPr>
            <a:spLocks noGrp="1"/>
          </p:cNvSpPr>
          <p:nvPr/>
        </p:nvSpPr>
        <p:spPr>
          <a:xfrm>
            <a:off x="8248650" y="4438650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897" lnSpcReduction="10000"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Shows the mapped value and keeps the source clickable.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D093144-676C-4EE4-A7D5-C0E64958D416}"/>
              </a:ext>
            </a:extLst>
          </p:cNvPr>
          <p:cNvSpPr>
            <a:spLocks noGrp="1"/>
          </p:cNvSpPr>
          <p:nvPr/>
        </p:nvSpPr>
        <p:spPr>
          <a:xfrm>
            <a:off x="8096250" y="4991100"/>
            <a:ext cx="34290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668711C-3D66-4D32-8181-97BA72184FFA}"/>
              </a:ext>
            </a:extLst>
          </p:cNvPr>
          <p:cNvSpPr>
            <a:spLocks noGrp="1"/>
          </p:cNvSpPr>
          <p:nvPr/>
        </p:nvSpPr>
        <p:spPr>
          <a:xfrm>
            <a:off x="8248650" y="51435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BD0899-5269-4BCD-8D32-1A719A8CC67A}"/>
              </a:ext>
            </a:extLst>
          </p:cNvPr>
          <p:cNvSpPr>
            <a:spLocks noGrp="1"/>
          </p:cNvSpPr>
          <p:nvPr/>
        </p:nvSpPr>
        <p:spPr>
          <a:xfrm>
            <a:off x="8248650" y="51435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00" b="1" dirty="0">
                <a:solidFill>
                  <a:srgbClr val="FFFFFF"/>
                </a:solidFill>
              </a:rPr>
              <a:t>Show in DNV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5E09B8-D770-464D-ADED-A068C0093D7D}"/>
              </a:ext>
            </a:extLst>
          </p:cNvPr>
          <p:cNvSpPr>
            <a:spLocks noGrp="1"/>
          </p:cNvSpPr>
          <p:nvPr/>
        </p:nvSpPr>
        <p:spPr>
          <a:xfrm>
            <a:off x="8248650" y="5505450"/>
            <a:ext cx="3124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122" lnSpcReduction="20000"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Scrolls the user to the correct mapped node from the left side.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C2A300-0428-49F0-975D-71FB989F8603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659BFC-BABA-42A4-ACF0-05A0112D3DBC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927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759DB67-BE25-472F-9758-E1330E6754B2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3E6EAF-D1CA-4D22-93B1-DC0CFE14982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90833" lnSpcReduction="20000"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A3E7F9-22BD-4521-9B8D-F0980EFB7E15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1104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If the JSON is clean, the page builds itself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85ED02-F122-4C42-BFEB-FBD28FF8EB59}"/>
              </a:ext>
            </a:extLst>
          </p:cNvPr>
          <p:cNvSpPr>
            <a:spLocks noGrp="1"/>
          </p:cNvSpPr>
          <p:nvPr/>
        </p:nvSpPr>
        <p:spPr>
          <a:xfrm>
            <a:off x="571500" y="122682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The shared scripts are generic. The content changes, but the workflow stays the same.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1C45C687-74AB-493F-ADDF-1BC4EBB328EB}"/>
              </a:ext>
            </a:extLst>
          </p:cNvPr>
          <p:cNvSpPr>
            <a:spLocks noGrp="1"/>
          </p:cNvSpPr>
          <p:nvPr/>
        </p:nvSpPr>
        <p:spPr>
          <a:xfrm>
            <a:off x="571500" y="2028444"/>
            <a:ext cx="5334000" cy="33909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3"/>
          <a:srcRect l="3945" r="3945"/>
          <a:stretch>
            <a:fillRect/>
          </a:stretch>
        </p:blipFill>
        <p:spPr>
          <a:xfrm>
            <a:off x="742950" y="2199894"/>
            <a:ext cx="4991100" cy="3048000"/>
          </a:xfrm>
          <a:prstGeom prst="roundRect">
            <a:avLst>
              <a:gd name="adj" fmla="val 5000"/>
            </a:avLst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AEA4E6F-888F-456E-8C3C-E002EB73C3C7}"/>
              </a:ext>
            </a:extLst>
          </p:cNvPr>
          <p:cNvSpPr>
            <a:spLocks noGrp="1"/>
          </p:cNvSpPr>
          <p:nvPr/>
        </p:nvSpPr>
        <p:spPr>
          <a:xfrm>
            <a:off x="6286500" y="1790700"/>
            <a:ext cx="5238750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5F7761B-5659-42C2-A398-C4EB6C204AF3}"/>
              </a:ext>
            </a:extLst>
          </p:cNvPr>
          <p:cNvSpPr>
            <a:spLocks noGrp="1"/>
          </p:cNvSpPr>
          <p:nvPr/>
        </p:nvSpPr>
        <p:spPr>
          <a:xfrm>
            <a:off x="6438900" y="19431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2553D6"/>
          </a:solidFill>
          <a:ln w="0">
            <a:solidFill>
              <a:srgbClr val="2553D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C4CF27-F39E-4FC5-A3A4-DCB0EEC0686C}"/>
              </a:ext>
            </a:extLst>
          </p:cNvPr>
          <p:cNvSpPr>
            <a:spLocks noGrp="1"/>
          </p:cNvSpPr>
          <p:nvPr/>
        </p:nvSpPr>
        <p:spPr>
          <a:xfrm>
            <a:off x="6438900" y="19431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Left side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83D94-B8BE-43AB-BF34-DE024CD32A49}"/>
              </a:ext>
            </a:extLst>
          </p:cNvPr>
          <p:cNvSpPr>
            <a:spLocks noGrp="1"/>
          </p:cNvSpPr>
          <p:nvPr/>
        </p:nvSpPr>
        <p:spPr>
          <a:xfrm>
            <a:off x="6438900" y="230505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summary + accordions + source-aware entries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C9CB77F-5D0D-4F01-9AB8-C918DFD2BC14}"/>
              </a:ext>
            </a:extLst>
          </p:cNvPr>
          <p:cNvSpPr>
            <a:spLocks noGrp="1"/>
          </p:cNvSpPr>
          <p:nvPr/>
        </p:nvSpPr>
        <p:spPr>
          <a:xfrm>
            <a:off x="6286500" y="2800350"/>
            <a:ext cx="5238750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981FF51-3742-478F-8FD2-98BC097D9AFD}"/>
              </a:ext>
            </a:extLst>
          </p:cNvPr>
          <p:cNvSpPr>
            <a:spLocks noGrp="1"/>
          </p:cNvSpPr>
          <p:nvPr/>
        </p:nvSpPr>
        <p:spPr>
          <a:xfrm>
            <a:off x="6438900" y="29527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16803C"/>
          </a:solidFill>
          <a:ln w="0">
            <a:solidFill>
              <a:srgbClr val="1680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7B32A-8998-4D35-8E6F-C836625A9616}"/>
              </a:ext>
            </a:extLst>
          </p:cNvPr>
          <p:cNvSpPr>
            <a:spLocks noGrp="1"/>
          </p:cNvSpPr>
          <p:nvPr/>
        </p:nvSpPr>
        <p:spPr>
          <a:xfrm>
            <a:off x="6438900" y="29527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Right side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043C35-5B63-49F8-8850-2A02C37D6DC9}"/>
              </a:ext>
            </a:extLst>
          </p:cNvPr>
          <p:cNvSpPr>
            <a:spLocks noGrp="1"/>
          </p:cNvSpPr>
          <p:nvPr/>
        </p:nvSpPr>
        <p:spPr>
          <a:xfrm>
            <a:off x="6438900" y="33147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Filtered DNV tree with only mapped values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A24E98B-3888-42C2-94F8-A3EF200CA0EC}"/>
              </a:ext>
            </a:extLst>
          </p:cNvPr>
          <p:cNvSpPr>
            <a:spLocks noGrp="1"/>
          </p:cNvSpPr>
          <p:nvPr/>
        </p:nvSpPr>
        <p:spPr>
          <a:xfrm>
            <a:off x="6286500" y="3810000"/>
            <a:ext cx="5238750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6E4958A-4817-485B-B035-9A88ABC43A7C}"/>
              </a:ext>
            </a:extLst>
          </p:cNvPr>
          <p:cNvSpPr>
            <a:spLocks noGrp="1"/>
          </p:cNvSpPr>
          <p:nvPr/>
        </p:nvSpPr>
        <p:spPr>
          <a:xfrm>
            <a:off x="6438900" y="39624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DF1123-A004-44DD-B895-41574405C121}"/>
              </a:ext>
            </a:extLst>
          </p:cNvPr>
          <p:cNvSpPr>
            <a:spLocks noGrp="1"/>
          </p:cNvSpPr>
          <p:nvPr/>
        </p:nvSpPr>
        <p:spPr>
          <a:xfrm>
            <a:off x="6438900" y="396240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C2AA21-4D28-4653-86F1-FA7A8CC02356}"/>
              </a:ext>
            </a:extLst>
          </p:cNvPr>
          <p:cNvSpPr>
            <a:spLocks noGrp="1"/>
          </p:cNvSpPr>
          <p:nvPr/>
        </p:nvSpPr>
        <p:spPr>
          <a:xfrm>
            <a:off x="6438900" y="432435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GPS route built from the raw file linked in Link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13E559C-A8F1-409C-8A32-DD3D09DFB97D}"/>
              </a:ext>
            </a:extLst>
          </p:cNvPr>
          <p:cNvSpPr>
            <a:spLocks noGrp="1"/>
          </p:cNvSpPr>
          <p:nvPr/>
        </p:nvSpPr>
        <p:spPr>
          <a:xfrm>
            <a:off x="6286500" y="4819650"/>
            <a:ext cx="5238750" cy="85725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453C989-08C1-4455-B4A8-4EDB985CB520}"/>
              </a:ext>
            </a:extLst>
          </p:cNvPr>
          <p:cNvSpPr>
            <a:spLocks noGrp="1"/>
          </p:cNvSpPr>
          <p:nvPr/>
        </p:nvSpPr>
        <p:spPr>
          <a:xfrm>
            <a:off x="6438900" y="497205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117C97-0D9B-4BCC-B6DB-AF3793869CD6}"/>
              </a:ext>
            </a:extLst>
          </p:cNvPr>
          <p:cNvSpPr>
            <a:spLocks noGrp="1"/>
          </p:cNvSpPr>
          <p:nvPr/>
        </p:nvSpPr>
        <p:spPr>
          <a:xfrm>
            <a:off x="6438900" y="4972050"/>
            <a:ext cx="1162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Get Json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BDA9A7-FD7B-4E18-AB00-63D9BB204795}"/>
              </a:ext>
            </a:extLst>
          </p:cNvPr>
          <p:cNvSpPr>
            <a:spLocks noGrp="1"/>
          </p:cNvSpPr>
          <p:nvPr/>
        </p:nvSpPr>
        <p:spPr>
          <a:xfrm>
            <a:off x="6438900" y="5334000"/>
            <a:ext cx="4933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Downloads the main JSON file loaded for the project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3ED2D9-7E76-47F1-8ED0-D4593CF7FC51}"/>
              </a:ext>
            </a:extLst>
          </p:cNvPr>
          <p:cNvSpPr>
            <a:spLocks noGrp="1"/>
          </p:cNvSpPr>
          <p:nvPr/>
        </p:nvSpPr>
        <p:spPr>
          <a:xfrm>
            <a:off x="571500" y="653415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Data Hub guide - new vessel workflow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25700E-8DC5-4DD3-BE69-147B384DD3FC}"/>
              </a:ext>
            </a:extLst>
          </p:cNvPr>
          <p:cNvSpPr>
            <a:spLocks noGrp="1"/>
          </p:cNvSpPr>
          <p:nvPr/>
        </p:nvSpPr>
        <p:spPr>
          <a:xfrm>
            <a:off x="11144250" y="6496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028128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2004</Words>
  <Application>Microsoft Office PowerPoint</Application>
  <DocSecurity>0</DocSecurity>
  <PresentationFormat>Grand écran</PresentationFormat>
  <Paragraphs>239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Calibri</vt:lpstr>
      <vt:lpstr>Consolas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Anas SADIK</cp:lastModifiedBy>
  <cp:revision>6</cp:revision>
  <dcterms:created xsi:type="dcterms:W3CDTF">2026-07-07T14:59:42Z</dcterms:created>
  <dcterms:modified xsi:type="dcterms:W3CDTF">2026-07-07T16:09:24Z</dcterms:modified>
</cp:coreProperties>
</file>