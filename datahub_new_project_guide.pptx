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9" r:id="rId6"/>
    <p:sldId id="272" r:id="rId7"/>
    <p:sldId id="270" r:id="rId8"/>
    <p:sldId id="260" r:id="rId9"/>
    <p:sldId id="273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ction par défaut" id="{F4D244DB-14F6-431B-9FEE-A64B2695D85F}">
          <p14:sldIdLst>
            <p14:sldId id="256"/>
            <p14:sldId id="257"/>
            <p14:sldId id="258"/>
            <p14:sldId id="259"/>
            <p14:sldId id="269"/>
            <p14:sldId id="272"/>
            <p14:sldId id="270"/>
            <p14:sldId id="260"/>
            <p14:sldId id="273"/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990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BE6949-0591-BC9C-60AA-B266300704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9BA3C3-6B9E-B4A8-6C51-5F0925CE147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228035-1159-18BF-C49E-814510CF7FFB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BEA97D-0E38-DEDE-55EE-1ABBAD75C4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80F731-70BB-6F75-9A36-79339673F1E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610471-CAB9-44EE-7344-038B3423E978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23E8C3-2CDE-3FC2-7063-9B89B5A4CF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79E5A7-6464-7258-FB5A-CDDD01F3D2D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ADC267-DB2B-CD49-439E-BB9B4774B878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3C250-B3A9-42B8-31C5-34187B83B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460962-5E6B-154E-8CD6-4C000CF194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F79935-550B-A58C-2573-7667C5244B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748E50-DD69-C42E-8142-92407C038E7B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0056702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7630A149-A23C-4E6E-86E0-B3791172F647}"/>
              </a:ext>
            </a:extLst>
          </p:cNvPr>
          <p:cNvSpPr>
            <a:spLocks noGrp="1"/>
          </p:cNvSpPr>
          <p:nvPr/>
        </p:nvSpPr>
        <p:spPr>
          <a:xfrm>
            <a:off x="581025" y="342900"/>
            <a:ext cx="1962150" cy="361950"/>
          </a:xfrm>
          <a:prstGeom prst="roundRect">
            <a:avLst>
              <a:gd name="adj" fmla="val 50000"/>
            </a:avLst>
          </a:prstGeom>
          <a:solidFill>
            <a:srgbClr val="E8EEFF"/>
          </a:solidFill>
          <a:ln w="0">
            <a:solidFill>
              <a:srgbClr val="E8EEFF"/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156DCD-1F7F-432E-9941-14FE4985970E}"/>
              </a:ext>
            </a:extLst>
          </p:cNvPr>
          <p:cNvSpPr>
            <a:spLocks noGrp="1"/>
          </p:cNvSpPr>
          <p:nvPr/>
        </p:nvSpPr>
        <p:spPr>
          <a:xfrm>
            <a:off x="704850" y="381000"/>
            <a:ext cx="1714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Autofit/>
          </a:bodyPr>
          <a:lstStyle/>
          <a:p>
            <a:pPr algn="ctr">
              <a:defRPr sz="1050" b="1">
                <a:solidFill>
                  <a:srgbClr val="0F172A"/>
                </a:solidFill>
              </a:defRPr>
            </a:pPr>
            <a:r>
              <a:rPr sz="1600" b="1" dirty="0">
                <a:solidFill>
                  <a:srgbClr val="0F172A"/>
                </a:solidFill>
              </a:rPr>
              <a:t>DATA HUB GUIDE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C792576-9DF2-4ABB-8413-8E57A2957DE1}"/>
              </a:ext>
            </a:extLst>
          </p:cNvPr>
          <p:cNvSpPr>
            <a:spLocks noGrp="1"/>
          </p:cNvSpPr>
          <p:nvPr/>
        </p:nvSpPr>
        <p:spPr>
          <a:xfrm>
            <a:off x="704850" y="914400"/>
            <a:ext cx="5334000" cy="1257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750" b="1">
                <a:solidFill>
                  <a:srgbClr val="FFFFFF"/>
                </a:solidFill>
              </a:defRPr>
            </a:pPr>
            <a:r>
              <a:rPr sz="3750" b="1" dirty="0">
                <a:solidFill>
                  <a:srgbClr val="FFFFFF"/>
                </a:solidFill>
              </a:rPr>
              <a:t>How to add a new </a:t>
            </a:r>
            <a:r>
              <a:rPr lang="fr-FR" sz="3750" b="1" dirty="0" err="1">
                <a:solidFill>
                  <a:srgbClr val="FFFFFF"/>
                </a:solidFill>
              </a:rPr>
              <a:t>project</a:t>
            </a:r>
            <a:endParaRPr sz="3750" b="1" dirty="0">
              <a:solidFill>
                <a:srgbClr val="FFFFFF"/>
              </a:solidFill>
            </a:endParaRPr>
          </a:p>
          <a:p>
            <a:pPr algn="l">
              <a:defRPr sz="3750" b="1">
                <a:solidFill>
                  <a:srgbClr val="FFFFFF"/>
                </a:solidFill>
              </a:defRPr>
            </a:pPr>
            <a:r>
              <a:rPr sz="3750" b="1" dirty="0">
                <a:solidFill>
                  <a:srgbClr val="FFFFFF"/>
                </a:solidFill>
              </a:rPr>
              <a:t>to the </a:t>
            </a:r>
            <a:r>
              <a:rPr sz="3750" b="1" dirty="0" err="1">
                <a:solidFill>
                  <a:srgbClr val="FFFFFF"/>
                </a:solidFill>
              </a:rPr>
              <a:t>DataHub</a:t>
            </a:r>
            <a:endParaRPr sz="3750" b="1" dirty="0">
              <a:solidFill>
                <a:srgbClr val="FFFFFF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4F7B673-021D-4ED4-B98A-7034D6D69E04}"/>
              </a:ext>
            </a:extLst>
          </p:cNvPr>
          <p:cNvSpPr>
            <a:spLocks noGrp="1"/>
          </p:cNvSpPr>
          <p:nvPr/>
        </p:nvSpPr>
        <p:spPr>
          <a:xfrm>
            <a:off x="752475" y="2495550"/>
            <a:ext cx="504825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0">
                <a:solidFill>
                  <a:srgbClr val="D7E3F3"/>
                </a:solidFill>
              </a:defRPr>
            </a:pPr>
            <a:r>
              <a:rPr sz="1650" b="0" dirty="0">
                <a:solidFill>
                  <a:srgbClr val="D7E3F3"/>
                </a:solidFill>
              </a:rPr>
              <a:t>A direct onboarding deck for new contributors.</a:t>
            </a:r>
          </a:p>
          <a:p>
            <a:pPr algn="l">
              <a:defRPr sz="1650" b="0">
                <a:solidFill>
                  <a:srgbClr val="D7E3F3"/>
                </a:solidFill>
              </a:defRPr>
            </a:pPr>
            <a:r>
              <a:rPr sz="1650" b="0" dirty="0">
                <a:solidFill>
                  <a:srgbClr val="D7E3F3"/>
                </a:solidFill>
              </a:rPr>
              <a:t>Running example: ALMI ATLAS in the RINA block.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F0C8205F-66CB-4474-AC7E-61DA71598139}"/>
              </a:ext>
            </a:extLst>
          </p:cNvPr>
          <p:cNvSpPr>
            <a:spLocks noGrp="1"/>
          </p:cNvSpPr>
          <p:nvPr/>
        </p:nvSpPr>
        <p:spPr>
          <a:xfrm>
            <a:off x="619125" y="3638550"/>
            <a:ext cx="1962150" cy="285750"/>
          </a:xfrm>
          <a:prstGeom prst="roundRect">
            <a:avLst>
              <a:gd name="adj" fmla="val 50000"/>
            </a:avLst>
          </a:prstGeom>
          <a:solidFill>
            <a:srgbClr val="16803C"/>
          </a:solidFill>
          <a:ln w="0">
            <a:solidFill>
              <a:srgbClr val="1680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1F1E71B-2764-4982-AE7B-CF39DB05CA17}"/>
              </a:ext>
            </a:extLst>
          </p:cNvPr>
          <p:cNvSpPr>
            <a:spLocks noGrp="1"/>
          </p:cNvSpPr>
          <p:nvPr/>
        </p:nvSpPr>
        <p:spPr>
          <a:xfrm>
            <a:off x="619125" y="3638550"/>
            <a:ext cx="19621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rmAutofit fontScale="90833" lnSpcReduction="20000"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Running example: ATLAS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22EEC5AA-3935-43AA-8569-16F238A2D097}"/>
              </a:ext>
            </a:extLst>
          </p:cNvPr>
          <p:cNvSpPr>
            <a:spLocks noGrp="1"/>
          </p:cNvSpPr>
          <p:nvPr/>
        </p:nvSpPr>
        <p:spPr>
          <a:xfrm>
            <a:off x="2733675" y="3638550"/>
            <a:ext cx="1390650" cy="285750"/>
          </a:xfrm>
          <a:prstGeom prst="roundRect">
            <a:avLst>
              <a:gd name="adj" fmla="val 50000"/>
            </a:avLst>
          </a:prstGeom>
          <a:solidFill>
            <a:srgbClr val="2553D6"/>
          </a:solidFill>
          <a:ln w="0">
            <a:solidFill>
              <a:srgbClr val="2553D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6A433BF-6680-4366-82E9-EE6EBD28BB8B}"/>
              </a:ext>
            </a:extLst>
          </p:cNvPr>
          <p:cNvSpPr>
            <a:spLocks noGrp="1"/>
          </p:cNvSpPr>
          <p:nvPr/>
        </p:nvSpPr>
        <p:spPr>
          <a:xfrm>
            <a:off x="2733675" y="3638550"/>
            <a:ext cx="1390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rmAutofit fontScale="90833" lnSpcReduction="20000"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Block: RINA</a:t>
            </a: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EE22E08C-D558-4C55-9CF5-BF1D5D07B3D1}"/>
              </a:ext>
            </a:extLst>
          </p:cNvPr>
          <p:cNvSpPr>
            <a:spLocks noGrp="1"/>
          </p:cNvSpPr>
          <p:nvPr/>
        </p:nvSpPr>
        <p:spPr>
          <a:xfrm>
            <a:off x="4276725" y="3638550"/>
            <a:ext cx="1524000" cy="2857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 w="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CBA2D50-CCAF-4CC1-8844-AEAF216251D2}"/>
              </a:ext>
            </a:extLst>
          </p:cNvPr>
          <p:cNvSpPr>
            <a:spLocks noGrp="1"/>
          </p:cNvSpPr>
          <p:nvPr/>
        </p:nvSpPr>
        <p:spPr>
          <a:xfrm>
            <a:off x="4276725" y="3638550"/>
            <a:ext cx="152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rmAutofit fontScale="90833" lnSpcReduction="20000"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Audience: new user</a:t>
            </a:r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CAB32B19-BB7E-4803-A20E-3428596771C1}"/>
              </a:ext>
            </a:extLst>
          </p:cNvPr>
          <p:cNvSpPr>
            <a:spLocks noGrp="1"/>
          </p:cNvSpPr>
          <p:nvPr/>
        </p:nvSpPr>
        <p:spPr>
          <a:xfrm>
            <a:off x="657225" y="4714875"/>
            <a:ext cx="5143500" cy="781050"/>
          </a:xfrm>
          <a:prstGeom prst="roundRect">
            <a:avLst>
              <a:gd name="adj" fmla="val 16667"/>
            </a:avLst>
          </a:prstGeom>
          <a:solidFill>
            <a:srgbClr val="EBFBF1"/>
          </a:solidFill>
          <a:ln w="9525">
            <a:solidFill>
              <a:srgbClr val="A7F3D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B468ADD-74CD-4FFC-8A97-86D2C6522142}"/>
              </a:ext>
            </a:extLst>
          </p:cNvPr>
          <p:cNvSpPr>
            <a:spLocks noGrp="1"/>
          </p:cNvSpPr>
          <p:nvPr/>
        </p:nvSpPr>
        <p:spPr>
          <a:xfrm>
            <a:off x="809625" y="4848225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rmAutofit fontScale="55119" lnSpcReduction="20000"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OK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7B43D8C-E5BA-40DC-8021-1F16303AB701}"/>
              </a:ext>
            </a:extLst>
          </p:cNvPr>
          <p:cNvSpPr>
            <a:spLocks noGrp="1"/>
          </p:cNvSpPr>
          <p:nvPr/>
        </p:nvSpPr>
        <p:spPr>
          <a:xfrm>
            <a:off x="809625" y="4848225"/>
            <a:ext cx="4775454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1E293B"/>
                </a:solidFill>
              </a:defRPr>
            </a:pPr>
            <a:r>
              <a:rPr sz="1200" b="1" u="sng" dirty="0">
                <a:solidFill>
                  <a:srgbClr val="1E293B"/>
                </a:solidFill>
              </a:rPr>
              <a:t>Goal:</a:t>
            </a:r>
            <a:r>
              <a:rPr lang="fr-FR" sz="1200" u="sng" dirty="0">
                <a:solidFill>
                  <a:srgbClr val="1E293B"/>
                </a:solidFill>
              </a:rPr>
              <a:t> </a:t>
            </a:r>
            <a:r>
              <a:rPr sz="1200" b="0" dirty="0">
                <a:solidFill>
                  <a:srgbClr val="1E293B"/>
                </a:solidFill>
              </a:rPr>
              <a:t>show which files to create, what to write in the JSON, and how the website turns that data into the left panel, source links, GPS route, and DNV tree.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3AAB7AE-8250-4E26-911D-55E47DB06931}"/>
              </a:ext>
            </a:extLst>
          </p:cNvPr>
          <p:cNvSpPr>
            <a:spLocks noGrp="1"/>
          </p:cNvSpPr>
          <p:nvPr/>
        </p:nvSpPr>
        <p:spPr>
          <a:xfrm>
            <a:off x="571500" y="6534150"/>
            <a:ext cx="3048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Data Hub guide - new vessel workflow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CDA06CA-6CC5-4742-87F6-3B1713A69EC1}"/>
              </a:ext>
            </a:extLst>
          </p:cNvPr>
          <p:cNvSpPr>
            <a:spLocks noGrp="1"/>
          </p:cNvSpPr>
          <p:nvPr/>
        </p:nvSpPr>
        <p:spPr>
          <a:xfrm>
            <a:off x="11144250" y="6496050"/>
            <a:ext cx="38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1</a:t>
            </a:r>
          </a:p>
        </p:txBody>
      </p:sp>
      <p:pic>
        <p:nvPicPr>
          <p:cNvPr id="21" name="Image 20" descr="200 passagers d'une croisière de luxe bloqués dans la glace du Groenland à  2 000 kilomètres des secours | Vanity Fair">
            <a:extLst>
              <a:ext uri="{FF2B5EF4-FFF2-40B4-BE49-F238E27FC236}">
                <a16:creationId xmlns:a16="http://schemas.microsoft.com/office/drawing/2014/main" id="{DF8BB11E-3BCF-C1BB-EB01-6E6F104825D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6644" r="7720"/>
          <a:stretch>
            <a:fillRect/>
          </a:stretch>
        </p:blipFill>
        <p:spPr>
          <a:xfrm>
            <a:off x="6934200" y="857893"/>
            <a:ext cx="4171950" cy="5142214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13452032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 : coins arrondis 44">
            <a:extLst>
              <a:ext uri="{FF2B5EF4-FFF2-40B4-BE49-F238E27FC236}">
                <a16:creationId xmlns:a16="http://schemas.microsoft.com/office/drawing/2014/main" id="{55B230D3-3697-4CF4-8CBD-FD85A4EC1E50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619250" cy="28575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 w="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3533901-CFDB-452D-A8B4-4B828CAC3528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61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rmAutofit fontScale="90833" lnSpcReduction="20000"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SUMMARY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ADC4DA3-DDD7-4089-86AF-CC17E237F54D}"/>
              </a:ext>
            </a:extLst>
          </p:cNvPr>
          <p:cNvSpPr>
            <a:spLocks noGrp="1"/>
          </p:cNvSpPr>
          <p:nvPr/>
        </p:nvSpPr>
        <p:spPr>
          <a:xfrm>
            <a:off x="571500" y="762000"/>
            <a:ext cx="11049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000" b="1">
                <a:solidFill>
                  <a:srgbClr val="0F172A"/>
                </a:solidFill>
              </a:defRPr>
            </a:pPr>
            <a:r>
              <a:rPr sz="3000" b="1">
                <a:solidFill>
                  <a:srgbClr val="0F172A"/>
                </a:solidFill>
              </a:rPr>
              <a:t>This deck follows the real creation order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CB17821-3953-46EC-9334-22B8B0040963}"/>
              </a:ext>
            </a:extLst>
          </p:cNvPr>
          <p:cNvSpPr>
            <a:spLocks noGrp="1"/>
          </p:cNvSpPr>
          <p:nvPr/>
        </p:nvSpPr>
        <p:spPr>
          <a:xfrm>
            <a:off x="742950" y="53721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475569"/>
                </a:solidFill>
              </a:defRPr>
            </a:pPr>
            <a:r>
              <a:rPr sz="1350" b="0" dirty="0">
                <a:solidFill>
                  <a:srgbClr val="475569"/>
                </a:solidFill>
              </a:rPr>
              <a:t>Blue slides are build steps. Green slides explain how the JSON controls the website.</a:t>
            </a: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897FA41B-BA8D-4241-8B5D-370299F7B07E}"/>
              </a:ext>
            </a:extLst>
          </p:cNvPr>
          <p:cNvSpPr>
            <a:spLocks noGrp="1"/>
          </p:cNvSpPr>
          <p:nvPr/>
        </p:nvSpPr>
        <p:spPr>
          <a:xfrm>
            <a:off x="571500" y="1444371"/>
            <a:ext cx="3429000" cy="152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5451770D-DFC5-4351-B2FB-A1805CB1FCF7}"/>
              </a:ext>
            </a:extLst>
          </p:cNvPr>
          <p:cNvSpPr>
            <a:spLocks noGrp="1"/>
          </p:cNvSpPr>
          <p:nvPr/>
        </p:nvSpPr>
        <p:spPr>
          <a:xfrm>
            <a:off x="742950" y="1615821"/>
            <a:ext cx="342900" cy="342900"/>
          </a:xfrm>
          <a:prstGeom prst="ellipse">
            <a:avLst/>
          </a:prstGeom>
          <a:solidFill>
            <a:srgbClr val="2553D6"/>
          </a:solidFill>
          <a:ln w="0">
            <a:solidFill>
              <a:srgbClr val="2553D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1FFFEFB-992F-4E5D-9CF7-167FAF7E5695}"/>
              </a:ext>
            </a:extLst>
          </p:cNvPr>
          <p:cNvSpPr>
            <a:spLocks noGrp="1"/>
          </p:cNvSpPr>
          <p:nvPr/>
        </p:nvSpPr>
        <p:spPr>
          <a:xfrm>
            <a:off x="742950" y="1615821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38100" rIns="38100" bIns="38100" anchor="ctr">
            <a:norm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C1F1CC1-23E4-41E7-9782-BB75DE44852B}"/>
              </a:ext>
            </a:extLst>
          </p:cNvPr>
          <p:cNvSpPr>
            <a:spLocks noGrp="1"/>
          </p:cNvSpPr>
          <p:nvPr/>
        </p:nvSpPr>
        <p:spPr>
          <a:xfrm>
            <a:off x="1181100" y="1615821"/>
            <a:ext cx="2647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7778" lnSpcReduction="10000"/>
          </a:bodyPr>
          <a:lstStyle/>
          <a:p>
            <a:pPr algn="l">
              <a:defRPr sz="1800" b="1">
                <a:solidFill>
                  <a:srgbClr val="0F172A"/>
                </a:solidFill>
              </a:defRPr>
            </a:pPr>
            <a:r>
              <a:rPr sz="1800" b="1">
                <a:solidFill>
                  <a:srgbClr val="0F172A"/>
                </a:solidFill>
              </a:rPr>
              <a:t>Create the vessel folder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FE595EA-80C5-4DA2-8582-29E7F92320D0}"/>
              </a:ext>
            </a:extLst>
          </p:cNvPr>
          <p:cNvSpPr>
            <a:spLocks noGrp="1"/>
          </p:cNvSpPr>
          <p:nvPr/>
        </p:nvSpPr>
        <p:spPr>
          <a:xfrm>
            <a:off x="742950" y="2206371"/>
            <a:ext cx="30861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 dirty="0">
                <a:solidFill>
                  <a:srgbClr val="334155"/>
                </a:solidFill>
              </a:rPr>
              <a:t>Add </a:t>
            </a:r>
            <a:r>
              <a:rPr lang="fr-FR" sz="1200" b="0" dirty="0">
                <a:solidFill>
                  <a:srgbClr val="334155"/>
                </a:solidFill>
              </a:rPr>
              <a:t>a folder in the folder </a:t>
            </a:r>
            <a:r>
              <a:rPr lang="fr-FR" sz="1200" b="0" dirty="0" err="1">
                <a:solidFill>
                  <a:srgbClr val="334155"/>
                </a:solidFill>
              </a:rPr>
              <a:t>Projects</a:t>
            </a:r>
            <a:r>
              <a:rPr lang="fr-FR" sz="1200" b="0" dirty="0">
                <a:solidFill>
                  <a:srgbClr val="334155"/>
                </a:solidFill>
              </a:rPr>
              <a:t>, </a:t>
            </a:r>
            <a:r>
              <a:rPr lang="fr-FR" sz="1200" b="0" dirty="0" err="1">
                <a:solidFill>
                  <a:srgbClr val="334155"/>
                </a:solidFill>
              </a:rPr>
              <a:t>inside</a:t>
            </a:r>
            <a:r>
              <a:rPr lang="fr-FR" sz="1200" b="0" dirty="0">
                <a:solidFill>
                  <a:srgbClr val="334155"/>
                </a:solidFill>
              </a:rPr>
              <a:t> </a:t>
            </a:r>
            <a:r>
              <a:rPr lang="fr-FR" sz="1200" b="0" dirty="0" err="1">
                <a:solidFill>
                  <a:srgbClr val="334155"/>
                </a:solidFill>
              </a:rPr>
              <a:t>add</a:t>
            </a:r>
            <a:r>
              <a:rPr lang="fr-FR" sz="1200" b="0" dirty="0">
                <a:solidFill>
                  <a:srgbClr val="334155"/>
                </a:solidFill>
              </a:rPr>
              <a:t> </a:t>
            </a:r>
            <a:r>
              <a:rPr sz="1200" b="0" dirty="0">
                <a:solidFill>
                  <a:srgbClr val="334155"/>
                </a:solidFill>
              </a:rPr>
              <a:t>one folder </a:t>
            </a:r>
            <a:r>
              <a:rPr lang="fr-FR" sz="1200" b="0" dirty="0" err="1">
                <a:solidFill>
                  <a:srgbClr val="334155"/>
                </a:solidFill>
              </a:rPr>
              <a:t>named</a:t>
            </a:r>
            <a:r>
              <a:rPr sz="1200" b="0" dirty="0">
                <a:solidFill>
                  <a:srgbClr val="334155"/>
                </a:solidFill>
              </a:rPr>
              <a:t> JSON/ and </a:t>
            </a:r>
            <a:r>
              <a:rPr sz="1200" b="0" dirty="0" err="1">
                <a:solidFill>
                  <a:srgbClr val="334155"/>
                </a:solidFill>
              </a:rPr>
              <a:t>raw_DATA</a:t>
            </a:r>
            <a:r>
              <a:rPr sz="1200" b="0" dirty="0">
                <a:solidFill>
                  <a:srgbClr val="334155"/>
                </a:solidFill>
              </a:rPr>
              <a:t>/. </a:t>
            </a:r>
            <a:endParaRPr lang="fr-FR" sz="1200" b="0" dirty="0">
              <a:solidFill>
                <a:srgbClr val="334155"/>
              </a:solidFill>
            </a:endParaRPr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85522C68-9B85-48CF-B823-27D7D0FB6600}"/>
              </a:ext>
            </a:extLst>
          </p:cNvPr>
          <p:cNvSpPr>
            <a:spLocks noGrp="1"/>
          </p:cNvSpPr>
          <p:nvPr/>
        </p:nvSpPr>
        <p:spPr>
          <a:xfrm>
            <a:off x="4381500" y="1444371"/>
            <a:ext cx="3429000" cy="152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289F63B7-DFDE-4D95-ACA0-5ECE6334F711}"/>
              </a:ext>
            </a:extLst>
          </p:cNvPr>
          <p:cNvSpPr>
            <a:spLocks noGrp="1"/>
          </p:cNvSpPr>
          <p:nvPr/>
        </p:nvSpPr>
        <p:spPr>
          <a:xfrm>
            <a:off x="4552950" y="1615821"/>
            <a:ext cx="342900" cy="342900"/>
          </a:xfrm>
          <a:prstGeom prst="ellipse">
            <a:avLst/>
          </a:prstGeom>
          <a:solidFill>
            <a:srgbClr val="2553D6"/>
          </a:solidFill>
          <a:ln w="0">
            <a:solidFill>
              <a:srgbClr val="2553D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BAF0B1B-F811-47B0-9B34-88914505A38D}"/>
              </a:ext>
            </a:extLst>
          </p:cNvPr>
          <p:cNvSpPr>
            <a:spLocks noGrp="1"/>
          </p:cNvSpPr>
          <p:nvPr/>
        </p:nvSpPr>
        <p:spPr>
          <a:xfrm>
            <a:off x="4552950" y="1615821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38100" rIns="38100" bIns="38100" anchor="ctr">
            <a:norm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C6EC219-1F16-441D-8645-0B7442450A8A}"/>
              </a:ext>
            </a:extLst>
          </p:cNvPr>
          <p:cNvSpPr>
            <a:spLocks noGrp="1"/>
          </p:cNvSpPr>
          <p:nvPr/>
        </p:nvSpPr>
        <p:spPr>
          <a:xfrm>
            <a:off x="4991100" y="1615821"/>
            <a:ext cx="2647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7778" lnSpcReduction="10000"/>
          </a:bodyPr>
          <a:lstStyle/>
          <a:p>
            <a:pPr algn="l">
              <a:defRPr sz="1800" b="1">
                <a:solidFill>
                  <a:srgbClr val="0F172A"/>
                </a:solidFill>
              </a:defRPr>
            </a:pPr>
            <a:r>
              <a:rPr sz="1800" b="1">
                <a:solidFill>
                  <a:srgbClr val="0F172A"/>
                </a:solidFill>
              </a:rPr>
              <a:t>Build the dashboard block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320C92D-75E0-4DB9-9B16-6BEDB08C300A}"/>
              </a:ext>
            </a:extLst>
          </p:cNvPr>
          <p:cNvSpPr>
            <a:spLocks noGrp="1"/>
          </p:cNvSpPr>
          <p:nvPr/>
        </p:nvSpPr>
        <p:spPr>
          <a:xfrm>
            <a:off x="4552950" y="2073021"/>
            <a:ext cx="30861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Write the block HTML, add the project image, and leave an empty list container for the vessel links.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907F5C54-C1EF-42AC-BD46-7BA22527764A}"/>
              </a:ext>
            </a:extLst>
          </p:cNvPr>
          <p:cNvSpPr>
            <a:spLocks noGrp="1"/>
          </p:cNvSpPr>
          <p:nvPr/>
        </p:nvSpPr>
        <p:spPr>
          <a:xfrm>
            <a:off x="8191500" y="1444371"/>
            <a:ext cx="3429000" cy="152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A4E94869-2352-4284-98FB-2441BB92A667}"/>
              </a:ext>
            </a:extLst>
          </p:cNvPr>
          <p:cNvSpPr>
            <a:spLocks noGrp="1"/>
          </p:cNvSpPr>
          <p:nvPr/>
        </p:nvSpPr>
        <p:spPr>
          <a:xfrm>
            <a:off x="8362950" y="1615821"/>
            <a:ext cx="342900" cy="342900"/>
          </a:xfrm>
          <a:prstGeom prst="ellipse">
            <a:avLst/>
          </a:prstGeom>
          <a:solidFill>
            <a:srgbClr val="2553D6"/>
          </a:solidFill>
          <a:ln w="0">
            <a:solidFill>
              <a:srgbClr val="2553D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A4EDBBA-C0EF-48B2-A9C9-39536C77041B}"/>
              </a:ext>
            </a:extLst>
          </p:cNvPr>
          <p:cNvSpPr>
            <a:spLocks noGrp="1"/>
          </p:cNvSpPr>
          <p:nvPr/>
        </p:nvSpPr>
        <p:spPr>
          <a:xfrm>
            <a:off x="8362950" y="1615821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38100" rIns="38100" bIns="38100" anchor="ctr">
            <a:norm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33D757E-9548-4685-AF9D-60B9049771B3}"/>
              </a:ext>
            </a:extLst>
          </p:cNvPr>
          <p:cNvSpPr>
            <a:spLocks noGrp="1"/>
          </p:cNvSpPr>
          <p:nvPr/>
        </p:nvSpPr>
        <p:spPr>
          <a:xfrm>
            <a:off x="8801100" y="1615821"/>
            <a:ext cx="2647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7778" lnSpcReduction="10000"/>
          </a:bodyPr>
          <a:lstStyle/>
          <a:p>
            <a:pPr algn="l">
              <a:defRPr sz="1800" b="1">
                <a:solidFill>
                  <a:srgbClr val="0F172A"/>
                </a:solidFill>
              </a:defRPr>
            </a:pPr>
            <a:r>
              <a:rPr sz="1800" b="1">
                <a:solidFill>
                  <a:srgbClr val="0F172A"/>
                </a:solidFill>
              </a:rPr>
              <a:t>Register the project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17EA2C9-353F-4FF0-8BCC-F774FB418737}"/>
              </a:ext>
            </a:extLst>
          </p:cNvPr>
          <p:cNvSpPr>
            <a:spLocks noGrp="1"/>
          </p:cNvSpPr>
          <p:nvPr/>
        </p:nvSpPr>
        <p:spPr>
          <a:xfrm>
            <a:off x="8362950" y="2073021"/>
            <a:ext cx="30861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Add one entry in project-config.js so the generic page knows which JSON file to load.</a:t>
            </a:r>
          </a:p>
        </p:txBody>
      </p:sp>
      <p:sp>
        <p:nvSpPr>
          <p:cNvPr id="20" name="Rectangle : coins arrondis 19">
            <a:extLst>
              <a:ext uri="{FF2B5EF4-FFF2-40B4-BE49-F238E27FC236}">
                <a16:creationId xmlns:a16="http://schemas.microsoft.com/office/drawing/2014/main" id="{20BD5609-19F6-461A-B98B-8A738287635E}"/>
              </a:ext>
            </a:extLst>
          </p:cNvPr>
          <p:cNvSpPr>
            <a:spLocks noGrp="1"/>
          </p:cNvSpPr>
          <p:nvPr/>
        </p:nvSpPr>
        <p:spPr>
          <a:xfrm>
            <a:off x="571500" y="3292221"/>
            <a:ext cx="3429000" cy="152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21" name="Ellipse 20">
            <a:extLst>
              <a:ext uri="{FF2B5EF4-FFF2-40B4-BE49-F238E27FC236}">
                <a16:creationId xmlns:a16="http://schemas.microsoft.com/office/drawing/2014/main" id="{56396C56-4D73-42E4-8574-13FF6DEB25D2}"/>
              </a:ext>
            </a:extLst>
          </p:cNvPr>
          <p:cNvSpPr>
            <a:spLocks noGrp="1"/>
          </p:cNvSpPr>
          <p:nvPr/>
        </p:nvSpPr>
        <p:spPr>
          <a:xfrm>
            <a:off x="742950" y="3463671"/>
            <a:ext cx="342900" cy="342900"/>
          </a:xfrm>
          <a:prstGeom prst="ellipse">
            <a:avLst/>
          </a:prstGeom>
          <a:solidFill>
            <a:srgbClr val="16803C"/>
          </a:solidFill>
          <a:ln w="0">
            <a:solidFill>
              <a:srgbClr val="1680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34CA423-C4BB-49CA-A4E4-0C9AB8C5FD1E}"/>
              </a:ext>
            </a:extLst>
          </p:cNvPr>
          <p:cNvSpPr>
            <a:spLocks noGrp="1"/>
          </p:cNvSpPr>
          <p:nvPr/>
        </p:nvSpPr>
        <p:spPr>
          <a:xfrm>
            <a:off x="742950" y="3463671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38100" rIns="38100" bIns="38100" anchor="ctr">
            <a:norm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BB3C694-9FD2-484E-8AA2-79E6E8A569FD}"/>
              </a:ext>
            </a:extLst>
          </p:cNvPr>
          <p:cNvSpPr>
            <a:spLocks noGrp="1"/>
          </p:cNvSpPr>
          <p:nvPr/>
        </p:nvSpPr>
        <p:spPr>
          <a:xfrm>
            <a:off x="1181100" y="3463671"/>
            <a:ext cx="2647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7778" lnSpcReduction="10000"/>
          </a:bodyPr>
          <a:lstStyle/>
          <a:p>
            <a:pPr algn="l">
              <a:defRPr sz="1800" b="1">
                <a:solidFill>
                  <a:srgbClr val="0F172A"/>
                </a:solidFill>
              </a:defRPr>
            </a:pPr>
            <a:r>
              <a:rPr sz="1800" b="1">
                <a:solidFill>
                  <a:srgbClr val="0F172A"/>
                </a:solidFill>
              </a:rPr>
              <a:t>Create the main JSON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A1804CA-28E3-4129-B842-52CE8E8A944A}"/>
              </a:ext>
            </a:extLst>
          </p:cNvPr>
          <p:cNvSpPr>
            <a:spLocks noGrp="1"/>
          </p:cNvSpPr>
          <p:nvPr/>
        </p:nvSpPr>
        <p:spPr>
          <a:xfrm>
            <a:off x="742950" y="3920871"/>
            <a:ext cx="30861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Write summary and vessel_info. This is the main file the page reads.</a:t>
            </a:r>
          </a:p>
        </p:txBody>
      </p:sp>
      <p:sp>
        <p:nvSpPr>
          <p:cNvPr id="25" name="Rectangle : coins arrondis 24">
            <a:extLst>
              <a:ext uri="{FF2B5EF4-FFF2-40B4-BE49-F238E27FC236}">
                <a16:creationId xmlns:a16="http://schemas.microsoft.com/office/drawing/2014/main" id="{C93D54C4-FDC0-47B3-9ACC-69B29A4D07FB}"/>
              </a:ext>
            </a:extLst>
          </p:cNvPr>
          <p:cNvSpPr>
            <a:spLocks noGrp="1"/>
          </p:cNvSpPr>
          <p:nvPr/>
        </p:nvSpPr>
        <p:spPr>
          <a:xfrm>
            <a:off x="4381500" y="3292221"/>
            <a:ext cx="3429000" cy="152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26" name="Ellipse 25">
            <a:extLst>
              <a:ext uri="{FF2B5EF4-FFF2-40B4-BE49-F238E27FC236}">
                <a16:creationId xmlns:a16="http://schemas.microsoft.com/office/drawing/2014/main" id="{D585CE71-DCB9-48A4-82C9-9A0CF7EA1AE4}"/>
              </a:ext>
            </a:extLst>
          </p:cNvPr>
          <p:cNvSpPr>
            <a:spLocks noGrp="1"/>
          </p:cNvSpPr>
          <p:nvPr/>
        </p:nvSpPr>
        <p:spPr>
          <a:xfrm>
            <a:off x="4552950" y="3463671"/>
            <a:ext cx="342900" cy="342900"/>
          </a:xfrm>
          <a:prstGeom prst="ellipse">
            <a:avLst/>
          </a:prstGeom>
          <a:solidFill>
            <a:srgbClr val="16803C"/>
          </a:solidFill>
          <a:ln w="0">
            <a:solidFill>
              <a:srgbClr val="1680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5B77078-0856-4044-A67B-8181BEB40C40}"/>
              </a:ext>
            </a:extLst>
          </p:cNvPr>
          <p:cNvSpPr>
            <a:spLocks noGrp="1"/>
          </p:cNvSpPr>
          <p:nvPr/>
        </p:nvSpPr>
        <p:spPr>
          <a:xfrm>
            <a:off x="4552950" y="3463671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38100" rIns="38100" bIns="38100" anchor="ctr">
            <a:norm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8BA6B1C-E38E-4A33-BC6B-416C552D5DF4}"/>
              </a:ext>
            </a:extLst>
          </p:cNvPr>
          <p:cNvSpPr>
            <a:spLocks noGrp="1"/>
          </p:cNvSpPr>
          <p:nvPr/>
        </p:nvSpPr>
        <p:spPr>
          <a:xfrm>
            <a:off x="4991100" y="3463671"/>
            <a:ext cx="2647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7778" lnSpcReduction="10000"/>
          </a:bodyPr>
          <a:lstStyle/>
          <a:p>
            <a:pPr algn="l">
              <a:defRPr sz="1800" b="1">
                <a:solidFill>
                  <a:srgbClr val="0F172A"/>
                </a:solidFill>
              </a:defRPr>
            </a:pPr>
            <a:r>
              <a:rPr sz="1800" b="1">
                <a:solidFill>
                  <a:srgbClr val="0F172A"/>
                </a:solidFill>
              </a:rPr>
              <a:t>Map Link and DNV_path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213796C-6A01-4CBE-8E96-E293F7BA502E}"/>
              </a:ext>
            </a:extLst>
          </p:cNvPr>
          <p:cNvSpPr>
            <a:spLocks noGrp="1"/>
          </p:cNvSpPr>
          <p:nvPr/>
        </p:nvSpPr>
        <p:spPr>
          <a:xfrm>
            <a:off x="4552950" y="3920871"/>
            <a:ext cx="30861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Each JSON entry connects a visible value to a raw source file and a DNV location.</a:t>
            </a:r>
          </a:p>
        </p:txBody>
      </p:sp>
      <p:sp>
        <p:nvSpPr>
          <p:cNvPr id="30" name="Rectangle : coins arrondis 29">
            <a:extLst>
              <a:ext uri="{FF2B5EF4-FFF2-40B4-BE49-F238E27FC236}">
                <a16:creationId xmlns:a16="http://schemas.microsoft.com/office/drawing/2014/main" id="{E7D00FC0-94EB-4A33-88C2-829FC4D106B6}"/>
              </a:ext>
            </a:extLst>
          </p:cNvPr>
          <p:cNvSpPr>
            <a:spLocks noGrp="1"/>
          </p:cNvSpPr>
          <p:nvPr/>
        </p:nvSpPr>
        <p:spPr>
          <a:xfrm>
            <a:off x="8191500" y="3292221"/>
            <a:ext cx="3429000" cy="152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31" name="Ellipse 30">
            <a:extLst>
              <a:ext uri="{FF2B5EF4-FFF2-40B4-BE49-F238E27FC236}">
                <a16:creationId xmlns:a16="http://schemas.microsoft.com/office/drawing/2014/main" id="{F245A9B2-549A-4572-8B6D-A64BBD0D41D4}"/>
              </a:ext>
            </a:extLst>
          </p:cNvPr>
          <p:cNvSpPr>
            <a:spLocks noGrp="1"/>
          </p:cNvSpPr>
          <p:nvPr/>
        </p:nvSpPr>
        <p:spPr>
          <a:xfrm>
            <a:off x="8362950" y="3463671"/>
            <a:ext cx="342900" cy="342900"/>
          </a:xfrm>
          <a:prstGeom prst="ellipse">
            <a:avLst/>
          </a:prstGeom>
          <a:solidFill>
            <a:srgbClr val="16803C"/>
          </a:solidFill>
          <a:ln w="0">
            <a:solidFill>
              <a:srgbClr val="1680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5787D5D-3F02-4E9C-BDEC-43088046743A}"/>
              </a:ext>
            </a:extLst>
          </p:cNvPr>
          <p:cNvSpPr>
            <a:spLocks noGrp="1"/>
          </p:cNvSpPr>
          <p:nvPr/>
        </p:nvSpPr>
        <p:spPr>
          <a:xfrm>
            <a:off x="8362950" y="3463671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38100" rIns="38100" bIns="38100" anchor="ctr">
            <a:norm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FCBC6A9-5ECE-424F-B747-AA9692F651EE}"/>
              </a:ext>
            </a:extLst>
          </p:cNvPr>
          <p:cNvSpPr>
            <a:spLocks noGrp="1"/>
          </p:cNvSpPr>
          <p:nvPr/>
        </p:nvSpPr>
        <p:spPr>
          <a:xfrm>
            <a:off x="8801100" y="3463671"/>
            <a:ext cx="2647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7778" lnSpcReduction="10000"/>
          </a:bodyPr>
          <a:lstStyle/>
          <a:p>
            <a:pPr algn="l">
              <a:defRPr sz="1800" b="1">
                <a:solidFill>
                  <a:srgbClr val="0F172A"/>
                </a:solidFill>
              </a:defRPr>
            </a:pPr>
            <a:r>
              <a:rPr sz="1800" b="1">
                <a:solidFill>
                  <a:srgbClr val="0F172A"/>
                </a:solidFill>
              </a:rPr>
              <a:t>Let the page build itself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42D5031-D21A-40CB-9B13-575D0D39E706}"/>
              </a:ext>
            </a:extLst>
          </p:cNvPr>
          <p:cNvSpPr>
            <a:spLocks noGrp="1"/>
          </p:cNvSpPr>
          <p:nvPr/>
        </p:nvSpPr>
        <p:spPr>
          <a:xfrm>
            <a:off x="8362950" y="3920871"/>
            <a:ext cx="30861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The shared scripts generate the left panel, the DNV tree, the downloads, and the GPS route automatically.</a:t>
            </a:r>
          </a:p>
        </p:txBody>
      </p:sp>
      <p:sp>
        <p:nvSpPr>
          <p:cNvPr id="35" name="Rectangle : coins arrondis 34">
            <a:extLst>
              <a:ext uri="{FF2B5EF4-FFF2-40B4-BE49-F238E27FC236}">
                <a16:creationId xmlns:a16="http://schemas.microsoft.com/office/drawing/2014/main" id="{71E52EB4-3687-42D6-991E-74F2EF02FBBF}"/>
              </a:ext>
            </a:extLst>
          </p:cNvPr>
          <p:cNvSpPr>
            <a:spLocks noGrp="1"/>
          </p:cNvSpPr>
          <p:nvPr/>
        </p:nvSpPr>
        <p:spPr>
          <a:xfrm>
            <a:off x="571500" y="5695950"/>
            <a:ext cx="5334000" cy="628650"/>
          </a:xfrm>
          <a:prstGeom prst="roundRect">
            <a:avLst>
              <a:gd name="adj" fmla="val 24242"/>
            </a:avLst>
          </a:prstGeom>
          <a:solidFill>
            <a:srgbClr val="E8EE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36" name="Rectangle : coins arrondis 35">
            <a:extLst>
              <a:ext uri="{FF2B5EF4-FFF2-40B4-BE49-F238E27FC236}">
                <a16:creationId xmlns:a16="http://schemas.microsoft.com/office/drawing/2014/main" id="{788D080F-3D07-40C9-9D29-0496E54EC3BA}"/>
              </a:ext>
            </a:extLst>
          </p:cNvPr>
          <p:cNvSpPr>
            <a:spLocks noGrp="1"/>
          </p:cNvSpPr>
          <p:nvPr/>
        </p:nvSpPr>
        <p:spPr>
          <a:xfrm>
            <a:off x="723900" y="5848350"/>
            <a:ext cx="1162050" cy="247650"/>
          </a:xfrm>
          <a:prstGeom prst="roundRect">
            <a:avLst>
              <a:gd name="adj" fmla="val 50000"/>
            </a:avLst>
          </a:prstGeom>
          <a:solidFill>
            <a:srgbClr val="2553D6"/>
          </a:solidFill>
          <a:ln w="0">
            <a:solidFill>
              <a:srgbClr val="2553D6"/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FD48B54-F9C2-4A1B-9921-B362B1070AA7}"/>
              </a:ext>
            </a:extLst>
          </p:cNvPr>
          <p:cNvSpPr>
            <a:spLocks noGrp="1"/>
          </p:cNvSpPr>
          <p:nvPr/>
        </p:nvSpPr>
        <p:spPr>
          <a:xfrm>
            <a:off x="723900" y="5848350"/>
            <a:ext cx="1162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00" b="1" dirty="0">
                <a:solidFill>
                  <a:srgbClr val="FFFFFF"/>
                </a:solidFill>
              </a:rPr>
              <a:t>BUILD STEP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967DFC5-3E2C-4EED-8AA2-B2F8010EDF4B}"/>
              </a:ext>
            </a:extLst>
          </p:cNvPr>
          <p:cNvSpPr>
            <a:spLocks noGrp="1"/>
          </p:cNvSpPr>
          <p:nvPr/>
        </p:nvSpPr>
        <p:spPr>
          <a:xfrm>
            <a:off x="723900" y="6210300"/>
            <a:ext cx="5029200" cy="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25000" lnSpcReduction="20000"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Edit files or add content.</a:t>
            </a:r>
          </a:p>
        </p:txBody>
      </p:sp>
      <p:sp>
        <p:nvSpPr>
          <p:cNvPr id="39" name="Rectangle : coins arrondis 38">
            <a:extLst>
              <a:ext uri="{FF2B5EF4-FFF2-40B4-BE49-F238E27FC236}">
                <a16:creationId xmlns:a16="http://schemas.microsoft.com/office/drawing/2014/main" id="{333EA040-D227-4331-A40F-7E80539CB847}"/>
              </a:ext>
            </a:extLst>
          </p:cNvPr>
          <p:cNvSpPr>
            <a:spLocks noGrp="1"/>
          </p:cNvSpPr>
          <p:nvPr/>
        </p:nvSpPr>
        <p:spPr>
          <a:xfrm>
            <a:off x="6191250" y="5695950"/>
            <a:ext cx="5334000" cy="628650"/>
          </a:xfrm>
          <a:prstGeom prst="roundRect">
            <a:avLst>
              <a:gd name="adj" fmla="val 24242"/>
            </a:avLst>
          </a:prstGeom>
          <a:solidFill>
            <a:srgbClr val="EBFBF1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40" name="Rectangle : coins arrondis 39">
            <a:extLst>
              <a:ext uri="{FF2B5EF4-FFF2-40B4-BE49-F238E27FC236}">
                <a16:creationId xmlns:a16="http://schemas.microsoft.com/office/drawing/2014/main" id="{65A3F535-F9D3-45DD-AC52-1EE39D8AF37D}"/>
              </a:ext>
            </a:extLst>
          </p:cNvPr>
          <p:cNvSpPr>
            <a:spLocks noGrp="1"/>
          </p:cNvSpPr>
          <p:nvPr/>
        </p:nvSpPr>
        <p:spPr>
          <a:xfrm>
            <a:off x="6343650" y="5848350"/>
            <a:ext cx="1162050" cy="247650"/>
          </a:xfrm>
          <a:prstGeom prst="roundRect">
            <a:avLst>
              <a:gd name="adj" fmla="val 50000"/>
            </a:avLst>
          </a:prstGeom>
          <a:solidFill>
            <a:srgbClr val="16803C"/>
          </a:solidFill>
          <a:ln w="0">
            <a:solidFill>
              <a:srgbClr val="1680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F9C6D8F-E013-4057-9E0D-4442FD7F3787}"/>
              </a:ext>
            </a:extLst>
          </p:cNvPr>
          <p:cNvSpPr>
            <a:spLocks noGrp="1"/>
          </p:cNvSpPr>
          <p:nvPr/>
        </p:nvSpPr>
        <p:spPr>
          <a:xfrm>
            <a:off x="6343650" y="5848350"/>
            <a:ext cx="1162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00" b="1" dirty="0">
                <a:solidFill>
                  <a:srgbClr val="FFFFFF"/>
                </a:solidFill>
              </a:rPr>
              <a:t>REFERENCE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7B95B93-EBE6-4410-812E-D54CB1D47896}"/>
              </a:ext>
            </a:extLst>
          </p:cNvPr>
          <p:cNvSpPr>
            <a:spLocks noGrp="1"/>
          </p:cNvSpPr>
          <p:nvPr/>
        </p:nvSpPr>
        <p:spPr>
          <a:xfrm>
            <a:off x="6343650" y="6210300"/>
            <a:ext cx="5029200" cy="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25000" lnSpcReduction="20000"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Understand what each JSON field does.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2584E1E-CB37-46C3-8DA1-02013B1285EE}"/>
              </a:ext>
            </a:extLst>
          </p:cNvPr>
          <p:cNvSpPr>
            <a:spLocks noGrp="1"/>
          </p:cNvSpPr>
          <p:nvPr/>
        </p:nvSpPr>
        <p:spPr>
          <a:xfrm>
            <a:off x="571500" y="6534150"/>
            <a:ext cx="3048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Data Hub guide - new vessel workflow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AB46CD4-5B26-4D59-A679-C746EB0F1195}"/>
              </a:ext>
            </a:extLst>
          </p:cNvPr>
          <p:cNvSpPr>
            <a:spLocks noGrp="1"/>
          </p:cNvSpPr>
          <p:nvPr/>
        </p:nvSpPr>
        <p:spPr>
          <a:xfrm>
            <a:off x="11144250" y="6496050"/>
            <a:ext cx="38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0063444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 : coins arrondis 24">
            <a:extLst>
              <a:ext uri="{FF2B5EF4-FFF2-40B4-BE49-F238E27FC236}">
                <a16:creationId xmlns:a16="http://schemas.microsoft.com/office/drawing/2014/main" id="{AFE50C17-62D4-484D-A632-1A7919578161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619250" cy="285750"/>
          </a:xfrm>
          <a:prstGeom prst="roundRect">
            <a:avLst>
              <a:gd name="adj" fmla="val 50000"/>
            </a:avLst>
          </a:prstGeom>
          <a:solidFill>
            <a:srgbClr val="2553D6"/>
          </a:solidFill>
          <a:ln w="0">
            <a:solidFill>
              <a:srgbClr val="2553D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CC6A4BC-555A-423F-9107-06A486DA516D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61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rmAutofit fontScale="90833" lnSpcReduction="20000"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BUILD STEP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CC83891-17D9-4294-8756-D5319311A9EC}"/>
              </a:ext>
            </a:extLst>
          </p:cNvPr>
          <p:cNvSpPr>
            <a:spLocks noGrp="1"/>
          </p:cNvSpPr>
          <p:nvPr/>
        </p:nvSpPr>
        <p:spPr>
          <a:xfrm>
            <a:off x="571500" y="762000"/>
            <a:ext cx="11049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000" b="1">
                <a:solidFill>
                  <a:srgbClr val="0F172A"/>
                </a:solidFill>
              </a:defRPr>
            </a:pPr>
            <a:r>
              <a:rPr sz="3000" b="1">
                <a:solidFill>
                  <a:srgbClr val="0F172A"/>
                </a:solidFill>
              </a:rPr>
              <a:t>Create the vessel folder before writing any code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5CD2C1D-0951-4E90-9057-1CE84894F697}"/>
              </a:ext>
            </a:extLst>
          </p:cNvPr>
          <p:cNvSpPr>
            <a:spLocks noGrp="1"/>
          </p:cNvSpPr>
          <p:nvPr/>
        </p:nvSpPr>
        <p:spPr>
          <a:xfrm>
            <a:off x="571500" y="11811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475569"/>
                </a:solidFill>
              </a:defRPr>
            </a:pPr>
            <a:r>
              <a:rPr sz="1350" b="0" dirty="0">
                <a:solidFill>
                  <a:srgbClr val="475569"/>
                </a:solidFill>
              </a:rPr>
              <a:t>Keep the main JSON file </a:t>
            </a:r>
            <a:r>
              <a:rPr lang="fr-FR" sz="1350" b="0" dirty="0">
                <a:solidFill>
                  <a:srgbClr val="475569"/>
                </a:solidFill>
              </a:rPr>
              <a:t>in the folder </a:t>
            </a:r>
            <a:r>
              <a:rPr lang="fr-FR" sz="1350" b="0" dirty="0" err="1">
                <a:solidFill>
                  <a:srgbClr val="475569"/>
                </a:solidFill>
              </a:rPr>
              <a:t>named</a:t>
            </a:r>
            <a:r>
              <a:rPr lang="fr-FR" sz="1350" b="0" dirty="0">
                <a:solidFill>
                  <a:srgbClr val="475569"/>
                </a:solidFill>
              </a:rPr>
              <a:t> JSON/ </a:t>
            </a:r>
            <a:r>
              <a:rPr sz="1350" b="0" dirty="0">
                <a:solidFill>
                  <a:srgbClr val="475569"/>
                </a:solidFill>
              </a:rPr>
              <a:t>and the raw sources </a:t>
            </a:r>
            <a:r>
              <a:rPr lang="fr-FR" sz="1350" b="0" dirty="0">
                <a:solidFill>
                  <a:srgbClr val="475569"/>
                </a:solidFill>
              </a:rPr>
              <a:t>in the folder </a:t>
            </a:r>
            <a:r>
              <a:rPr lang="fr-FR" sz="1350" b="0" dirty="0" err="1">
                <a:solidFill>
                  <a:srgbClr val="475569"/>
                </a:solidFill>
              </a:rPr>
              <a:t>named</a:t>
            </a:r>
            <a:r>
              <a:rPr lang="fr-FR" sz="1350" b="0" dirty="0">
                <a:solidFill>
                  <a:srgbClr val="475569"/>
                </a:solidFill>
              </a:rPr>
              <a:t> </a:t>
            </a:r>
            <a:r>
              <a:rPr lang="fr-FR" sz="1350" b="0" dirty="0" err="1">
                <a:solidFill>
                  <a:srgbClr val="475569"/>
                </a:solidFill>
              </a:rPr>
              <a:t>raw_DATA</a:t>
            </a:r>
            <a:r>
              <a:rPr sz="1350" b="0" dirty="0">
                <a:solidFill>
                  <a:srgbClr val="475569"/>
                </a:solidFill>
              </a:rPr>
              <a:t>.</a:t>
            </a: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A6E3304C-7A83-4066-99B6-A4B6863A6236}"/>
              </a:ext>
            </a:extLst>
          </p:cNvPr>
          <p:cNvSpPr>
            <a:spLocks noGrp="1"/>
          </p:cNvSpPr>
          <p:nvPr/>
        </p:nvSpPr>
        <p:spPr>
          <a:xfrm>
            <a:off x="571500" y="1790700"/>
            <a:ext cx="4953000" cy="4000500"/>
          </a:xfrm>
          <a:prstGeom prst="roundRect">
            <a:avLst>
              <a:gd name="adj" fmla="val 3810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9BCAA80-A151-4CBB-9BAA-7E4CD71E77CC}"/>
              </a:ext>
            </a:extLst>
          </p:cNvPr>
          <p:cNvSpPr>
            <a:spLocks noGrp="1"/>
          </p:cNvSpPr>
          <p:nvPr/>
        </p:nvSpPr>
        <p:spPr>
          <a:xfrm>
            <a:off x="762000" y="2466975"/>
            <a:ext cx="4610100" cy="3695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57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lang="fr-FR" sz="1575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575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Projects/</a:t>
            </a:r>
          </a:p>
          <a:p>
            <a:pPr algn="l">
              <a:defRPr sz="157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</a:t>
            </a:r>
            <a:r>
              <a:rPr lang="fr-FR" sz="1575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</a:t>
            </a:r>
            <a:r>
              <a:rPr lang="fr-FR" sz="1575" b="0" dirty="0" err="1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Example_projects</a:t>
            </a:r>
            <a:r>
              <a:rPr sz="1575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/</a:t>
            </a:r>
            <a:endParaRPr lang="fr-FR" sz="1575" dirty="0">
              <a:solidFill>
                <a:srgbClr val="E2E8F0"/>
              </a:solidFill>
              <a:latin typeface="Consolas"/>
              <a:ea typeface="Consolas"/>
              <a:cs typeface="Consolas"/>
            </a:endParaRPr>
          </a:p>
          <a:p>
            <a:pPr algn="l">
              <a:defRPr sz="157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lang="fr-FR" sz="1575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</a:t>
            </a:r>
            <a:r>
              <a:rPr lang="fr-FR" sz="1575" dirty="0" err="1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Vessel_name</a:t>
            </a:r>
            <a:r>
              <a:rPr sz="1575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/</a:t>
            </a:r>
          </a:p>
          <a:p>
            <a:pPr algn="l">
              <a:defRPr sz="157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lang="fr-FR" sz="1575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575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JSON/</a:t>
            </a:r>
          </a:p>
          <a:p>
            <a:pPr algn="l">
              <a:defRPr sz="157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    </a:t>
            </a:r>
            <a:r>
              <a:rPr lang="fr-FR" sz="1575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</a:t>
            </a:r>
            <a:r>
              <a:rPr lang="fr-FR" sz="1575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&gt;</a:t>
            </a:r>
            <a:r>
              <a:rPr lang="fr-FR" sz="1575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Example</a:t>
            </a:r>
            <a:r>
              <a:rPr sz="1575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575" b="0" dirty="0" err="1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json</a:t>
            </a:r>
            <a:endParaRPr sz="1575" b="0" dirty="0">
              <a:solidFill>
                <a:srgbClr val="E2E8F0"/>
              </a:solidFill>
              <a:latin typeface="Consolas"/>
              <a:ea typeface="Consolas"/>
              <a:cs typeface="Consolas"/>
            </a:endParaRPr>
          </a:p>
          <a:p>
            <a:pPr algn="l">
              <a:defRPr sz="157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 </a:t>
            </a:r>
            <a:r>
              <a:rPr lang="fr-FR" sz="1575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-</a:t>
            </a:r>
            <a:r>
              <a:rPr sz="1575" b="0" dirty="0" err="1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raw_DATA</a:t>
            </a:r>
            <a:r>
              <a:rPr sz="1575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/</a:t>
            </a:r>
          </a:p>
          <a:p>
            <a:pPr algn="l">
              <a:defRPr sz="157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   </a:t>
            </a:r>
            <a:r>
              <a:rPr lang="fr-FR" sz="1575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&gt;</a:t>
            </a:r>
            <a:r>
              <a:rPr lang="fr-FR" sz="1575" b="0" dirty="0" err="1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example</a:t>
            </a:r>
            <a:r>
              <a:rPr sz="1575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.pdf</a:t>
            </a:r>
          </a:p>
          <a:p>
            <a:pPr algn="l">
              <a:defRPr sz="157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   </a:t>
            </a:r>
            <a:r>
              <a:rPr lang="fr-FR" sz="1575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&gt;</a:t>
            </a:r>
            <a:r>
              <a:rPr sz="1575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raw_</a:t>
            </a:r>
            <a:r>
              <a:rPr lang="fr-FR" sz="1575" b="0" dirty="0" err="1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json_example</a:t>
            </a:r>
            <a:r>
              <a:rPr sz="1575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575" b="0" dirty="0" err="1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json</a:t>
            </a:r>
            <a:endParaRPr sz="1575" b="0" dirty="0">
              <a:solidFill>
                <a:srgbClr val="E2E8F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ACA3100B-9E6D-490D-ADF6-6A733D96122B}"/>
              </a:ext>
            </a:extLst>
          </p:cNvPr>
          <p:cNvSpPr>
            <a:spLocks noGrp="1"/>
          </p:cNvSpPr>
          <p:nvPr/>
        </p:nvSpPr>
        <p:spPr>
          <a:xfrm>
            <a:off x="5905500" y="1885950"/>
            <a:ext cx="5619750" cy="104775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C12208DE-FF9D-43A5-9E2F-6AA821BCDF9B}"/>
              </a:ext>
            </a:extLst>
          </p:cNvPr>
          <p:cNvSpPr>
            <a:spLocks noGrp="1"/>
          </p:cNvSpPr>
          <p:nvPr/>
        </p:nvSpPr>
        <p:spPr>
          <a:xfrm>
            <a:off x="6057900" y="2038350"/>
            <a:ext cx="1162050" cy="247650"/>
          </a:xfrm>
          <a:prstGeom prst="roundRect">
            <a:avLst>
              <a:gd name="adj" fmla="val 50000"/>
            </a:avLst>
          </a:prstGeom>
          <a:solidFill>
            <a:srgbClr val="2553D6"/>
          </a:solidFill>
          <a:ln w="0">
            <a:solidFill>
              <a:srgbClr val="2553D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32797E2-E17B-4B35-936C-85B1BDA8486F}"/>
              </a:ext>
            </a:extLst>
          </p:cNvPr>
          <p:cNvSpPr>
            <a:spLocks noGrp="1"/>
          </p:cNvSpPr>
          <p:nvPr/>
        </p:nvSpPr>
        <p:spPr>
          <a:xfrm>
            <a:off x="6057900" y="2038350"/>
            <a:ext cx="1162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rmAutofit fontScale="67024" lnSpcReduction="20000"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JSON/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04F7F3B-6D38-4A1D-A216-06D26E61CB68}"/>
              </a:ext>
            </a:extLst>
          </p:cNvPr>
          <p:cNvSpPr>
            <a:spLocks noGrp="1"/>
          </p:cNvSpPr>
          <p:nvPr/>
        </p:nvSpPr>
        <p:spPr>
          <a:xfrm>
            <a:off x="6057900" y="2400300"/>
            <a:ext cx="5314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Store the single main file read by the website. The Get Json button downloads this file.</a:t>
            </a: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F8936414-154B-43E6-B142-D5AC593C796D}"/>
              </a:ext>
            </a:extLst>
          </p:cNvPr>
          <p:cNvSpPr>
            <a:spLocks noGrp="1"/>
          </p:cNvSpPr>
          <p:nvPr/>
        </p:nvSpPr>
        <p:spPr>
          <a:xfrm>
            <a:off x="5905500" y="3181350"/>
            <a:ext cx="5619750" cy="104775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12" name="Rectangle : coins arrondis 11">
            <a:extLst>
              <a:ext uri="{FF2B5EF4-FFF2-40B4-BE49-F238E27FC236}">
                <a16:creationId xmlns:a16="http://schemas.microsoft.com/office/drawing/2014/main" id="{3BC44147-7AF9-4441-967F-2A136CBC09F1}"/>
              </a:ext>
            </a:extLst>
          </p:cNvPr>
          <p:cNvSpPr>
            <a:spLocks noGrp="1"/>
          </p:cNvSpPr>
          <p:nvPr/>
        </p:nvSpPr>
        <p:spPr>
          <a:xfrm>
            <a:off x="6057900" y="3333750"/>
            <a:ext cx="1162050" cy="24765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 w="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1430B02-87D4-4758-852E-75D9C9D9E272}"/>
              </a:ext>
            </a:extLst>
          </p:cNvPr>
          <p:cNvSpPr>
            <a:spLocks noGrp="1"/>
          </p:cNvSpPr>
          <p:nvPr/>
        </p:nvSpPr>
        <p:spPr>
          <a:xfrm>
            <a:off x="6057900" y="3333750"/>
            <a:ext cx="1162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rmAutofit fontScale="67024" lnSpcReduction="20000"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raw_DATA/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C96A87F-B2D5-4FD3-9256-880DDDBD7DAF}"/>
              </a:ext>
            </a:extLst>
          </p:cNvPr>
          <p:cNvSpPr>
            <a:spLocks noGrp="1"/>
          </p:cNvSpPr>
          <p:nvPr/>
        </p:nvSpPr>
        <p:spPr>
          <a:xfrm>
            <a:off x="6057900" y="3695700"/>
            <a:ext cx="5314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Store the original sources used by Link: PDF, GPS JSON, CSV, or any other raw file.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B0C48F79-4B65-429F-81D9-ADAA513C6960}"/>
              </a:ext>
            </a:extLst>
          </p:cNvPr>
          <p:cNvSpPr>
            <a:spLocks noGrp="1"/>
          </p:cNvSpPr>
          <p:nvPr/>
        </p:nvSpPr>
        <p:spPr>
          <a:xfrm>
            <a:off x="5905500" y="4476750"/>
            <a:ext cx="5619750" cy="104775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FDF41788-DFEB-4281-BBD3-EC1E21DE0369}"/>
              </a:ext>
            </a:extLst>
          </p:cNvPr>
          <p:cNvSpPr>
            <a:spLocks noGrp="1"/>
          </p:cNvSpPr>
          <p:nvPr/>
        </p:nvSpPr>
        <p:spPr>
          <a:xfrm>
            <a:off x="6057900" y="4629150"/>
            <a:ext cx="1162050" cy="247650"/>
          </a:xfrm>
          <a:prstGeom prst="roundRect">
            <a:avLst>
              <a:gd name="adj" fmla="val 50000"/>
            </a:avLst>
          </a:prstGeom>
          <a:solidFill>
            <a:srgbClr val="16803C"/>
          </a:solidFill>
          <a:ln w="0">
            <a:solidFill>
              <a:srgbClr val="1680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9BD6678-E5BF-4361-8453-B571CFE9A340}"/>
              </a:ext>
            </a:extLst>
          </p:cNvPr>
          <p:cNvSpPr>
            <a:spLocks noGrp="1"/>
          </p:cNvSpPr>
          <p:nvPr/>
        </p:nvSpPr>
        <p:spPr>
          <a:xfrm>
            <a:off x="6057900" y="4629150"/>
            <a:ext cx="1162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rmAutofit fontScale="67024" lnSpcReduction="20000"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Why this comes first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72EDF83-16B2-4506-A94B-ECBF9C12F26E}"/>
              </a:ext>
            </a:extLst>
          </p:cNvPr>
          <p:cNvSpPr>
            <a:spLocks noGrp="1"/>
          </p:cNvSpPr>
          <p:nvPr/>
        </p:nvSpPr>
        <p:spPr>
          <a:xfrm>
            <a:off x="6057900" y="4991100"/>
            <a:ext cx="5314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The folder structure decides every path used later in project-config.js, in the JSON file, and in the dashboard image path.</a:t>
            </a:r>
          </a:p>
        </p:txBody>
      </p:sp>
      <p:sp>
        <p:nvSpPr>
          <p:cNvPr id="19" name="Rectangle : coins arrondis 18">
            <a:extLst>
              <a:ext uri="{FF2B5EF4-FFF2-40B4-BE49-F238E27FC236}">
                <a16:creationId xmlns:a16="http://schemas.microsoft.com/office/drawing/2014/main" id="{A016685E-F5DC-4FE1-8D13-75383F54F207}"/>
              </a:ext>
            </a:extLst>
          </p:cNvPr>
          <p:cNvSpPr>
            <a:spLocks noGrp="1"/>
          </p:cNvSpPr>
          <p:nvPr/>
        </p:nvSpPr>
        <p:spPr>
          <a:xfrm>
            <a:off x="5905500" y="5715000"/>
            <a:ext cx="5619750" cy="495300"/>
          </a:xfrm>
          <a:prstGeom prst="roundRect">
            <a:avLst>
              <a:gd name="adj" fmla="val 30769"/>
            </a:avLst>
          </a:prstGeom>
          <a:solidFill>
            <a:srgbClr val="EBFBF1"/>
          </a:solidFill>
          <a:ln w="9525">
            <a:solidFill>
              <a:srgbClr val="A7F3D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9118606-88EE-44F2-86D6-0157B29BAA81}"/>
              </a:ext>
            </a:extLst>
          </p:cNvPr>
          <p:cNvSpPr>
            <a:spLocks noGrp="1"/>
          </p:cNvSpPr>
          <p:nvPr/>
        </p:nvSpPr>
        <p:spPr>
          <a:xfrm>
            <a:off x="6057900" y="584835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rmAutofit fontScale="55119" lnSpcReduction="20000"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endParaRPr sz="1050" b="1" dirty="0">
              <a:solidFill>
                <a:srgbClr val="FFFFFF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A123B1B-AD70-4D45-B7FF-8559F0553B9D}"/>
              </a:ext>
            </a:extLst>
          </p:cNvPr>
          <p:cNvSpPr>
            <a:spLocks noGrp="1"/>
          </p:cNvSpPr>
          <p:nvPr/>
        </p:nvSpPr>
        <p:spPr>
          <a:xfrm>
            <a:off x="6457950" y="5865114"/>
            <a:ext cx="48006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1E293B"/>
                </a:solidFill>
              </a:defRPr>
            </a:pPr>
            <a:r>
              <a:rPr sz="1200" b="0" dirty="0">
                <a:solidFill>
                  <a:srgbClr val="1E293B"/>
                </a:solidFill>
              </a:rPr>
              <a:t>Simple rule: create the folder once, then keep every file inside it.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1CD4AF2-A1BD-4C1C-9101-833400F0755C}"/>
              </a:ext>
            </a:extLst>
          </p:cNvPr>
          <p:cNvSpPr>
            <a:spLocks noGrp="1"/>
          </p:cNvSpPr>
          <p:nvPr/>
        </p:nvSpPr>
        <p:spPr>
          <a:xfrm>
            <a:off x="571500" y="6534150"/>
            <a:ext cx="3048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Data Hub guide - new vessel workflow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0F43C3E-F5DE-4AB1-92AC-D8D6A73E9289}"/>
              </a:ext>
            </a:extLst>
          </p:cNvPr>
          <p:cNvSpPr>
            <a:spLocks noGrp="1"/>
          </p:cNvSpPr>
          <p:nvPr/>
        </p:nvSpPr>
        <p:spPr>
          <a:xfrm>
            <a:off x="11144250" y="6496050"/>
            <a:ext cx="38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547912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47F0FDB1-D833-4921-B0F8-F2D5EF8F5AC6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619250" cy="285750"/>
          </a:xfrm>
          <a:prstGeom prst="roundRect">
            <a:avLst>
              <a:gd name="adj" fmla="val 50000"/>
            </a:avLst>
          </a:prstGeom>
          <a:solidFill>
            <a:srgbClr val="2553D6"/>
          </a:solidFill>
          <a:ln w="0">
            <a:solidFill>
              <a:srgbClr val="2553D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C99E832-4CFC-447C-8A70-70C9F77EFD19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61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rmAutofit fontScale="90833" lnSpcReduction="20000"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BUILD STEP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3A1602C-F9D2-4284-921B-1E2B9074D947}"/>
              </a:ext>
            </a:extLst>
          </p:cNvPr>
          <p:cNvSpPr>
            <a:spLocks noGrp="1"/>
          </p:cNvSpPr>
          <p:nvPr/>
        </p:nvSpPr>
        <p:spPr>
          <a:xfrm>
            <a:off x="571500" y="762000"/>
            <a:ext cx="11049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000" b="1">
                <a:solidFill>
                  <a:srgbClr val="0F172A"/>
                </a:solidFill>
              </a:defRPr>
            </a:pPr>
            <a:r>
              <a:rPr sz="3000" b="1" dirty="0">
                <a:solidFill>
                  <a:srgbClr val="0F172A"/>
                </a:solidFill>
              </a:rPr>
              <a:t>Create the dashboard block and add the image</a:t>
            </a:r>
            <a:r>
              <a:rPr lang="fr-FR" sz="3000" b="1" dirty="0">
                <a:solidFill>
                  <a:srgbClr val="0F172A"/>
                </a:solidFill>
              </a:rPr>
              <a:t> – /Blocs</a:t>
            </a:r>
            <a:endParaRPr sz="3000" b="1" dirty="0">
              <a:solidFill>
                <a:srgbClr val="0F172A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92189A4-5477-4846-84C5-4F63A344F30D}"/>
              </a:ext>
            </a:extLst>
          </p:cNvPr>
          <p:cNvSpPr>
            <a:spLocks noGrp="1"/>
          </p:cNvSpPr>
          <p:nvPr/>
        </p:nvSpPr>
        <p:spPr>
          <a:xfrm>
            <a:off x="571500" y="11811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475569"/>
                </a:solidFill>
              </a:defRPr>
            </a:pPr>
            <a:r>
              <a:rPr sz="1350" b="0" dirty="0">
                <a:solidFill>
                  <a:srgbClr val="475569"/>
                </a:solidFill>
              </a:rPr>
              <a:t>This is where the project becomes visible on the home page.</a:t>
            </a:r>
            <a:r>
              <a:rPr lang="fr-FR" sz="1350" b="0" dirty="0">
                <a:solidFill>
                  <a:srgbClr val="475569"/>
                </a:solidFill>
              </a:rPr>
              <a:t> </a:t>
            </a:r>
            <a:r>
              <a:rPr lang="fr-FR" sz="1350" b="0" dirty="0" err="1">
                <a:solidFill>
                  <a:srgbClr val="475569"/>
                </a:solidFill>
              </a:rPr>
              <a:t>Create</a:t>
            </a:r>
            <a:r>
              <a:rPr lang="fr-FR" sz="1350" b="0" dirty="0">
                <a:solidFill>
                  <a:srgbClr val="475569"/>
                </a:solidFill>
              </a:rPr>
              <a:t> a new file for the </a:t>
            </a:r>
            <a:r>
              <a:rPr lang="fr-FR" sz="1350" b="0" dirty="0" err="1">
                <a:solidFill>
                  <a:srgbClr val="475569"/>
                </a:solidFill>
              </a:rPr>
              <a:t>project</a:t>
            </a:r>
            <a:r>
              <a:rPr lang="fr-FR" sz="1350" b="0" dirty="0">
                <a:solidFill>
                  <a:srgbClr val="475569"/>
                </a:solidFill>
              </a:rPr>
              <a:t> (ex: Exemple_blocs.html)</a:t>
            </a:r>
            <a:endParaRPr sz="1350" b="0" dirty="0">
              <a:solidFill>
                <a:srgbClr val="475569"/>
              </a:solidFill>
            </a:endParaRP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11D24884-F6A8-4650-AC32-B3C1A7100F77}"/>
              </a:ext>
            </a:extLst>
          </p:cNvPr>
          <p:cNvSpPr>
            <a:spLocks noGrp="1"/>
          </p:cNvSpPr>
          <p:nvPr/>
        </p:nvSpPr>
        <p:spPr>
          <a:xfrm>
            <a:off x="571500" y="1790700"/>
            <a:ext cx="4762500" cy="3638550"/>
          </a:xfrm>
          <a:prstGeom prst="roundRect">
            <a:avLst>
              <a:gd name="adj" fmla="val 418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C9402CB-2538-497D-883E-711E0006D291}"/>
              </a:ext>
            </a:extLst>
          </p:cNvPr>
          <p:cNvSpPr>
            <a:spLocks noGrp="1"/>
          </p:cNvSpPr>
          <p:nvPr/>
        </p:nvSpPr>
        <p:spPr>
          <a:xfrm>
            <a:off x="742950" y="1943100"/>
            <a:ext cx="4419600" cy="3333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5943" lnSpcReduction="10000"/>
          </a:bodyPr>
          <a:lstStyle/>
          <a:p>
            <a:pPr algn="l">
              <a:defRPr sz="120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200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&lt;section class="project-card"&gt;</a:t>
            </a:r>
          </a:p>
          <a:p>
            <a:pPr algn="l">
              <a:defRPr sz="120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200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&lt;h2&gt;</a:t>
            </a:r>
            <a:r>
              <a:rPr lang="fr-FR" sz="1200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EXAMPLE</a:t>
            </a:r>
            <a:r>
              <a:rPr sz="1200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&lt;/h2&gt;</a:t>
            </a:r>
          </a:p>
          <a:p>
            <a:pPr algn="l">
              <a:defRPr sz="120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200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&lt;p class="project-description"&gt;</a:t>
            </a:r>
          </a:p>
          <a:p>
            <a:pPr algn="l">
              <a:defRPr sz="120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200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Short project description</a:t>
            </a:r>
          </a:p>
          <a:p>
            <a:pPr algn="l">
              <a:defRPr sz="120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200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&lt;/p&gt;</a:t>
            </a:r>
          </a:p>
          <a:p>
            <a:endParaRPr sz="1200" b="0" dirty="0">
              <a:solidFill>
                <a:srgbClr val="E2E8F0"/>
              </a:solidFill>
              <a:latin typeface="Consolas"/>
              <a:ea typeface="Consolas"/>
              <a:cs typeface="Consolas"/>
            </a:endParaRPr>
          </a:p>
          <a:p>
            <a:pPr algn="l">
              <a:defRPr sz="120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200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&lt;div class="project-card-content"&gt;</a:t>
            </a:r>
          </a:p>
          <a:p>
            <a:pPr algn="l">
              <a:defRPr sz="120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200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&lt;div class="project-image-box"&gt;</a:t>
            </a:r>
          </a:p>
          <a:p>
            <a:pPr algn="l">
              <a:defRPr sz="120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200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&lt;</a:t>
            </a:r>
            <a:r>
              <a:rPr sz="1200" b="0" dirty="0" err="1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img</a:t>
            </a:r>
            <a:r>
              <a:rPr sz="1200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00" b="0" dirty="0" err="1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src</a:t>
            </a:r>
            <a:r>
              <a:rPr sz="1200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="Image/</a:t>
            </a:r>
            <a:r>
              <a:rPr lang="fr-FR" sz="1200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EXAMPLE</a:t>
            </a:r>
            <a:r>
              <a:rPr sz="1200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/</a:t>
            </a:r>
            <a:r>
              <a:rPr lang="fr-FR" sz="1200" b="0" dirty="0" err="1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example</a:t>
            </a:r>
            <a:r>
              <a:rPr sz="1200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.png" alt="</a:t>
            </a:r>
            <a:r>
              <a:rPr lang="fr-FR" sz="1200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EXAMPLE</a:t>
            </a:r>
            <a:r>
              <a:rPr sz="1200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image"&gt;</a:t>
            </a:r>
          </a:p>
          <a:p>
            <a:pPr algn="l">
              <a:defRPr sz="120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200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&lt;/div&gt;</a:t>
            </a:r>
          </a:p>
          <a:p>
            <a:endParaRPr sz="1200" b="0" dirty="0">
              <a:solidFill>
                <a:srgbClr val="E2E8F0"/>
              </a:solidFill>
              <a:latin typeface="Consolas"/>
              <a:ea typeface="Consolas"/>
              <a:cs typeface="Consolas"/>
            </a:endParaRPr>
          </a:p>
          <a:p>
            <a:pPr algn="l">
              <a:defRPr sz="120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200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&lt;div class="project-vessels"&gt;</a:t>
            </a:r>
          </a:p>
          <a:p>
            <a:pPr algn="l">
              <a:defRPr sz="120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200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&lt;h3&gt;Vessels&lt;/h3&gt;</a:t>
            </a:r>
          </a:p>
          <a:p>
            <a:pPr algn="l">
              <a:defRPr sz="120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200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&lt;div </a:t>
            </a:r>
            <a:r>
              <a:rPr sz="1200" b="0" dirty="0">
                <a:solidFill>
                  <a:srgbClr val="E2E8F0"/>
                </a:solidFill>
                <a:highlight>
                  <a:srgbClr val="FF0000"/>
                </a:highlight>
                <a:latin typeface="Consolas"/>
                <a:ea typeface="Consolas"/>
                <a:cs typeface="Consolas"/>
              </a:rPr>
              <a:t>id="</a:t>
            </a:r>
            <a:r>
              <a:rPr lang="fr-FR" sz="1200" b="0" dirty="0" err="1">
                <a:solidFill>
                  <a:srgbClr val="E2E8F0"/>
                </a:solidFill>
                <a:highlight>
                  <a:srgbClr val="FF0000"/>
                </a:highlight>
                <a:latin typeface="Consolas"/>
                <a:ea typeface="Consolas"/>
                <a:cs typeface="Consolas"/>
              </a:rPr>
              <a:t>example</a:t>
            </a:r>
            <a:r>
              <a:rPr sz="1200" b="0" dirty="0">
                <a:solidFill>
                  <a:srgbClr val="E2E8F0"/>
                </a:solidFill>
                <a:highlight>
                  <a:srgbClr val="FF0000"/>
                </a:highlight>
                <a:latin typeface="Consolas"/>
                <a:ea typeface="Consolas"/>
                <a:cs typeface="Consolas"/>
              </a:rPr>
              <a:t>-vessel-links" </a:t>
            </a:r>
            <a:r>
              <a:rPr sz="1200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class="vessel-link-list"&gt;&lt;/div&gt;</a:t>
            </a:r>
          </a:p>
          <a:p>
            <a:pPr algn="l">
              <a:defRPr sz="120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200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&lt;/div&gt;</a:t>
            </a:r>
          </a:p>
          <a:p>
            <a:pPr algn="l">
              <a:defRPr sz="120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200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&lt;/div&gt;</a:t>
            </a:r>
          </a:p>
          <a:p>
            <a:pPr algn="l">
              <a:defRPr sz="120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200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&lt;/section&gt;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C3881132-3D0C-4323-975E-6116254F0F55}"/>
              </a:ext>
            </a:extLst>
          </p:cNvPr>
          <p:cNvSpPr>
            <a:spLocks noGrp="1"/>
          </p:cNvSpPr>
          <p:nvPr/>
        </p:nvSpPr>
        <p:spPr>
          <a:xfrm>
            <a:off x="5619750" y="1790700"/>
            <a:ext cx="5905500" cy="2647950"/>
          </a:xfrm>
          <a:prstGeom prst="roundRect">
            <a:avLst>
              <a:gd name="adj" fmla="val 57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pic>
        <p:nvPicPr>
          <p:cNvPr id="30" name="Image 29"/>
          <p:cNvPicPr>
            <a:picLocks noChangeAspect="1"/>
          </p:cNvPicPr>
          <p:nvPr/>
        </p:nvPicPr>
        <p:blipFill>
          <a:blip r:embed="rId3"/>
          <a:srcRect t="13166" b="13166"/>
          <a:stretch>
            <a:fillRect/>
          </a:stretch>
        </p:blipFill>
        <p:spPr>
          <a:xfrm>
            <a:off x="5791200" y="1962150"/>
            <a:ext cx="5562600" cy="2305050"/>
          </a:xfrm>
          <a:prstGeom prst="roundRect">
            <a:avLst>
              <a:gd name="adj" fmla="val 6612"/>
            </a:avLst>
          </a:prstGeom>
        </p:spPr>
      </p:pic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2019CEAB-9B41-465E-92CF-5D3657F36913}"/>
              </a:ext>
            </a:extLst>
          </p:cNvPr>
          <p:cNvSpPr>
            <a:spLocks noGrp="1"/>
          </p:cNvSpPr>
          <p:nvPr/>
        </p:nvSpPr>
        <p:spPr>
          <a:xfrm>
            <a:off x="5619750" y="4686300"/>
            <a:ext cx="2762250" cy="10668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1D9508BB-F096-4318-82D9-5F3B949547E2}"/>
              </a:ext>
            </a:extLst>
          </p:cNvPr>
          <p:cNvSpPr>
            <a:spLocks noGrp="1"/>
          </p:cNvSpPr>
          <p:nvPr/>
        </p:nvSpPr>
        <p:spPr>
          <a:xfrm>
            <a:off x="5772150" y="4838700"/>
            <a:ext cx="1162050" cy="247650"/>
          </a:xfrm>
          <a:prstGeom prst="roundRect">
            <a:avLst>
              <a:gd name="adj" fmla="val 50000"/>
            </a:avLst>
          </a:prstGeom>
          <a:solidFill>
            <a:srgbClr val="2553D6"/>
          </a:solidFill>
          <a:ln w="0">
            <a:solidFill>
              <a:srgbClr val="2553D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C5DCA1B-EE01-4494-88F3-9ACF2A21A4CC}"/>
              </a:ext>
            </a:extLst>
          </p:cNvPr>
          <p:cNvSpPr>
            <a:spLocks noGrp="1"/>
          </p:cNvSpPr>
          <p:nvPr/>
        </p:nvSpPr>
        <p:spPr>
          <a:xfrm>
            <a:off x="5772150" y="4838700"/>
            <a:ext cx="1162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rmAutofit fontScale="67024" lnSpcReduction="20000"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HTML text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4DD6274-90E1-4345-9445-B861327A4AC8}"/>
              </a:ext>
            </a:extLst>
          </p:cNvPr>
          <p:cNvSpPr>
            <a:spLocks noGrp="1"/>
          </p:cNvSpPr>
          <p:nvPr/>
        </p:nvSpPr>
        <p:spPr>
          <a:xfrm>
            <a:off x="5772150" y="5200650"/>
            <a:ext cx="24574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Write the title and the project description directly in the block file.</a:t>
            </a:r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50DC2DC2-911D-4496-8A52-FFB6F7CF9279}"/>
              </a:ext>
            </a:extLst>
          </p:cNvPr>
          <p:cNvSpPr>
            <a:spLocks noGrp="1"/>
          </p:cNvSpPr>
          <p:nvPr/>
        </p:nvSpPr>
        <p:spPr>
          <a:xfrm>
            <a:off x="8763000" y="4686300"/>
            <a:ext cx="2762250" cy="10668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14" name="Rectangle : coins arrondis 13">
            <a:extLst>
              <a:ext uri="{FF2B5EF4-FFF2-40B4-BE49-F238E27FC236}">
                <a16:creationId xmlns:a16="http://schemas.microsoft.com/office/drawing/2014/main" id="{C7AE5124-7436-464F-BBEF-3116B7448084}"/>
              </a:ext>
            </a:extLst>
          </p:cNvPr>
          <p:cNvSpPr>
            <a:spLocks noGrp="1"/>
          </p:cNvSpPr>
          <p:nvPr/>
        </p:nvSpPr>
        <p:spPr>
          <a:xfrm>
            <a:off x="8915400" y="4838700"/>
            <a:ext cx="1162050" cy="2476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 w="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03CA8B8-7445-46C1-92D7-D1EF91810C59}"/>
              </a:ext>
            </a:extLst>
          </p:cNvPr>
          <p:cNvSpPr>
            <a:spLocks noGrp="1"/>
          </p:cNvSpPr>
          <p:nvPr/>
        </p:nvSpPr>
        <p:spPr>
          <a:xfrm>
            <a:off x="8915400" y="4838700"/>
            <a:ext cx="1162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rmAutofit fontScale="67024" lnSpcReduction="20000"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Image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5122CE9-8D7B-46DB-BB46-E9E5E2CA981B}"/>
              </a:ext>
            </a:extLst>
          </p:cNvPr>
          <p:cNvSpPr>
            <a:spLocks noGrp="1"/>
          </p:cNvSpPr>
          <p:nvPr/>
        </p:nvSpPr>
        <p:spPr>
          <a:xfrm>
            <a:off x="8915400" y="5200650"/>
            <a:ext cx="24574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8372" lnSpcReduction="20000"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Point the img tag to Image/... The shared CSS keeps the image centered and fixed in size.</a:t>
            </a:r>
          </a:p>
        </p:txBody>
      </p:sp>
      <p:sp>
        <p:nvSpPr>
          <p:cNvPr id="17" name="Rectangle : coins arrondis 16">
            <a:extLst>
              <a:ext uri="{FF2B5EF4-FFF2-40B4-BE49-F238E27FC236}">
                <a16:creationId xmlns:a16="http://schemas.microsoft.com/office/drawing/2014/main" id="{965A4750-C098-4BD6-9F5A-99E3DE32C80B}"/>
              </a:ext>
            </a:extLst>
          </p:cNvPr>
          <p:cNvSpPr>
            <a:spLocks noGrp="1"/>
          </p:cNvSpPr>
          <p:nvPr/>
        </p:nvSpPr>
        <p:spPr>
          <a:xfrm>
            <a:off x="381000" y="5962650"/>
            <a:ext cx="5796204" cy="533400"/>
          </a:xfrm>
          <a:prstGeom prst="roundRect">
            <a:avLst>
              <a:gd name="adj" fmla="val 28571"/>
            </a:avLst>
          </a:prstGeom>
          <a:solidFill>
            <a:srgbClr val="EBFBF1"/>
          </a:solidFill>
          <a:ln w="9525">
            <a:solidFill>
              <a:srgbClr val="A7F3D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F6CAC30-53C5-47FE-9A71-4BA4A636FB1A}"/>
              </a:ext>
            </a:extLst>
          </p:cNvPr>
          <p:cNvSpPr>
            <a:spLocks noGrp="1"/>
          </p:cNvSpPr>
          <p:nvPr/>
        </p:nvSpPr>
        <p:spPr>
          <a:xfrm>
            <a:off x="723900" y="5829300"/>
            <a:ext cx="400412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rmAutofit fontScale="55119" lnSpcReduction="20000"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endParaRPr sz="1050" b="1" dirty="0">
              <a:solidFill>
                <a:srgbClr val="FFFFFF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9294527-1DE9-409F-AEAA-1E780958F687}"/>
              </a:ext>
            </a:extLst>
          </p:cNvPr>
          <p:cNvSpPr>
            <a:spLocks noGrp="1"/>
          </p:cNvSpPr>
          <p:nvPr/>
        </p:nvSpPr>
        <p:spPr>
          <a:xfrm>
            <a:off x="550545" y="6129528"/>
            <a:ext cx="553021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1E293B"/>
                </a:solidFill>
              </a:defRPr>
            </a:pPr>
            <a:r>
              <a:rPr sz="1200" b="0" dirty="0">
                <a:solidFill>
                  <a:srgbClr val="1E293B"/>
                </a:solidFill>
              </a:rPr>
              <a:t>Important: the vessel link list stays empty in HTML. JavaScript fills it automatically later.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5B0F003-D2DB-4DE3-9FDF-D7F97E90A4D4}"/>
              </a:ext>
            </a:extLst>
          </p:cNvPr>
          <p:cNvSpPr>
            <a:spLocks noGrp="1"/>
          </p:cNvSpPr>
          <p:nvPr/>
        </p:nvSpPr>
        <p:spPr>
          <a:xfrm>
            <a:off x="571500" y="6534150"/>
            <a:ext cx="3048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Data Hub guide - new vessel workflow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D9842DA-52E5-483A-93C2-ACF4F076E614}"/>
              </a:ext>
            </a:extLst>
          </p:cNvPr>
          <p:cNvSpPr>
            <a:spLocks noGrp="1"/>
          </p:cNvSpPr>
          <p:nvPr/>
        </p:nvSpPr>
        <p:spPr>
          <a:xfrm>
            <a:off x="11144250" y="6496050"/>
            <a:ext cx="38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4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C6CB9AE-8E77-1181-EC12-5C3F314C83A7}"/>
              </a:ext>
            </a:extLst>
          </p:cNvPr>
          <p:cNvSpPr/>
          <p:nvPr/>
        </p:nvSpPr>
        <p:spPr>
          <a:xfrm>
            <a:off x="723900" y="2852928"/>
            <a:ext cx="4438650" cy="1024128"/>
          </a:xfrm>
          <a:prstGeom prst="rect">
            <a:avLst/>
          </a:pr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65813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 : coins arrondis 20">
            <a:extLst>
              <a:ext uri="{FF2B5EF4-FFF2-40B4-BE49-F238E27FC236}">
                <a16:creationId xmlns:a16="http://schemas.microsoft.com/office/drawing/2014/main" id="{803A1596-35C3-693D-B776-BC8F38AFB1C1}"/>
              </a:ext>
            </a:extLst>
          </p:cNvPr>
          <p:cNvSpPr/>
          <p:nvPr/>
        </p:nvSpPr>
        <p:spPr>
          <a:xfrm>
            <a:off x="571500" y="361946"/>
            <a:ext cx="1619246" cy="285750"/>
          </a:xfrm>
          <a:custGeom>
            <a:avLst/>
            <a:gdLst>
              <a:gd name="f0" fmla="val 10800000"/>
              <a:gd name="f1" fmla="val 5400000"/>
              <a:gd name="f2" fmla="val 16200000"/>
              <a:gd name="f3" fmla="val w"/>
              <a:gd name="f4" fmla="val h"/>
              <a:gd name="f5" fmla="val ss"/>
              <a:gd name="f6" fmla="val 0"/>
              <a:gd name="f7" fmla="*/ 5419351 1 1725033"/>
              <a:gd name="f8" fmla="val 45"/>
              <a:gd name="f9" fmla="val 10800"/>
              <a:gd name="f10" fmla="abs f3"/>
              <a:gd name="f11" fmla="abs f4"/>
              <a:gd name="f12" fmla="abs f5"/>
              <a:gd name="f13" fmla="*/ f7 1 180"/>
              <a:gd name="f14" fmla="+- 0 0 f1"/>
              <a:gd name="f15" fmla="+- f6 f9 0"/>
              <a:gd name="f16" fmla="?: f10 f3 1"/>
              <a:gd name="f17" fmla="?: f11 f4 1"/>
              <a:gd name="f18" fmla="?: f12 f5 1"/>
              <a:gd name="f19" fmla="*/ f8 f13 1"/>
              <a:gd name="f20" fmla="+- f6 0 f15"/>
              <a:gd name="f21" fmla="+- f15 0 f6"/>
              <a:gd name="f22" fmla="*/ f16 1 21600"/>
              <a:gd name="f23" fmla="*/ f17 1 21600"/>
              <a:gd name="f24" fmla="*/ 21600 f16 1"/>
              <a:gd name="f25" fmla="*/ 21600 f17 1"/>
              <a:gd name="f26" fmla="+- 0 0 f19"/>
              <a:gd name="f27" fmla="abs f20"/>
              <a:gd name="f28" fmla="abs f21"/>
              <a:gd name="f29" fmla="?: f20 f14 f1"/>
              <a:gd name="f30" fmla="?: f20 f1 f14"/>
              <a:gd name="f31" fmla="?: f20 f2 f1"/>
              <a:gd name="f32" fmla="?: f20 f1 f2"/>
              <a:gd name="f33" fmla="?: f21 f14 f1"/>
              <a:gd name="f34" fmla="?: f21 f1 f14"/>
              <a:gd name="f35" fmla="?: f20 0 f0"/>
              <a:gd name="f36" fmla="?: f20 f0 0"/>
              <a:gd name="f37" fmla="min f23 f22"/>
              <a:gd name="f38" fmla="*/ f24 1 f18"/>
              <a:gd name="f39" fmla="*/ f25 1 f18"/>
              <a:gd name="f40" fmla="*/ f26 f0 1"/>
              <a:gd name="f41" fmla="?: f20 f32 f31"/>
              <a:gd name="f42" fmla="?: f20 f31 f32"/>
              <a:gd name="f43" fmla="?: f21 f30 f29"/>
              <a:gd name="f44" fmla="val f38"/>
              <a:gd name="f45" fmla="val f39"/>
              <a:gd name="f46" fmla="*/ f40 1 f7"/>
              <a:gd name="f47" fmla="?: f21 f42 f41"/>
              <a:gd name="f48" fmla="*/ f15 f37 1"/>
              <a:gd name="f49" fmla="*/ f6 f37 1"/>
              <a:gd name="f50" fmla="*/ f27 f37 1"/>
              <a:gd name="f51" fmla="*/ f28 f37 1"/>
              <a:gd name="f52" fmla="+- f45 0 f9"/>
              <a:gd name="f53" fmla="+- f44 0 f9"/>
              <a:gd name="f54" fmla="+- f46 0 f1"/>
              <a:gd name="f55" fmla="*/ f45 f37 1"/>
              <a:gd name="f56" fmla="*/ f44 f37 1"/>
              <a:gd name="f57" fmla="+- f45 0 f52"/>
              <a:gd name="f58" fmla="+- f44 0 f53"/>
              <a:gd name="f59" fmla="+- f52 0 f45"/>
              <a:gd name="f60" fmla="+- f53 0 f44"/>
              <a:gd name="f61" fmla="+- f54 f1 0"/>
              <a:gd name="f62" fmla="*/ f52 f37 1"/>
              <a:gd name="f63" fmla="*/ f53 f37 1"/>
              <a:gd name="f64" fmla="abs f57"/>
              <a:gd name="f65" fmla="?: f57 0 f0"/>
              <a:gd name="f66" fmla="?: f57 f0 0"/>
              <a:gd name="f67" fmla="?: f57 f33 f34"/>
              <a:gd name="f68" fmla="abs f58"/>
              <a:gd name="f69" fmla="abs f59"/>
              <a:gd name="f70" fmla="?: f58 f14 f1"/>
              <a:gd name="f71" fmla="?: f58 f1 f14"/>
              <a:gd name="f72" fmla="?: f58 f2 f1"/>
              <a:gd name="f73" fmla="?: f58 f1 f2"/>
              <a:gd name="f74" fmla="abs f60"/>
              <a:gd name="f75" fmla="?: f60 f14 f1"/>
              <a:gd name="f76" fmla="?: f60 f1 f14"/>
              <a:gd name="f77" fmla="?: f60 f36 f35"/>
              <a:gd name="f78" fmla="?: f60 f35 f36"/>
              <a:gd name="f79" fmla="*/ f61 f7 1"/>
              <a:gd name="f80" fmla="?: f21 f66 f65"/>
              <a:gd name="f81" fmla="?: f21 f65 f66"/>
              <a:gd name="f82" fmla="?: f58 f73 f72"/>
              <a:gd name="f83" fmla="?: f58 f72 f73"/>
              <a:gd name="f84" fmla="?: f59 f71 f70"/>
              <a:gd name="f85" fmla="?: f20 f77 f78"/>
              <a:gd name="f86" fmla="?: f20 f75 f76"/>
              <a:gd name="f87" fmla="*/ f79 1 f0"/>
              <a:gd name="f88" fmla="*/ f64 f37 1"/>
              <a:gd name="f89" fmla="*/ f68 f37 1"/>
              <a:gd name="f90" fmla="*/ f69 f37 1"/>
              <a:gd name="f91" fmla="*/ f74 f37 1"/>
              <a:gd name="f92" fmla="?: f57 f80 f81"/>
              <a:gd name="f93" fmla="?: f59 f83 f82"/>
              <a:gd name="f94" fmla="+- 0 0 f87"/>
              <a:gd name="f95" fmla="+- 0 0 f94"/>
              <a:gd name="f96" fmla="*/ f95 f0 1"/>
              <a:gd name="f97" fmla="*/ f96 1 f7"/>
              <a:gd name="f98" fmla="+- f97 0 f1"/>
              <a:gd name="f99" fmla="cos 1 f98"/>
              <a:gd name="f100" fmla="+- 0 0 f99"/>
              <a:gd name="f101" fmla="+- 0 0 f100"/>
              <a:gd name="f102" fmla="val f101"/>
              <a:gd name="f103" fmla="+- 0 0 f102"/>
              <a:gd name="f104" fmla="*/ f9 f103 1"/>
              <a:gd name="f105" fmla="*/ f104 3163 1"/>
              <a:gd name="f106" fmla="*/ f105 1 7636"/>
              <a:gd name="f107" fmla="+- f6 f106 0"/>
              <a:gd name="f108" fmla="+- f44 0 f106"/>
              <a:gd name="f109" fmla="+- f45 0 f106"/>
              <a:gd name="f110" fmla="*/ f107 f37 1"/>
              <a:gd name="f111" fmla="*/ f108 f37 1"/>
              <a:gd name="f112" fmla="*/ f109 f3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10" t="f110" r="f111" b="f112"/>
            <a:pathLst>
              <a:path>
                <a:moveTo>
                  <a:pt x="f48" y="f49"/>
                </a:moveTo>
                <a:arcTo wR="f50" hR="f51" stAng="f47" swAng="f43"/>
                <a:lnTo>
                  <a:pt x="f49" y="f62"/>
                </a:lnTo>
                <a:arcTo wR="f51" hR="f88" stAng="f92" swAng="f67"/>
                <a:lnTo>
                  <a:pt x="f63" y="f55"/>
                </a:lnTo>
                <a:arcTo wR="f89" hR="f90" stAng="f93" swAng="f84"/>
                <a:lnTo>
                  <a:pt x="f56" y="f48"/>
                </a:lnTo>
                <a:arcTo wR="f91" hR="f50" stAng="f85" swAng="f86"/>
                <a:close/>
              </a:path>
            </a:pathLst>
          </a:custGeom>
          <a:solidFill>
            <a:srgbClr val="2553D6"/>
          </a:solidFill>
          <a:ln w="0" cap="flat">
            <a:solidFill>
              <a:srgbClr val="2553D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 dirty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7140D16-081B-2904-087F-77DAEA68FE2A}"/>
              </a:ext>
            </a:extLst>
          </p:cNvPr>
          <p:cNvSpPr/>
          <p:nvPr/>
        </p:nvSpPr>
        <p:spPr>
          <a:xfrm>
            <a:off x="571500" y="361946"/>
            <a:ext cx="1619246" cy="28575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76196" tIns="76196" rIns="76196" bIns="76196" anchor="ctr" anchorCtr="1" compatLnSpc="1">
            <a:normAutofit/>
          </a:bodyPr>
          <a:lstStyle/>
          <a:p>
            <a:pPr marL="0" marR="0" lvl="0" indent="0" algn="ctr" defTabSz="914400" rtl="0" fontAlgn="auto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000" b="1" i="0" u="none" strike="noStrike" kern="0" cap="none" spc="0" baseline="0">
                <a:solidFill>
                  <a:srgbClr val="FFFFFF"/>
                </a:solidFill>
                <a:uFillTx/>
              </a:defRPr>
            </a:pPr>
            <a:r>
              <a:rPr lang="fr-FR" sz="1000" b="1" i="0" u="none" strike="noStrike" kern="1200" cap="none" spc="0" baseline="0" dirty="0">
                <a:solidFill>
                  <a:srgbClr val="FFFFFF"/>
                </a:solidFill>
                <a:uFillTx/>
                <a:latin typeface="Aptos"/>
              </a:rPr>
              <a:t>BUILD STEP 3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7D9B3FD5-FB58-E800-226C-3014779C6A25}"/>
              </a:ext>
            </a:extLst>
          </p:cNvPr>
          <p:cNvSpPr/>
          <p:nvPr/>
        </p:nvSpPr>
        <p:spPr>
          <a:xfrm>
            <a:off x="571500" y="713990"/>
            <a:ext cx="11048996" cy="47624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t" anchorCtr="0" compatLnSpc="1">
            <a:norm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3000" b="1" i="0" u="none" strike="noStrike" kern="0" cap="none" spc="0" baseline="0">
                <a:solidFill>
                  <a:srgbClr val="0F172A"/>
                </a:solidFill>
                <a:uFillTx/>
              </a:defRPr>
            </a:pPr>
            <a:r>
              <a:rPr lang="en-US" sz="3000" b="1" i="0" u="none" strike="noStrike" kern="1200" cap="none" spc="0" baseline="0">
                <a:solidFill>
                  <a:srgbClr val="0F172A"/>
                </a:solidFill>
                <a:uFillTx/>
                <a:latin typeface="Aptos"/>
              </a:rPr>
              <a:t>How to create a JSON 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A5B02D87-A5FF-B386-4746-52778F6F66B7}"/>
              </a:ext>
            </a:extLst>
          </p:cNvPr>
          <p:cNvSpPr/>
          <p:nvPr/>
        </p:nvSpPr>
        <p:spPr>
          <a:xfrm>
            <a:off x="571500" y="1190247"/>
            <a:ext cx="11048996" cy="32385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t" anchorCtr="0" compatLnSpc="1">
            <a:normAutofit/>
          </a:bodyPr>
          <a:lstStyle/>
          <a:p>
            <a:pPr marL="0" marR="0" lvl="0" indent="0" algn="l" defTabSz="914400" rtl="0" fontAlgn="auto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 b="0" i="0" u="none" strike="noStrike" kern="0" cap="none" spc="0" baseline="0">
                <a:solidFill>
                  <a:srgbClr val="475569"/>
                </a:solidFill>
                <a:uFillTx/>
              </a:defRPr>
            </a:pPr>
            <a:r>
              <a:rPr lang="en-US" sz="1200" b="0" i="0" u="none" strike="noStrike" kern="1200" cap="none" spc="0" baseline="0">
                <a:solidFill>
                  <a:srgbClr val="475569"/>
                </a:solidFill>
                <a:uFillTx/>
                <a:latin typeface="Aptos"/>
              </a:rPr>
              <a:t>Keep the structure simple so the same shared scripts can work for every future project this JSON document contains objects and arrays inside each other to represent data..</a:t>
            </a:r>
          </a:p>
        </p:txBody>
      </p:sp>
      <p:sp>
        <p:nvSpPr>
          <p:cNvPr id="6" name="Rectangle : coins arrondis 4">
            <a:extLst>
              <a:ext uri="{FF2B5EF4-FFF2-40B4-BE49-F238E27FC236}">
                <a16:creationId xmlns:a16="http://schemas.microsoft.com/office/drawing/2014/main" id="{09B42589-BD84-CC8B-E296-1AD7E85546E8}"/>
              </a:ext>
            </a:extLst>
          </p:cNvPr>
          <p:cNvSpPr/>
          <p:nvPr/>
        </p:nvSpPr>
        <p:spPr>
          <a:xfrm>
            <a:off x="501356" y="1982327"/>
            <a:ext cx="5333996" cy="4161681"/>
          </a:xfrm>
          <a:custGeom>
            <a:avLst/>
            <a:gdLst>
              <a:gd name="f0" fmla="val 10800000"/>
              <a:gd name="f1" fmla="val 5400000"/>
              <a:gd name="f2" fmla="val 16200000"/>
              <a:gd name="f3" fmla="val w"/>
              <a:gd name="f4" fmla="val h"/>
              <a:gd name="f5" fmla="val ss"/>
              <a:gd name="f6" fmla="val 0"/>
              <a:gd name="f7" fmla="*/ 5419351 1 1725033"/>
              <a:gd name="f8" fmla="val 45"/>
              <a:gd name="f9" fmla="val 868"/>
              <a:gd name="f10" fmla="abs f3"/>
              <a:gd name="f11" fmla="abs f4"/>
              <a:gd name="f12" fmla="abs f5"/>
              <a:gd name="f13" fmla="*/ f7 1 180"/>
              <a:gd name="f14" fmla="+- 0 0 f1"/>
              <a:gd name="f15" fmla="+- f6 f9 0"/>
              <a:gd name="f16" fmla="?: f10 f3 1"/>
              <a:gd name="f17" fmla="?: f11 f4 1"/>
              <a:gd name="f18" fmla="?: f12 f5 1"/>
              <a:gd name="f19" fmla="*/ f8 f13 1"/>
              <a:gd name="f20" fmla="+- f6 0 f15"/>
              <a:gd name="f21" fmla="+- f15 0 f6"/>
              <a:gd name="f22" fmla="*/ f16 1 21600"/>
              <a:gd name="f23" fmla="*/ f17 1 21600"/>
              <a:gd name="f24" fmla="*/ 21600 f16 1"/>
              <a:gd name="f25" fmla="*/ 21600 f17 1"/>
              <a:gd name="f26" fmla="+- 0 0 f19"/>
              <a:gd name="f27" fmla="abs f20"/>
              <a:gd name="f28" fmla="abs f21"/>
              <a:gd name="f29" fmla="?: f20 f14 f1"/>
              <a:gd name="f30" fmla="?: f20 f1 f14"/>
              <a:gd name="f31" fmla="?: f20 f2 f1"/>
              <a:gd name="f32" fmla="?: f20 f1 f2"/>
              <a:gd name="f33" fmla="?: f21 f14 f1"/>
              <a:gd name="f34" fmla="?: f21 f1 f14"/>
              <a:gd name="f35" fmla="?: f20 0 f0"/>
              <a:gd name="f36" fmla="?: f20 f0 0"/>
              <a:gd name="f37" fmla="min f23 f22"/>
              <a:gd name="f38" fmla="*/ f24 1 f18"/>
              <a:gd name="f39" fmla="*/ f25 1 f18"/>
              <a:gd name="f40" fmla="*/ f26 f0 1"/>
              <a:gd name="f41" fmla="?: f20 f32 f31"/>
              <a:gd name="f42" fmla="?: f20 f31 f32"/>
              <a:gd name="f43" fmla="?: f21 f30 f29"/>
              <a:gd name="f44" fmla="val f38"/>
              <a:gd name="f45" fmla="val f39"/>
              <a:gd name="f46" fmla="*/ f40 1 f7"/>
              <a:gd name="f47" fmla="?: f21 f42 f41"/>
              <a:gd name="f48" fmla="*/ f15 f37 1"/>
              <a:gd name="f49" fmla="*/ f6 f37 1"/>
              <a:gd name="f50" fmla="*/ f27 f37 1"/>
              <a:gd name="f51" fmla="*/ f28 f37 1"/>
              <a:gd name="f52" fmla="+- f45 0 f9"/>
              <a:gd name="f53" fmla="+- f44 0 f9"/>
              <a:gd name="f54" fmla="+- f46 0 f1"/>
              <a:gd name="f55" fmla="*/ f45 f37 1"/>
              <a:gd name="f56" fmla="*/ f44 f37 1"/>
              <a:gd name="f57" fmla="+- f45 0 f52"/>
              <a:gd name="f58" fmla="+- f44 0 f53"/>
              <a:gd name="f59" fmla="+- f52 0 f45"/>
              <a:gd name="f60" fmla="+- f53 0 f44"/>
              <a:gd name="f61" fmla="+- f54 f1 0"/>
              <a:gd name="f62" fmla="*/ f52 f37 1"/>
              <a:gd name="f63" fmla="*/ f53 f37 1"/>
              <a:gd name="f64" fmla="abs f57"/>
              <a:gd name="f65" fmla="?: f57 0 f0"/>
              <a:gd name="f66" fmla="?: f57 f0 0"/>
              <a:gd name="f67" fmla="?: f57 f33 f34"/>
              <a:gd name="f68" fmla="abs f58"/>
              <a:gd name="f69" fmla="abs f59"/>
              <a:gd name="f70" fmla="?: f58 f14 f1"/>
              <a:gd name="f71" fmla="?: f58 f1 f14"/>
              <a:gd name="f72" fmla="?: f58 f2 f1"/>
              <a:gd name="f73" fmla="?: f58 f1 f2"/>
              <a:gd name="f74" fmla="abs f60"/>
              <a:gd name="f75" fmla="?: f60 f14 f1"/>
              <a:gd name="f76" fmla="?: f60 f1 f14"/>
              <a:gd name="f77" fmla="?: f60 f36 f35"/>
              <a:gd name="f78" fmla="?: f60 f35 f36"/>
              <a:gd name="f79" fmla="*/ f61 f7 1"/>
              <a:gd name="f80" fmla="?: f21 f66 f65"/>
              <a:gd name="f81" fmla="?: f21 f65 f66"/>
              <a:gd name="f82" fmla="?: f58 f73 f72"/>
              <a:gd name="f83" fmla="?: f58 f72 f73"/>
              <a:gd name="f84" fmla="?: f59 f71 f70"/>
              <a:gd name="f85" fmla="?: f20 f77 f78"/>
              <a:gd name="f86" fmla="?: f20 f75 f76"/>
              <a:gd name="f87" fmla="*/ f79 1 f0"/>
              <a:gd name="f88" fmla="*/ f64 f37 1"/>
              <a:gd name="f89" fmla="*/ f68 f37 1"/>
              <a:gd name="f90" fmla="*/ f69 f37 1"/>
              <a:gd name="f91" fmla="*/ f74 f37 1"/>
              <a:gd name="f92" fmla="?: f57 f80 f81"/>
              <a:gd name="f93" fmla="?: f59 f83 f82"/>
              <a:gd name="f94" fmla="+- 0 0 f87"/>
              <a:gd name="f95" fmla="+- 0 0 f94"/>
              <a:gd name="f96" fmla="*/ f95 f0 1"/>
              <a:gd name="f97" fmla="*/ f96 1 f7"/>
              <a:gd name="f98" fmla="+- f97 0 f1"/>
              <a:gd name="f99" fmla="cos 1 f98"/>
              <a:gd name="f100" fmla="+- 0 0 f99"/>
              <a:gd name="f101" fmla="+- 0 0 f100"/>
              <a:gd name="f102" fmla="val f101"/>
              <a:gd name="f103" fmla="+- 0 0 f102"/>
              <a:gd name="f104" fmla="*/ f9 f103 1"/>
              <a:gd name="f105" fmla="*/ f104 3163 1"/>
              <a:gd name="f106" fmla="*/ f105 1 7636"/>
              <a:gd name="f107" fmla="+- f6 f106 0"/>
              <a:gd name="f108" fmla="+- f44 0 f106"/>
              <a:gd name="f109" fmla="+- f45 0 f106"/>
              <a:gd name="f110" fmla="*/ f107 f37 1"/>
              <a:gd name="f111" fmla="*/ f108 f37 1"/>
              <a:gd name="f112" fmla="*/ f109 f3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10" t="f110" r="f111" b="f112"/>
            <a:pathLst>
              <a:path>
                <a:moveTo>
                  <a:pt x="f48" y="f49"/>
                </a:moveTo>
                <a:arcTo wR="f50" hR="f51" stAng="f47" swAng="f43"/>
                <a:lnTo>
                  <a:pt x="f49" y="f62"/>
                </a:lnTo>
                <a:arcTo wR="f51" hR="f88" stAng="f92" swAng="f67"/>
                <a:lnTo>
                  <a:pt x="f63" y="f55"/>
                </a:lnTo>
                <a:arcTo wR="f89" hR="f90" stAng="f93" swAng="f84"/>
                <a:lnTo>
                  <a:pt x="f56" y="f48"/>
                </a:lnTo>
                <a:arcTo wR="f91" hR="f50" stAng="f85" swAng="f86"/>
                <a:close/>
              </a:path>
            </a:pathLst>
          </a:custGeom>
          <a:solidFill>
            <a:srgbClr val="0B1220"/>
          </a:solidFill>
          <a:ln w="9528" cap="flat">
            <a:solidFill>
              <a:srgbClr val="1E293B"/>
            </a:solidFill>
            <a:prstDash val="solid"/>
            <a:miter/>
          </a:ln>
          <a:effectLst>
            <a:outerShdw dist="19046" dir="5400000" algn="tl">
              <a:srgbClr val="000000">
                <a:alpha val="63000"/>
              </a:srgbClr>
            </a:outerShdw>
          </a:effectLst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000000"/>
              </a:solidFill>
              <a:uFillTx/>
              <a:latin typeface="Aptos Display"/>
            </a:endParaRPr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6750A31F-D0BC-5542-6059-EA59FD49E235}"/>
              </a:ext>
            </a:extLst>
          </p:cNvPr>
          <p:cNvSpPr/>
          <p:nvPr/>
        </p:nvSpPr>
        <p:spPr>
          <a:xfrm>
            <a:off x="672806" y="2105232"/>
            <a:ext cx="4991096" cy="2424687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1000" b="0" i="0" u="none" strike="noStrike" kern="120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{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1000" b="0" i="0" u="none" strike="noStrike" kern="120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  "</a:t>
            </a:r>
            <a:r>
              <a:rPr lang="fr-FR" sz="1000" b="0" i="0" u="none" strike="noStrike" kern="1200" cap="none" spc="0" baseline="0" dirty="0" err="1">
                <a:solidFill>
                  <a:srgbClr val="FFFFFF"/>
                </a:solidFill>
                <a:uFillTx/>
                <a:latin typeface="Consolas" pitchFamily="49"/>
              </a:rPr>
              <a:t>summary</a:t>
            </a:r>
            <a:r>
              <a:rPr lang="fr-FR" sz="1000" b="0" i="0" u="none" strike="noStrike" kern="120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": "ALMI ATLAS </a:t>
            </a:r>
            <a:r>
              <a:rPr lang="fr-FR" sz="1000" b="0" i="0" u="none" strike="noStrike" kern="1200" cap="none" spc="0" baseline="0" dirty="0" err="1">
                <a:solidFill>
                  <a:srgbClr val="FFFFFF"/>
                </a:solidFill>
                <a:uFillTx/>
                <a:latin typeface="Consolas" pitchFamily="49"/>
              </a:rPr>
              <a:t>is</a:t>
            </a:r>
            <a:r>
              <a:rPr lang="fr-FR" sz="1000" b="0" i="0" u="none" strike="noStrike" kern="120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 a RINA </a:t>
            </a:r>
            <a:r>
              <a:rPr lang="fr-FR" sz="1000" b="0" i="0" u="none" strike="noStrike" kern="1200" cap="none" spc="0" baseline="0" dirty="0" err="1">
                <a:solidFill>
                  <a:srgbClr val="FFFFFF"/>
                </a:solidFill>
                <a:uFillTx/>
                <a:latin typeface="Consolas" pitchFamily="49"/>
              </a:rPr>
              <a:t>Significant</a:t>
            </a:r>
            <a:r>
              <a:rPr lang="fr-FR" sz="1000" b="0" i="0" u="none" strike="noStrike" kern="120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 Ship of 2018. The </a:t>
            </a:r>
            <a:r>
              <a:rPr lang="fr-FR" sz="1000" b="0" i="0" u="none" strike="noStrike" kern="1200" cap="none" spc="0" baseline="0" dirty="0" err="1">
                <a:solidFill>
                  <a:srgbClr val="FFFFFF"/>
                </a:solidFill>
                <a:uFillTx/>
                <a:latin typeface="Consolas" pitchFamily="49"/>
              </a:rPr>
              <a:t>vessel</a:t>
            </a:r>
            <a:r>
              <a:rPr lang="fr-FR" sz="1000" b="0" i="0" u="none" strike="noStrike" kern="120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 </a:t>
            </a:r>
            <a:r>
              <a:rPr lang="fr-FR" sz="1000" b="0" i="0" u="none" strike="noStrike" kern="1200" cap="none" spc="0" baseline="0" dirty="0" err="1">
                <a:solidFill>
                  <a:srgbClr val="FFFFFF"/>
                </a:solidFill>
                <a:uFillTx/>
                <a:latin typeface="Consolas" pitchFamily="49"/>
              </a:rPr>
              <a:t>is</a:t>
            </a:r>
            <a:r>
              <a:rPr lang="fr-FR" sz="1000" b="0" i="0" u="none" strike="noStrike" kern="120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 </a:t>
            </a:r>
            <a:r>
              <a:rPr lang="fr-FR" sz="1000" b="0" i="0" u="none" strike="noStrike" kern="1200" cap="none" spc="0" baseline="0" dirty="0" err="1">
                <a:solidFill>
                  <a:srgbClr val="FFFFFF"/>
                </a:solidFill>
                <a:uFillTx/>
                <a:latin typeface="Consolas" pitchFamily="49"/>
              </a:rPr>
              <a:t>presented</a:t>
            </a:r>
            <a:r>
              <a:rPr lang="fr-FR" sz="1000" b="0" i="0" u="none" strike="noStrike" kern="120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 in the </a:t>
            </a:r>
            <a:r>
              <a:rPr lang="fr-FR" sz="1000" b="0" i="0" u="none" strike="noStrike" kern="1200" cap="none" spc="0" baseline="0" dirty="0" err="1">
                <a:solidFill>
                  <a:srgbClr val="FFFFFF"/>
                </a:solidFill>
                <a:uFillTx/>
                <a:latin typeface="Consolas" pitchFamily="49"/>
              </a:rPr>
              <a:t>project</a:t>
            </a:r>
            <a:r>
              <a:rPr lang="fr-FR" sz="1000" b="0" i="0" u="none" strike="noStrike" kern="120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 </a:t>
            </a:r>
            <a:r>
              <a:rPr lang="fr-FR" sz="1000" b="0" i="0" u="none" strike="noStrike" kern="1200" cap="none" spc="0" baseline="0" dirty="0" err="1">
                <a:solidFill>
                  <a:srgbClr val="FFFFFF"/>
                </a:solidFill>
                <a:uFillTx/>
                <a:latin typeface="Consolas" pitchFamily="49"/>
              </a:rPr>
              <a:t>with</a:t>
            </a:r>
            <a:r>
              <a:rPr lang="fr-FR" sz="1000" b="0" i="0" u="none" strike="noStrike" kern="120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 key </a:t>
            </a:r>
            <a:r>
              <a:rPr lang="fr-FR" sz="1000" b="0" i="0" u="none" strike="noStrike" kern="1200" cap="none" spc="0" baseline="0" dirty="0" err="1">
                <a:solidFill>
                  <a:srgbClr val="FFFFFF"/>
                </a:solidFill>
                <a:uFillTx/>
                <a:latin typeface="Consolas" pitchFamily="49"/>
              </a:rPr>
              <a:t>ship</a:t>
            </a:r>
            <a:r>
              <a:rPr lang="fr-FR" sz="1000" b="0" i="0" u="none" strike="noStrike" kern="120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 data, </a:t>
            </a:r>
            <a:r>
              <a:rPr lang="fr-FR" sz="1000" b="0" i="0" u="none" strike="noStrike" kern="1200" cap="none" spc="0" baseline="0" dirty="0" err="1">
                <a:solidFill>
                  <a:srgbClr val="FFFFFF"/>
                </a:solidFill>
                <a:uFillTx/>
                <a:latin typeface="Consolas" pitchFamily="49"/>
              </a:rPr>
              <a:t>mapped</a:t>
            </a:r>
            <a:r>
              <a:rPr lang="fr-FR" sz="1000" b="0" i="0" u="none" strike="noStrike" kern="120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 DNV information, and </a:t>
            </a:r>
            <a:r>
              <a:rPr lang="fr-FR" sz="1000" b="0" i="0" u="none" strike="noStrike" kern="1200" cap="none" spc="0" baseline="0" dirty="0" err="1">
                <a:solidFill>
                  <a:srgbClr val="FFFFFF"/>
                </a:solidFill>
                <a:uFillTx/>
                <a:latin typeface="Consolas" pitchFamily="49"/>
              </a:rPr>
              <a:t>linked</a:t>
            </a:r>
            <a:r>
              <a:rPr lang="fr-FR" sz="1000" b="0" i="0" u="none" strike="noStrike" kern="120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 </a:t>
            </a:r>
            <a:r>
              <a:rPr lang="fr-FR" sz="1000" b="0" i="0" u="none" strike="noStrike" kern="1200" cap="none" spc="0" baseline="0" dirty="0" err="1">
                <a:solidFill>
                  <a:srgbClr val="FFFFFF"/>
                </a:solidFill>
                <a:uFillTx/>
                <a:latin typeface="Consolas" pitchFamily="49"/>
              </a:rPr>
              <a:t>raw</a:t>
            </a:r>
            <a:r>
              <a:rPr lang="fr-FR" sz="1000" b="0" i="0" u="none" strike="noStrike" kern="120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 sources </a:t>
            </a:r>
            <a:r>
              <a:rPr lang="fr-FR" sz="1000" b="0" i="0" u="none" strike="noStrike" kern="1200" cap="none" spc="0" baseline="0" dirty="0" err="1">
                <a:solidFill>
                  <a:srgbClr val="FFFFFF"/>
                </a:solidFill>
                <a:uFillTx/>
                <a:latin typeface="Consolas" pitchFamily="49"/>
              </a:rPr>
              <a:t>such</a:t>
            </a:r>
            <a:r>
              <a:rPr lang="fr-FR" sz="1000" b="0" i="0" u="none" strike="noStrike" kern="120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 as the source PDF and GPS route data.",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1000" b="0" i="0" u="none" strike="noStrike" kern="120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  "</a:t>
            </a:r>
            <a:r>
              <a:rPr lang="fr-FR" sz="1000" b="0" i="0" u="none" strike="noStrike" kern="1200" cap="none" spc="0" baseline="0" dirty="0" err="1">
                <a:solidFill>
                  <a:srgbClr val="FFFFFF"/>
                </a:solidFill>
                <a:uFillTx/>
                <a:latin typeface="Consolas" pitchFamily="49"/>
              </a:rPr>
              <a:t>vessel_info</a:t>
            </a:r>
            <a:r>
              <a:rPr lang="fr-FR" sz="1000" b="0" i="0" u="none" strike="noStrike" kern="120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": [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000" b="0" i="0" u="none" strike="noStrike" kern="1200" cap="none" spc="0" baseline="0" dirty="0">
              <a:solidFill>
                <a:srgbClr val="FFFFFF"/>
              </a:solidFill>
              <a:uFillTx/>
              <a:latin typeface="Consolas" pitchFamily="49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1000" b="0" i="0" u="none" strike="noStrike" kern="120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    {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1000" b="0" i="0" u="none" strike="noStrike" kern="120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      "Name": "</a:t>
            </a:r>
            <a:r>
              <a:rPr lang="fr-FR" sz="1000" b="0" i="0" u="none" strike="noStrike" kern="1200" cap="none" spc="0" baseline="0" dirty="0" err="1">
                <a:solidFill>
                  <a:srgbClr val="FFFFFF"/>
                </a:solidFill>
                <a:uFillTx/>
                <a:latin typeface="Consolas" pitchFamily="49"/>
              </a:rPr>
              <a:t>shipbuilder</a:t>
            </a:r>
            <a:r>
              <a:rPr lang="fr-FR" sz="1000" b="0" i="0" u="none" strike="noStrike" kern="120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",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1000" b="0" i="0" u="none" strike="noStrike" kern="120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      "Link": "../</a:t>
            </a:r>
            <a:r>
              <a:rPr lang="fr-FR" sz="1000" b="0" i="0" u="none" strike="noStrike" kern="1200" cap="none" spc="0" baseline="0" dirty="0" err="1">
                <a:solidFill>
                  <a:srgbClr val="FFFFFF"/>
                </a:solidFill>
                <a:uFillTx/>
                <a:latin typeface="Consolas" pitchFamily="49"/>
              </a:rPr>
              <a:t>raw_DATA</a:t>
            </a:r>
            <a:r>
              <a:rPr lang="fr-FR" sz="1000" b="0" i="0" u="none" strike="noStrike" kern="120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/ALMI ATLAS.pdf",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1000" b="0" i="0" u="none" strike="noStrike" kern="120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      "</a:t>
            </a:r>
            <a:r>
              <a:rPr lang="fr-FR" sz="1000" b="0" i="0" u="none" strike="noStrike" kern="1200" cap="none" spc="0" baseline="0" dirty="0" err="1">
                <a:solidFill>
                  <a:srgbClr val="FFFFFF"/>
                </a:solidFill>
                <a:uFillTx/>
                <a:latin typeface="Consolas" pitchFamily="49"/>
              </a:rPr>
              <a:t>DNV_path</a:t>
            </a:r>
            <a:r>
              <a:rPr lang="fr-FR" sz="1000" b="0" i="0" u="none" strike="noStrike" kern="120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": "/dnv-v2/vis-3-10a/800a/860/861/861.2/861.21/G52/G52.1",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1000" b="0" i="0" u="none" strike="noStrike" kern="120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      "Value": "Hyundai </a:t>
            </a:r>
            <a:r>
              <a:rPr lang="fr-FR" sz="1000" b="0" i="0" u="none" strike="noStrike" kern="1200" cap="none" spc="0" baseline="0" dirty="0" err="1">
                <a:solidFill>
                  <a:srgbClr val="FFFFFF"/>
                </a:solidFill>
                <a:uFillTx/>
                <a:latin typeface="Consolas" pitchFamily="49"/>
              </a:rPr>
              <a:t>Samho</a:t>
            </a:r>
            <a:r>
              <a:rPr lang="fr-FR" sz="1000" b="0" i="0" u="none" strike="noStrike" kern="120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 Heavy Industries Co. Ltd« ,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1000" b="0" i="0" u="none" strike="noStrike" kern="120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      "location": "</a:t>
            </a:r>
            <a:r>
              <a:rPr lang="fr-FR" sz="1000" b="0" i="0" u="none" strike="noStrike" kern="1200" cap="none" spc="0" baseline="0" dirty="0" err="1">
                <a:solidFill>
                  <a:srgbClr val="FFFFFF"/>
                </a:solidFill>
                <a:uFillTx/>
                <a:latin typeface="Consolas" pitchFamily="49"/>
              </a:rPr>
              <a:t>hull</a:t>
            </a:r>
            <a:r>
              <a:rPr lang="fr-FR" sz="1000" b="0" i="0" u="none" strike="noStrike" kern="120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"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1000" b="0" i="0" u="none" strike="noStrike" kern="120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    },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000" b="0" i="0" u="none" strike="noStrike" kern="1200" cap="none" spc="0" baseline="0" dirty="0">
              <a:solidFill>
                <a:srgbClr val="FFFFFF"/>
              </a:solidFill>
              <a:uFillTx/>
              <a:latin typeface="Consolas" pitchFamily="49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1000" b="0" i="0" u="none" strike="noStrike" kern="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    {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1000" b="0" i="0" u="none" strike="noStrike" kern="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      "Name": "</a:t>
            </a:r>
            <a:r>
              <a:rPr lang="fr-FR" sz="1000" b="0" i="0" u="none" strike="noStrike" kern="0" cap="none" spc="0" baseline="0" dirty="0" err="1">
                <a:solidFill>
                  <a:srgbClr val="FFFFFF"/>
                </a:solidFill>
                <a:uFillTx/>
                <a:latin typeface="Consolas" pitchFamily="49"/>
              </a:rPr>
              <a:t>hull_no</a:t>
            </a:r>
            <a:r>
              <a:rPr lang="fr-FR" sz="1000" b="0" i="0" u="none" strike="noStrike" kern="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",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1000" b="0" i="0" u="none" strike="noStrike" kern="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      "Link": "../</a:t>
            </a:r>
            <a:r>
              <a:rPr lang="fr-FR" sz="1000" b="0" i="0" u="none" strike="noStrike" kern="0" cap="none" spc="0" baseline="0" dirty="0" err="1">
                <a:solidFill>
                  <a:srgbClr val="FFFFFF"/>
                </a:solidFill>
                <a:uFillTx/>
                <a:latin typeface="Consolas" pitchFamily="49"/>
              </a:rPr>
              <a:t>raw_DATA</a:t>
            </a:r>
            <a:r>
              <a:rPr lang="fr-FR" sz="1000" b="0" i="0" u="none" strike="noStrike" kern="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/ALMI ATLAS.pdf",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1000" b="0" i="0" u="none" strike="noStrike" kern="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      "</a:t>
            </a:r>
            <a:r>
              <a:rPr lang="fr-FR" sz="1000" b="0" i="0" u="none" strike="noStrike" kern="0" cap="none" spc="0" baseline="0" dirty="0" err="1">
                <a:solidFill>
                  <a:srgbClr val="FFFFFF"/>
                </a:solidFill>
                <a:uFillTx/>
                <a:latin typeface="Consolas" pitchFamily="49"/>
              </a:rPr>
              <a:t>DNV_path</a:t>
            </a:r>
            <a:r>
              <a:rPr lang="fr-FR" sz="1000" b="0" i="0" u="none" strike="noStrike" kern="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": "/dnv-v2/vis-3-10a/800a/860/861/861.1/861.11/G51/G51.1",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1000" b="0" i="0" u="none" strike="noStrike" kern="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      "Value": "S913",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1000" b="0" i="0" u="none" strike="noStrike" kern="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      "location": "</a:t>
            </a:r>
            <a:r>
              <a:rPr lang="fr-FR" sz="1000" b="0" i="0" u="none" strike="noStrike" kern="0" cap="none" spc="0" baseline="0" dirty="0" err="1">
                <a:solidFill>
                  <a:srgbClr val="FFFFFF"/>
                </a:solidFill>
                <a:uFillTx/>
                <a:latin typeface="Consolas" pitchFamily="49"/>
              </a:rPr>
              <a:t>hull</a:t>
            </a:r>
            <a:r>
              <a:rPr lang="fr-FR" sz="1000" b="0" i="0" u="none" strike="noStrike" kern="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"    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1000" b="0" i="0" u="none" strike="noStrike" kern="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    }</a:t>
            </a:r>
            <a:endParaRPr lang="fr-FR" sz="1000" b="0" i="0" u="none" strike="noStrike" kern="1200" cap="none" spc="0" baseline="0" dirty="0">
              <a:solidFill>
                <a:srgbClr val="FFFFFF"/>
              </a:solidFill>
              <a:uFillTx/>
              <a:latin typeface="Consolas" pitchFamily="49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1000" b="0" i="0" u="none" strike="noStrike" kern="120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  ]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1000" b="0" i="0" u="none" strike="noStrike" kern="120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}</a:t>
            </a:r>
            <a:endParaRPr lang="fr-FR" sz="1000" b="0" i="0" u="none" strike="noStrike" kern="1200" cap="none" spc="0" baseline="0" dirty="0">
              <a:solidFill>
                <a:srgbClr val="FFFFFF"/>
              </a:solidFill>
              <a:uFillTx/>
              <a:latin typeface="Consolas" pitchFamily="49"/>
              <a:ea typeface="Consolas"/>
              <a:cs typeface="Consolas"/>
            </a:endParaRPr>
          </a:p>
        </p:txBody>
      </p:sp>
      <p:sp>
        <p:nvSpPr>
          <p:cNvPr id="8" name="Rectangle : coins arrondis 6">
            <a:extLst>
              <a:ext uri="{FF2B5EF4-FFF2-40B4-BE49-F238E27FC236}">
                <a16:creationId xmlns:a16="http://schemas.microsoft.com/office/drawing/2014/main" id="{734438A3-0561-E6F7-F2E7-9FDFF5904159}"/>
              </a:ext>
            </a:extLst>
          </p:cNvPr>
          <p:cNvSpPr/>
          <p:nvPr/>
        </p:nvSpPr>
        <p:spPr>
          <a:xfrm>
            <a:off x="6115049" y="1599313"/>
            <a:ext cx="5333996" cy="819146"/>
          </a:xfrm>
          <a:custGeom>
            <a:avLst/>
            <a:gdLst>
              <a:gd name="f0" fmla="val 10800000"/>
              <a:gd name="f1" fmla="val 5400000"/>
              <a:gd name="f2" fmla="val 16200000"/>
              <a:gd name="f3" fmla="val w"/>
              <a:gd name="f4" fmla="val h"/>
              <a:gd name="f5" fmla="val ss"/>
              <a:gd name="f6" fmla="val 0"/>
              <a:gd name="f7" fmla="*/ 5419351 1 1725033"/>
              <a:gd name="f8" fmla="val 45"/>
              <a:gd name="f9" fmla="val 2979"/>
              <a:gd name="f10" fmla="abs f3"/>
              <a:gd name="f11" fmla="abs f4"/>
              <a:gd name="f12" fmla="abs f5"/>
              <a:gd name="f13" fmla="*/ f7 1 180"/>
              <a:gd name="f14" fmla="+- 0 0 f1"/>
              <a:gd name="f15" fmla="+- f6 f9 0"/>
              <a:gd name="f16" fmla="?: f10 f3 1"/>
              <a:gd name="f17" fmla="?: f11 f4 1"/>
              <a:gd name="f18" fmla="?: f12 f5 1"/>
              <a:gd name="f19" fmla="*/ f8 f13 1"/>
              <a:gd name="f20" fmla="+- f6 0 f15"/>
              <a:gd name="f21" fmla="+- f15 0 f6"/>
              <a:gd name="f22" fmla="*/ f16 1 21600"/>
              <a:gd name="f23" fmla="*/ f17 1 21600"/>
              <a:gd name="f24" fmla="*/ 21600 f16 1"/>
              <a:gd name="f25" fmla="*/ 21600 f17 1"/>
              <a:gd name="f26" fmla="+- 0 0 f19"/>
              <a:gd name="f27" fmla="abs f20"/>
              <a:gd name="f28" fmla="abs f21"/>
              <a:gd name="f29" fmla="?: f20 f14 f1"/>
              <a:gd name="f30" fmla="?: f20 f1 f14"/>
              <a:gd name="f31" fmla="?: f20 f2 f1"/>
              <a:gd name="f32" fmla="?: f20 f1 f2"/>
              <a:gd name="f33" fmla="?: f21 f14 f1"/>
              <a:gd name="f34" fmla="?: f21 f1 f14"/>
              <a:gd name="f35" fmla="?: f20 0 f0"/>
              <a:gd name="f36" fmla="?: f20 f0 0"/>
              <a:gd name="f37" fmla="min f23 f22"/>
              <a:gd name="f38" fmla="*/ f24 1 f18"/>
              <a:gd name="f39" fmla="*/ f25 1 f18"/>
              <a:gd name="f40" fmla="*/ f26 f0 1"/>
              <a:gd name="f41" fmla="?: f20 f32 f31"/>
              <a:gd name="f42" fmla="?: f20 f31 f32"/>
              <a:gd name="f43" fmla="?: f21 f30 f29"/>
              <a:gd name="f44" fmla="val f38"/>
              <a:gd name="f45" fmla="val f39"/>
              <a:gd name="f46" fmla="*/ f40 1 f7"/>
              <a:gd name="f47" fmla="?: f21 f42 f41"/>
              <a:gd name="f48" fmla="*/ f15 f37 1"/>
              <a:gd name="f49" fmla="*/ f6 f37 1"/>
              <a:gd name="f50" fmla="*/ f27 f37 1"/>
              <a:gd name="f51" fmla="*/ f28 f37 1"/>
              <a:gd name="f52" fmla="+- f45 0 f9"/>
              <a:gd name="f53" fmla="+- f44 0 f9"/>
              <a:gd name="f54" fmla="+- f46 0 f1"/>
              <a:gd name="f55" fmla="*/ f45 f37 1"/>
              <a:gd name="f56" fmla="*/ f44 f37 1"/>
              <a:gd name="f57" fmla="+- f45 0 f52"/>
              <a:gd name="f58" fmla="+- f44 0 f53"/>
              <a:gd name="f59" fmla="+- f52 0 f45"/>
              <a:gd name="f60" fmla="+- f53 0 f44"/>
              <a:gd name="f61" fmla="+- f54 f1 0"/>
              <a:gd name="f62" fmla="*/ f52 f37 1"/>
              <a:gd name="f63" fmla="*/ f53 f37 1"/>
              <a:gd name="f64" fmla="abs f57"/>
              <a:gd name="f65" fmla="?: f57 0 f0"/>
              <a:gd name="f66" fmla="?: f57 f0 0"/>
              <a:gd name="f67" fmla="?: f57 f33 f34"/>
              <a:gd name="f68" fmla="abs f58"/>
              <a:gd name="f69" fmla="abs f59"/>
              <a:gd name="f70" fmla="?: f58 f14 f1"/>
              <a:gd name="f71" fmla="?: f58 f1 f14"/>
              <a:gd name="f72" fmla="?: f58 f2 f1"/>
              <a:gd name="f73" fmla="?: f58 f1 f2"/>
              <a:gd name="f74" fmla="abs f60"/>
              <a:gd name="f75" fmla="?: f60 f14 f1"/>
              <a:gd name="f76" fmla="?: f60 f1 f14"/>
              <a:gd name="f77" fmla="?: f60 f36 f35"/>
              <a:gd name="f78" fmla="?: f60 f35 f36"/>
              <a:gd name="f79" fmla="*/ f61 f7 1"/>
              <a:gd name="f80" fmla="?: f21 f66 f65"/>
              <a:gd name="f81" fmla="?: f21 f65 f66"/>
              <a:gd name="f82" fmla="?: f58 f73 f72"/>
              <a:gd name="f83" fmla="?: f58 f72 f73"/>
              <a:gd name="f84" fmla="?: f59 f71 f70"/>
              <a:gd name="f85" fmla="?: f20 f77 f78"/>
              <a:gd name="f86" fmla="?: f20 f75 f76"/>
              <a:gd name="f87" fmla="*/ f79 1 f0"/>
              <a:gd name="f88" fmla="*/ f64 f37 1"/>
              <a:gd name="f89" fmla="*/ f68 f37 1"/>
              <a:gd name="f90" fmla="*/ f69 f37 1"/>
              <a:gd name="f91" fmla="*/ f74 f37 1"/>
              <a:gd name="f92" fmla="?: f57 f80 f81"/>
              <a:gd name="f93" fmla="?: f59 f83 f82"/>
              <a:gd name="f94" fmla="+- 0 0 f87"/>
              <a:gd name="f95" fmla="+- 0 0 f94"/>
              <a:gd name="f96" fmla="*/ f95 f0 1"/>
              <a:gd name="f97" fmla="*/ f96 1 f7"/>
              <a:gd name="f98" fmla="+- f97 0 f1"/>
              <a:gd name="f99" fmla="cos 1 f98"/>
              <a:gd name="f100" fmla="+- 0 0 f99"/>
              <a:gd name="f101" fmla="+- 0 0 f100"/>
              <a:gd name="f102" fmla="val f101"/>
              <a:gd name="f103" fmla="+- 0 0 f102"/>
              <a:gd name="f104" fmla="*/ f9 f103 1"/>
              <a:gd name="f105" fmla="*/ f104 3163 1"/>
              <a:gd name="f106" fmla="*/ f105 1 7636"/>
              <a:gd name="f107" fmla="+- f6 f106 0"/>
              <a:gd name="f108" fmla="+- f44 0 f106"/>
              <a:gd name="f109" fmla="+- f45 0 f106"/>
              <a:gd name="f110" fmla="*/ f107 f37 1"/>
              <a:gd name="f111" fmla="*/ f108 f37 1"/>
              <a:gd name="f112" fmla="*/ f109 f3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10" t="f110" r="f111" b="f112"/>
            <a:pathLst>
              <a:path>
                <a:moveTo>
                  <a:pt x="f48" y="f49"/>
                </a:moveTo>
                <a:arcTo wR="f50" hR="f51" stAng="f47" swAng="f43"/>
                <a:lnTo>
                  <a:pt x="f49" y="f62"/>
                </a:lnTo>
                <a:arcTo wR="f51" hR="f88" stAng="f92" swAng="f67"/>
                <a:lnTo>
                  <a:pt x="f63" y="f55"/>
                </a:lnTo>
                <a:arcTo wR="f89" hR="f90" stAng="f93" swAng="f84"/>
                <a:lnTo>
                  <a:pt x="f56" y="f48"/>
                </a:lnTo>
                <a:arcTo wR="f91" hR="f50" stAng="f85" swAng="f86"/>
                <a:close/>
              </a:path>
            </a:pathLst>
          </a:custGeom>
          <a:solidFill>
            <a:srgbClr val="FFFFFF"/>
          </a:solidFill>
          <a:ln w="9528" cap="flat">
            <a:solidFill>
              <a:srgbClr val="E2E8F0"/>
            </a:solidFill>
            <a:prstDash val="solid"/>
            <a:miter/>
          </a:ln>
          <a:effectLst>
            <a:outerShdw dist="19046" dir="5400000" algn="tl">
              <a:srgbClr val="000000">
                <a:alpha val="63000"/>
              </a:srgbClr>
            </a:outerShdw>
          </a:effectLst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000000"/>
              </a:solidFill>
              <a:uFillTx/>
              <a:latin typeface="Aptos Display"/>
            </a:endParaRPr>
          </a:p>
        </p:txBody>
      </p:sp>
      <p:sp>
        <p:nvSpPr>
          <p:cNvPr id="9" name="Rectangle : coins arrondis 7">
            <a:extLst>
              <a:ext uri="{FF2B5EF4-FFF2-40B4-BE49-F238E27FC236}">
                <a16:creationId xmlns:a16="http://schemas.microsoft.com/office/drawing/2014/main" id="{9646F4FA-DE35-7681-E0D5-3C2102733EF3}"/>
              </a:ext>
            </a:extLst>
          </p:cNvPr>
          <p:cNvSpPr/>
          <p:nvPr/>
        </p:nvSpPr>
        <p:spPr>
          <a:xfrm>
            <a:off x="6267462" y="1751716"/>
            <a:ext cx="1162046" cy="247646"/>
          </a:xfrm>
          <a:custGeom>
            <a:avLst/>
            <a:gdLst>
              <a:gd name="f0" fmla="val 10800000"/>
              <a:gd name="f1" fmla="val 5400000"/>
              <a:gd name="f2" fmla="val 16200000"/>
              <a:gd name="f3" fmla="val w"/>
              <a:gd name="f4" fmla="val h"/>
              <a:gd name="f5" fmla="val ss"/>
              <a:gd name="f6" fmla="val 0"/>
              <a:gd name="f7" fmla="*/ 5419351 1 1725033"/>
              <a:gd name="f8" fmla="val 45"/>
              <a:gd name="f9" fmla="val 10800"/>
              <a:gd name="f10" fmla="abs f3"/>
              <a:gd name="f11" fmla="abs f4"/>
              <a:gd name="f12" fmla="abs f5"/>
              <a:gd name="f13" fmla="*/ f7 1 180"/>
              <a:gd name="f14" fmla="+- 0 0 f1"/>
              <a:gd name="f15" fmla="+- f6 f9 0"/>
              <a:gd name="f16" fmla="?: f10 f3 1"/>
              <a:gd name="f17" fmla="?: f11 f4 1"/>
              <a:gd name="f18" fmla="?: f12 f5 1"/>
              <a:gd name="f19" fmla="*/ f8 f13 1"/>
              <a:gd name="f20" fmla="+- f6 0 f15"/>
              <a:gd name="f21" fmla="+- f15 0 f6"/>
              <a:gd name="f22" fmla="*/ f16 1 21600"/>
              <a:gd name="f23" fmla="*/ f17 1 21600"/>
              <a:gd name="f24" fmla="*/ 21600 f16 1"/>
              <a:gd name="f25" fmla="*/ 21600 f17 1"/>
              <a:gd name="f26" fmla="+- 0 0 f19"/>
              <a:gd name="f27" fmla="abs f20"/>
              <a:gd name="f28" fmla="abs f21"/>
              <a:gd name="f29" fmla="?: f20 f14 f1"/>
              <a:gd name="f30" fmla="?: f20 f1 f14"/>
              <a:gd name="f31" fmla="?: f20 f2 f1"/>
              <a:gd name="f32" fmla="?: f20 f1 f2"/>
              <a:gd name="f33" fmla="?: f21 f14 f1"/>
              <a:gd name="f34" fmla="?: f21 f1 f14"/>
              <a:gd name="f35" fmla="?: f20 0 f0"/>
              <a:gd name="f36" fmla="?: f20 f0 0"/>
              <a:gd name="f37" fmla="min f23 f22"/>
              <a:gd name="f38" fmla="*/ f24 1 f18"/>
              <a:gd name="f39" fmla="*/ f25 1 f18"/>
              <a:gd name="f40" fmla="*/ f26 f0 1"/>
              <a:gd name="f41" fmla="?: f20 f32 f31"/>
              <a:gd name="f42" fmla="?: f20 f31 f32"/>
              <a:gd name="f43" fmla="?: f21 f30 f29"/>
              <a:gd name="f44" fmla="val f38"/>
              <a:gd name="f45" fmla="val f39"/>
              <a:gd name="f46" fmla="*/ f40 1 f7"/>
              <a:gd name="f47" fmla="?: f21 f42 f41"/>
              <a:gd name="f48" fmla="*/ f15 f37 1"/>
              <a:gd name="f49" fmla="*/ f6 f37 1"/>
              <a:gd name="f50" fmla="*/ f27 f37 1"/>
              <a:gd name="f51" fmla="*/ f28 f37 1"/>
              <a:gd name="f52" fmla="+- f45 0 f9"/>
              <a:gd name="f53" fmla="+- f44 0 f9"/>
              <a:gd name="f54" fmla="+- f46 0 f1"/>
              <a:gd name="f55" fmla="*/ f45 f37 1"/>
              <a:gd name="f56" fmla="*/ f44 f37 1"/>
              <a:gd name="f57" fmla="+- f45 0 f52"/>
              <a:gd name="f58" fmla="+- f44 0 f53"/>
              <a:gd name="f59" fmla="+- f52 0 f45"/>
              <a:gd name="f60" fmla="+- f53 0 f44"/>
              <a:gd name="f61" fmla="+- f54 f1 0"/>
              <a:gd name="f62" fmla="*/ f52 f37 1"/>
              <a:gd name="f63" fmla="*/ f53 f37 1"/>
              <a:gd name="f64" fmla="abs f57"/>
              <a:gd name="f65" fmla="?: f57 0 f0"/>
              <a:gd name="f66" fmla="?: f57 f0 0"/>
              <a:gd name="f67" fmla="?: f57 f33 f34"/>
              <a:gd name="f68" fmla="abs f58"/>
              <a:gd name="f69" fmla="abs f59"/>
              <a:gd name="f70" fmla="?: f58 f14 f1"/>
              <a:gd name="f71" fmla="?: f58 f1 f14"/>
              <a:gd name="f72" fmla="?: f58 f2 f1"/>
              <a:gd name="f73" fmla="?: f58 f1 f2"/>
              <a:gd name="f74" fmla="abs f60"/>
              <a:gd name="f75" fmla="?: f60 f14 f1"/>
              <a:gd name="f76" fmla="?: f60 f1 f14"/>
              <a:gd name="f77" fmla="?: f60 f36 f35"/>
              <a:gd name="f78" fmla="?: f60 f35 f36"/>
              <a:gd name="f79" fmla="*/ f61 f7 1"/>
              <a:gd name="f80" fmla="?: f21 f66 f65"/>
              <a:gd name="f81" fmla="?: f21 f65 f66"/>
              <a:gd name="f82" fmla="?: f58 f73 f72"/>
              <a:gd name="f83" fmla="?: f58 f72 f73"/>
              <a:gd name="f84" fmla="?: f59 f71 f70"/>
              <a:gd name="f85" fmla="?: f20 f77 f78"/>
              <a:gd name="f86" fmla="?: f20 f75 f76"/>
              <a:gd name="f87" fmla="*/ f79 1 f0"/>
              <a:gd name="f88" fmla="*/ f64 f37 1"/>
              <a:gd name="f89" fmla="*/ f68 f37 1"/>
              <a:gd name="f90" fmla="*/ f69 f37 1"/>
              <a:gd name="f91" fmla="*/ f74 f37 1"/>
              <a:gd name="f92" fmla="?: f57 f80 f81"/>
              <a:gd name="f93" fmla="?: f59 f83 f82"/>
              <a:gd name="f94" fmla="+- 0 0 f87"/>
              <a:gd name="f95" fmla="+- 0 0 f94"/>
              <a:gd name="f96" fmla="*/ f95 f0 1"/>
              <a:gd name="f97" fmla="*/ f96 1 f7"/>
              <a:gd name="f98" fmla="+- f97 0 f1"/>
              <a:gd name="f99" fmla="cos 1 f98"/>
              <a:gd name="f100" fmla="+- 0 0 f99"/>
              <a:gd name="f101" fmla="+- 0 0 f100"/>
              <a:gd name="f102" fmla="val f101"/>
              <a:gd name="f103" fmla="+- 0 0 f102"/>
              <a:gd name="f104" fmla="*/ f9 f103 1"/>
              <a:gd name="f105" fmla="*/ f104 3163 1"/>
              <a:gd name="f106" fmla="*/ f105 1 7636"/>
              <a:gd name="f107" fmla="+- f6 f106 0"/>
              <a:gd name="f108" fmla="+- f44 0 f106"/>
              <a:gd name="f109" fmla="+- f45 0 f106"/>
              <a:gd name="f110" fmla="*/ f107 f37 1"/>
              <a:gd name="f111" fmla="*/ f108 f37 1"/>
              <a:gd name="f112" fmla="*/ f109 f3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10" t="f110" r="f111" b="f112"/>
            <a:pathLst>
              <a:path>
                <a:moveTo>
                  <a:pt x="f48" y="f49"/>
                </a:moveTo>
                <a:arcTo wR="f50" hR="f51" stAng="f47" swAng="f43"/>
                <a:lnTo>
                  <a:pt x="f49" y="f62"/>
                </a:lnTo>
                <a:arcTo wR="f51" hR="f88" stAng="f92" swAng="f67"/>
                <a:lnTo>
                  <a:pt x="f63" y="f55"/>
                </a:lnTo>
                <a:arcTo wR="f89" hR="f90" stAng="f93" swAng="f84"/>
                <a:lnTo>
                  <a:pt x="f56" y="f48"/>
                </a:lnTo>
                <a:arcTo wR="f91" hR="f50" stAng="f85" swAng="f86"/>
                <a:close/>
              </a:path>
            </a:pathLst>
          </a:custGeom>
          <a:solidFill>
            <a:srgbClr val="2553D6"/>
          </a:solidFill>
          <a:ln w="0" cap="flat">
            <a:solidFill>
              <a:srgbClr val="2553D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FDF1B566-96B3-2DDD-CD1B-6F87A5E6B678}"/>
              </a:ext>
            </a:extLst>
          </p:cNvPr>
          <p:cNvSpPr/>
          <p:nvPr/>
        </p:nvSpPr>
        <p:spPr>
          <a:xfrm>
            <a:off x="6267462" y="1751716"/>
            <a:ext cx="1162046" cy="24764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76196" tIns="76196" rIns="76196" bIns="76196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050" b="1" i="0" u="none" strike="noStrike" kern="0" cap="none" spc="0" baseline="0">
                <a:solidFill>
                  <a:srgbClr val="FFFFFF"/>
                </a:solidFill>
                <a:uFillTx/>
              </a:defRPr>
            </a:pPr>
            <a:r>
              <a:rPr lang="fr-FR" sz="900" b="1" i="0" u="none" strike="noStrike" kern="1200" cap="none" spc="0" baseline="0">
                <a:solidFill>
                  <a:srgbClr val="FFFFFF"/>
                </a:solidFill>
                <a:uFillTx/>
                <a:latin typeface="Aptos"/>
              </a:rPr>
              <a:t>summary</a:t>
            </a:r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C034315E-648D-2F22-5B9D-44A076AD5099}"/>
              </a:ext>
            </a:extLst>
          </p:cNvPr>
          <p:cNvSpPr/>
          <p:nvPr/>
        </p:nvSpPr>
        <p:spPr>
          <a:xfrm>
            <a:off x="6267462" y="2113663"/>
            <a:ext cx="5029200" cy="45720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t" anchorCtr="0" compatLnSpc="1">
            <a:norm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 b="0" i="0" u="none" strike="noStrike" kern="0" cap="none" spc="0" baseline="0">
                <a:solidFill>
                  <a:srgbClr val="334155"/>
                </a:solidFill>
                <a:uFillTx/>
              </a:defRPr>
            </a:pPr>
            <a:r>
              <a:rPr lang="en-US" sz="1200" b="0" i="0" u="none" strike="noStrike" kern="1200" cap="none" spc="0" baseline="0">
                <a:solidFill>
                  <a:srgbClr val="334155"/>
                </a:solidFill>
                <a:uFillTx/>
                <a:latin typeface="Aptos"/>
              </a:rPr>
              <a:t>One short paragraph. It appears at the top of the left panel.</a:t>
            </a:r>
          </a:p>
        </p:txBody>
      </p:sp>
      <p:sp>
        <p:nvSpPr>
          <p:cNvPr id="12" name="Rectangle : coins arrondis 10">
            <a:extLst>
              <a:ext uri="{FF2B5EF4-FFF2-40B4-BE49-F238E27FC236}">
                <a16:creationId xmlns:a16="http://schemas.microsoft.com/office/drawing/2014/main" id="{A7E2CD4A-21AD-5E06-0661-9264D59BCF4D}"/>
              </a:ext>
            </a:extLst>
          </p:cNvPr>
          <p:cNvSpPr/>
          <p:nvPr/>
        </p:nvSpPr>
        <p:spPr>
          <a:xfrm>
            <a:off x="6191256" y="2606085"/>
            <a:ext cx="5333996" cy="4118558"/>
          </a:xfrm>
          <a:custGeom>
            <a:avLst/>
            <a:gdLst>
              <a:gd name="f0" fmla="val 10800000"/>
              <a:gd name="f1" fmla="val 5400000"/>
              <a:gd name="f2" fmla="val 16200000"/>
              <a:gd name="f3" fmla="val w"/>
              <a:gd name="f4" fmla="val h"/>
              <a:gd name="f5" fmla="val ss"/>
              <a:gd name="f6" fmla="val 0"/>
              <a:gd name="f7" fmla="*/ 5419351 1 1725033"/>
              <a:gd name="f8" fmla="val 45"/>
              <a:gd name="f9" fmla="val 2979"/>
              <a:gd name="f10" fmla="abs f3"/>
              <a:gd name="f11" fmla="abs f4"/>
              <a:gd name="f12" fmla="abs f5"/>
              <a:gd name="f13" fmla="*/ f7 1 180"/>
              <a:gd name="f14" fmla="+- 0 0 f1"/>
              <a:gd name="f15" fmla="+- f6 f9 0"/>
              <a:gd name="f16" fmla="?: f10 f3 1"/>
              <a:gd name="f17" fmla="?: f11 f4 1"/>
              <a:gd name="f18" fmla="?: f12 f5 1"/>
              <a:gd name="f19" fmla="*/ f8 f13 1"/>
              <a:gd name="f20" fmla="+- f6 0 f15"/>
              <a:gd name="f21" fmla="+- f15 0 f6"/>
              <a:gd name="f22" fmla="*/ f16 1 21600"/>
              <a:gd name="f23" fmla="*/ f17 1 21600"/>
              <a:gd name="f24" fmla="*/ 21600 f16 1"/>
              <a:gd name="f25" fmla="*/ 21600 f17 1"/>
              <a:gd name="f26" fmla="+- 0 0 f19"/>
              <a:gd name="f27" fmla="abs f20"/>
              <a:gd name="f28" fmla="abs f21"/>
              <a:gd name="f29" fmla="?: f20 f14 f1"/>
              <a:gd name="f30" fmla="?: f20 f1 f14"/>
              <a:gd name="f31" fmla="?: f20 f2 f1"/>
              <a:gd name="f32" fmla="?: f20 f1 f2"/>
              <a:gd name="f33" fmla="?: f21 f14 f1"/>
              <a:gd name="f34" fmla="?: f21 f1 f14"/>
              <a:gd name="f35" fmla="?: f20 0 f0"/>
              <a:gd name="f36" fmla="?: f20 f0 0"/>
              <a:gd name="f37" fmla="min f23 f22"/>
              <a:gd name="f38" fmla="*/ f24 1 f18"/>
              <a:gd name="f39" fmla="*/ f25 1 f18"/>
              <a:gd name="f40" fmla="*/ f26 f0 1"/>
              <a:gd name="f41" fmla="?: f20 f32 f31"/>
              <a:gd name="f42" fmla="?: f20 f31 f32"/>
              <a:gd name="f43" fmla="?: f21 f30 f29"/>
              <a:gd name="f44" fmla="val f38"/>
              <a:gd name="f45" fmla="val f39"/>
              <a:gd name="f46" fmla="*/ f40 1 f7"/>
              <a:gd name="f47" fmla="?: f21 f42 f41"/>
              <a:gd name="f48" fmla="*/ f15 f37 1"/>
              <a:gd name="f49" fmla="*/ f6 f37 1"/>
              <a:gd name="f50" fmla="*/ f27 f37 1"/>
              <a:gd name="f51" fmla="*/ f28 f37 1"/>
              <a:gd name="f52" fmla="+- f45 0 f9"/>
              <a:gd name="f53" fmla="+- f44 0 f9"/>
              <a:gd name="f54" fmla="+- f46 0 f1"/>
              <a:gd name="f55" fmla="*/ f45 f37 1"/>
              <a:gd name="f56" fmla="*/ f44 f37 1"/>
              <a:gd name="f57" fmla="+- f45 0 f52"/>
              <a:gd name="f58" fmla="+- f44 0 f53"/>
              <a:gd name="f59" fmla="+- f52 0 f45"/>
              <a:gd name="f60" fmla="+- f53 0 f44"/>
              <a:gd name="f61" fmla="+- f54 f1 0"/>
              <a:gd name="f62" fmla="*/ f52 f37 1"/>
              <a:gd name="f63" fmla="*/ f53 f37 1"/>
              <a:gd name="f64" fmla="abs f57"/>
              <a:gd name="f65" fmla="?: f57 0 f0"/>
              <a:gd name="f66" fmla="?: f57 f0 0"/>
              <a:gd name="f67" fmla="?: f57 f33 f34"/>
              <a:gd name="f68" fmla="abs f58"/>
              <a:gd name="f69" fmla="abs f59"/>
              <a:gd name="f70" fmla="?: f58 f14 f1"/>
              <a:gd name="f71" fmla="?: f58 f1 f14"/>
              <a:gd name="f72" fmla="?: f58 f2 f1"/>
              <a:gd name="f73" fmla="?: f58 f1 f2"/>
              <a:gd name="f74" fmla="abs f60"/>
              <a:gd name="f75" fmla="?: f60 f14 f1"/>
              <a:gd name="f76" fmla="?: f60 f1 f14"/>
              <a:gd name="f77" fmla="?: f60 f36 f35"/>
              <a:gd name="f78" fmla="?: f60 f35 f36"/>
              <a:gd name="f79" fmla="*/ f61 f7 1"/>
              <a:gd name="f80" fmla="?: f21 f66 f65"/>
              <a:gd name="f81" fmla="?: f21 f65 f66"/>
              <a:gd name="f82" fmla="?: f58 f73 f72"/>
              <a:gd name="f83" fmla="?: f58 f72 f73"/>
              <a:gd name="f84" fmla="?: f59 f71 f70"/>
              <a:gd name="f85" fmla="?: f20 f77 f78"/>
              <a:gd name="f86" fmla="?: f20 f75 f76"/>
              <a:gd name="f87" fmla="*/ f79 1 f0"/>
              <a:gd name="f88" fmla="*/ f64 f37 1"/>
              <a:gd name="f89" fmla="*/ f68 f37 1"/>
              <a:gd name="f90" fmla="*/ f69 f37 1"/>
              <a:gd name="f91" fmla="*/ f74 f37 1"/>
              <a:gd name="f92" fmla="?: f57 f80 f81"/>
              <a:gd name="f93" fmla="?: f59 f83 f82"/>
              <a:gd name="f94" fmla="+- 0 0 f87"/>
              <a:gd name="f95" fmla="+- 0 0 f94"/>
              <a:gd name="f96" fmla="*/ f95 f0 1"/>
              <a:gd name="f97" fmla="*/ f96 1 f7"/>
              <a:gd name="f98" fmla="+- f97 0 f1"/>
              <a:gd name="f99" fmla="cos 1 f98"/>
              <a:gd name="f100" fmla="+- 0 0 f99"/>
              <a:gd name="f101" fmla="+- 0 0 f100"/>
              <a:gd name="f102" fmla="val f101"/>
              <a:gd name="f103" fmla="+- 0 0 f102"/>
              <a:gd name="f104" fmla="*/ f9 f103 1"/>
              <a:gd name="f105" fmla="*/ f104 3163 1"/>
              <a:gd name="f106" fmla="*/ f105 1 7636"/>
              <a:gd name="f107" fmla="+- f6 f106 0"/>
              <a:gd name="f108" fmla="+- f44 0 f106"/>
              <a:gd name="f109" fmla="+- f45 0 f106"/>
              <a:gd name="f110" fmla="*/ f107 f37 1"/>
              <a:gd name="f111" fmla="*/ f108 f37 1"/>
              <a:gd name="f112" fmla="*/ f109 f3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10" t="f110" r="f111" b="f112"/>
            <a:pathLst>
              <a:path>
                <a:moveTo>
                  <a:pt x="f48" y="f49"/>
                </a:moveTo>
                <a:arcTo wR="f50" hR="f51" stAng="f47" swAng="f43"/>
                <a:lnTo>
                  <a:pt x="f49" y="f62"/>
                </a:lnTo>
                <a:arcTo wR="f51" hR="f88" stAng="f92" swAng="f67"/>
                <a:lnTo>
                  <a:pt x="f63" y="f55"/>
                </a:lnTo>
                <a:arcTo wR="f89" hR="f90" stAng="f93" swAng="f84"/>
                <a:lnTo>
                  <a:pt x="f56" y="f48"/>
                </a:lnTo>
                <a:arcTo wR="f91" hR="f50" stAng="f85" swAng="f86"/>
                <a:close/>
              </a:path>
            </a:pathLst>
          </a:custGeom>
          <a:solidFill>
            <a:srgbClr val="FFFFFF"/>
          </a:solidFill>
          <a:ln w="9528" cap="flat">
            <a:solidFill>
              <a:srgbClr val="E2E8F0"/>
            </a:solidFill>
            <a:prstDash val="solid"/>
            <a:miter/>
          </a:ln>
          <a:effectLst>
            <a:outerShdw dist="19046" dir="5400000" algn="tl">
              <a:srgbClr val="000000">
                <a:alpha val="63000"/>
              </a:srgbClr>
            </a:outerShdw>
          </a:effectLst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000000"/>
              </a:solidFill>
              <a:uFillTx/>
              <a:latin typeface="Aptos Display"/>
            </a:endParaRPr>
          </a:p>
        </p:txBody>
      </p:sp>
      <p:sp>
        <p:nvSpPr>
          <p:cNvPr id="13" name="Rectangle : coins arrondis 11">
            <a:extLst>
              <a:ext uri="{FF2B5EF4-FFF2-40B4-BE49-F238E27FC236}">
                <a16:creationId xmlns:a16="http://schemas.microsoft.com/office/drawing/2014/main" id="{1A1EC9B9-7CF6-C16E-49AD-32D15BF36222}"/>
              </a:ext>
            </a:extLst>
          </p:cNvPr>
          <p:cNvSpPr/>
          <p:nvPr/>
        </p:nvSpPr>
        <p:spPr>
          <a:xfrm>
            <a:off x="6343659" y="2758488"/>
            <a:ext cx="1162046" cy="270680"/>
          </a:xfrm>
          <a:custGeom>
            <a:avLst/>
            <a:gdLst>
              <a:gd name="f0" fmla="val 10800000"/>
              <a:gd name="f1" fmla="val 5400000"/>
              <a:gd name="f2" fmla="val 16200000"/>
              <a:gd name="f3" fmla="val w"/>
              <a:gd name="f4" fmla="val h"/>
              <a:gd name="f5" fmla="val ss"/>
              <a:gd name="f6" fmla="val 0"/>
              <a:gd name="f7" fmla="*/ 5419351 1 1725033"/>
              <a:gd name="f8" fmla="val 45"/>
              <a:gd name="f9" fmla="val 10800"/>
              <a:gd name="f10" fmla="abs f3"/>
              <a:gd name="f11" fmla="abs f4"/>
              <a:gd name="f12" fmla="abs f5"/>
              <a:gd name="f13" fmla="*/ f7 1 180"/>
              <a:gd name="f14" fmla="+- 0 0 f1"/>
              <a:gd name="f15" fmla="+- f6 f9 0"/>
              <a:gd name="f16" fmla="?: f10 f3 1"/>
              <a:gd name="f17" fmla="?: f11 f4 1"/>
              <a:gd name="f18" fmla="?: f12 f5 1"/>
              <a:gd name="f19" fmla="*/ f8 f13 1"/>
              <a:gd name="f20" fmla="+- f6 0 f15"/>
              <a:gd name="f21" fmla="+- f15 0 f6"/>
              <a:gd name="f22" fmla="*/ f16 1 21600"/>
              <a:gd name="f23" fmla="*/ f17 1 21600"/>
              <a:gd name="f24" fmla="*/ 21600 f16 1"/>
              <a:gd name="f25" fmla="*/ 21600 f17 1"/>
              <a:gd name="f26" fmla="+- 0 0 f19"/>
              <a:gd name="f27" fmla="abs f20"/>
              <a:gd name="f28" fmla="abs f21"/>
              <a:gd name="f29" fmla="?: f20 f14 f1"/>
              <a:gd name="f30" fmla="?: f20 f1 f14"/>
              <a:gd name="f31" fmla="?: f20 f2 f1"/>
              <a:gd name="f32" fmla="?: f20 f1 f2"/>
              <a:gd name="f33" fmla="?: f21 f14 f1"/>
              <a:gd name="f34" fmla="?: f21 f1 f14"/>
              <a:gd name="f35" fmla="?: f20 0 f0"/>
              <a:gd name="f36" fmla="?: f20 f0 0"/>
              <a:gd name="f37" fmla="min f23 f22"/>
              <a:gd name="f38" fmla="*/ f24 1 f18"/>
              <a:gd name="f39" fmla="*/ f25 1 f18"/>
              <a:gd name="f40" fmla="*/ f26 f0 1"/>
              <a:gd name="f41" fmla="?: f20 f32 f31"/>
              <a:gd name="f42" fmla="?: f20 f31 f32"/>
              <a:gd name="f43" fmla="?: f21 f30 f29"/>
              <a:gd name="f44" fmla="val f38"/>
              <a:gd name="f45" fmla="val f39"/>
              <a:gd name="f46" fmla="*/ f40 1 f7"/>
              <a:gd name="f47" fmla="?: f21 f42 f41"/>
              <a:gd name="f48" fmla="*/ f15 f37 1"/>
              <a:gd name="f49" fmla="*/ f6 f37 1"/>
              <a:gd name="f50" fmla="*/ f27 f37 1"/>
              <a:gd name="f51" fmla="*/ f28 f37 1"/>
              <a:gd name="f52" fmla="+- f45 0 f9"/>
              <a:gd name="f53" fmla="+- f44 0 f9"/>
              <a:gd name="f54" fmla="+- f46 0 f1"/>
              <a:gd name="f55" fmla="*/ f45 f37 1"/>
              <a:gd name="f56" fmla="*/ f44 f37 1"/>
              <a:gd name="f57" fmla="+- f45 0 f52"/>
              <a:gd name="f58" fmla="+- f44 0 f53"/>
              <a:gd name="f59" fmla="+- f52 0 f45"/>
              <a:gd name="f60" fmla="+- f53 0 f44"/>
              <a:gd name="f61" fmla="+- f54 f1 0"/>
              <a:gd name="f62" fmla="*/ f52 f37 1"/>
              <a:gd name="f63" fmla="*/ f53 f37 1"/>
              <a:gd name="f64" fmla="abs f57"/>
              <a:gd name="f65" fmla="?: f57 0 f0"/>
              <a:gd name="f66" fmla="?: f57 f0 0"/>
              <a:gd name="f67" fmla="?: f57 f33 f34"/>
              <a:gd name="f68" fmla="abs f58"/>
              <a:gd name="f69" fmla="abs f59"/>
              <a:gd name="f70" fmla="?: f58 f14 f1"/>
              <a:gd name="f71" fmla="?: f58 f1 f14"/>
              <a:gd name="f72" fmla="?: f58 f2 f1"/>
              <a:gd name="f73" fmla="?: f58 f1 f2"/>
              <a:gd name="f74" fmla="abs f60"/>
              <a:gd name="f75" fmla="?: f60 f14 f1"/>
              <a:gd name="f76" fmla="?: f60 f1 f14"/>
              <a:gd name="f77" fmla="?: f60 f36 f35"/>
              <a:gd name="f78" fmla="?: f60 f35 f36"/>
              <a:gd name="f79" fmla="*/ f61 f7 1"/>
              <a:gd name="f80" fmla="?: f21 f66 f65"/>
              <a:gd name="f81" fmla="?: f21 f65 f66"/>
              <a:gd name="f82" fmla="?: f58 f73 f72"/>
              <a:gd name="f83" fmla="?: f58 f72 f73"/>
              <a:gd name="f84" fmla="?: f59 f71 f70"/>
              <a:gd name="f85" fmla="?: f20 f77 f78"/>
              <a:gd name="f86" fmla="?: f20 f75 f76"/>
              <a:gd name="f87" fmla="*/ f79 1 f0"/>
              <a:gd name="f88" fmla="*/ f64 f37 1"/>
              <a:gd name="f89" fmla="*/ f68 f37 1"/>
              <a:gd name="f90" fmla="*/ f69 f37 1"/>
              <a:gd name="f91" fmla="*/ f74 f37 1"/>
              <a:gd name="f92" fmla="?: f57 f80 f81"/>
              <a:gd name="f93" fmla="?: f59 f83 f82"/>
              <a:gd name="f94" fmla="+- 0 0 f87"/>
              <a:gd name="f95" fmla="+- 0 0 f94"/>
              <a:gd name="f96" fmla="*/ f95 f0 1"/>
              <a:gd name="f97" fmla="*/ f96 1 f7"/>
              <a:gd name="f98" fmla="+- f97 0 f1"/>
              <a:gd name="f99" fmla="cos 1 f98"/>
              <a:gd name="f100" fmla="+- 0 0 f99"/>
              <a:gd name="f101" fmla="+- 0 0 f100"/>
              <a:gd name="f102" fmla="val f101"/>
              <a:gd name="f103" fmla="+- 0 0 f102"/>
              <a:gd name="f104" fmla="*/ f9 f103 1"/>
              <a:gd name="f105" fmla="*/ f104 3163 1"/>
              <a:gd name="f106" fmla="*/ f105 1 7636"/>
              <a:gd name="f107" fmla="+- f6 f106 0"/>
              <a:gd name="f108" fmla="+- f44 0 f106"/>
              <a:gd name="f109" fmla="+- f45 0 f106"/>
              <a:gd name="f110" fmla="*/ f107 f37 1"/>
              <a:gd name="f111" fmla="*/ f108 f37 1"/>
              <a:gd name="f112" fmla="*/ f109 f3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10" t="f110" r="f111" b="f112"/>
            <a:pathLst>
              <a:path>
                <a:moveTo>
                  <a:pt x="f48" y="f49"/>
                </a:moveTo>
                <a:arcTo wR="f50" hR="f51" stAng="f47" swAng="f43"/>
                <a:lnTo>
                  <a:pt x="f49" y="f62"/>
                </a:lnTo>
                <a:arcTo wR="f51" hR="f88" stAng="f92" swAng="f67"/>
                <a:lnTo>
                  <a:pt x="f63" y="f55"/>
                </a:lnTo>
                <a:arcTo wR="f89" hR="f90" stAng="f93" swAng="f84"/>
                <a:lnTo>
                  <a:pt x="f56" y="f48"/>
                </a:lnTo>
                <a:arcTo wR="f91" hR="f50" stAng="f85" swAng="f86"/>
                <a:close/>
              </a:path>
            </a:pathLst>
          </a:custGeom>
          <a:solidFill>
            <a:srgbClr val="16803C"/>
          </a:solidFill>
          <a:ln w="0" cap="flat">
            <a:solidFill>
              <a:srgbClr val="16803C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4" name="Rectangle 12">
            <a:extLst>
              <a:ext uri="{FF2B5EF4-FFF2-40B4-BE49-F238E27FC236}">
                <a16:creationId xmlns:a16="http://schemas.microsoft.com/office/drawing/2014/main" id="{F6657A8E-5832-103A-D9AB-34B4DF84E707}"/>
              </a:ext>
            </a:extLst>
          </p:cNvPr>
          <p:cNvSpPr/>
          <p:nvPr/>
        </p:nvSpPr>
        <p:spPr>
          <a:xfrm>
            <a:off x="6343650" y="2758497"/>
            <a:ext cx="1162046" cy="2706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76196" tIns="76196" rIns="76196" bIns="76196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050" b="1" i="0" u="none" strike="noStrike" kern="0" cap="none" spc="0" baseline="0">
                <a:solidFill>
                  <a:srgbClr val="FFFFFF"/>
                </a:solidFill>
                <a:uFillTx/>
              </a:defRPr>
            </a:pPr>
            <a:r>
              <a:rPr lang="fr-FR" sz="1000" b="1" i="0" u="none" strike="noStrike" kern="1200" cap="none" spc="0" baseline="0">
                <a:solidFill>
                  <a:srgbClr val="FFFFFF"/>
                </a:solidFill>
                <a:uFillTx/>
                <a:latin typeface="Aptos"/>
              </a:rPr>
              <a:t>vessel_info</a:t>
            </a:r>
          </a:p>
        </p:txBody>
      </p:sp>
      <p:sp>
        <p:nvSpPr>
          <p:cNvPr id="15" name="Rectangle 13">
            <a:extLst>
              <a:ext uri="{FF2B5EF4-FFF2-40B4-BE49-F238E27FC236}">
                <a16:creationId xmlns:a16="http://schemas.microsoft.com/office/drawing/2014/main" id="{F02EDA99-7DF1-7710-7044-5C9117DB073E}"/>
              </a:ext>
            </a:extLst>
          </p:cNvPr>
          <p:cNvSpPr/>
          <p:nvPr/>
        </p:nvSpPr>
        <p:spPr>
          <a:xfrm>
            <a:off x="6343659" y="3120435"/>
            <a:ext cx="5029200" cy="2103055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t" anchorCtr="0" compatLnSpc="1">
            <a:norm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 b="0" i="0" u="none" strike="noStrike" kern="0" cap="none" spc="0" baseline="0">
                <a:solidFill>
                  <a:srgbClr val="334155"/>
                </a:solidFill>
                <a:uFillTx/>
              </a:defRPr>
            </a:pPr>
            <a:r>
              <a:rPr lang="fr-FR" sz="1200" b="0" i="0" u="none" strike="noStrike" kern="0" cap="none" spc="0" baseline="0">
                <a:solidFill>
                  <a:srgbClr val="334155"/>
                </a:solidFill>
                <a:uFillTx/>
                <a:latin typeface="Aptos"/>
              </a:rPr>
              <a:t>You can add multiple groups of this kind one after another to create a list of data representing information about the vessel or the environment</a:t>
            </a:r>
            <a:endParaRPr lang="en-US" sz="1200" b="0" i="0" u="none" strike="noStrike" kern="1200" cap="none" spc="0" baseline="0">
              <a:solidFill>
                <a:srgbClr val="334155"/>
              </a:solidFill>
              <a:uFillTx/>
              <a:latin typeface="Aptos"/>
            </a:endParaRPr>
          </a:p>
        </p:txBody>
      </p:sp>
      <p:sp>
        <p:nvSpPr>
          <p:cNvPr id="16" name="Rectangle 16">
            <a:extLst>
              <a:ext uri="{FF2B5EF4-FFF2-40B4-BE49-F238E27FC236}">
                <a16:creationId xmlns:a16="http://schemas.microsoft.com/office/drawing/2014/main" id="{AA18EE16-9791-A49A-734E-1A4C49ECBD97}"/>
              </a:ext>
            </a:extLst>
          </p:cNvPr>
          <p:cNvSpPr/>
          <p:nvPr/>
        </p:nvSpPr>
        <p:spPr>
          <a:xfrm>
            <a:off x="6343650" y="4091181"/>
            <a:ext cx="1162046" cy="24764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76196" tIns="76196" rIns="76196" bIns="76196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050" b="1" i="0" u="none" strike="noStrike" kern="0" cap="none" spc="0" baseline="0">
                <a:solidFill>
                  <a:srgbClr val="FFFFFF"/>
                </a:solidFill>
                <a:uFillTx/>
              </a:defRPr>
            </a:pPr>
            <a:r>
              <a:rPr lang="fr-FR" sz="900" b="1" i="0" u="none" strike="noStrike" kern="1200" cap="none" spc="0" baseline="0">
                <a:solidFill>
                  <a:srgbClr val="FFFFFF"/>
                </a:solidFill>
                <a:uFillTx/>
                <a:latin typeface="Aptos"/>
              </a:rPr>
              <a:t>How to build it</a:t>
            </a:r>
          </a:p>
        </p:txBody>
      </p:sp>
      <p:sp>
        <p:nvSpPr>
          <p:cNvPr id="17" name="Rectangle 18">
            <a:extLst>
              <a:ext uri="{FF2B5EF4-FFF2-40B4-BE49-F238E27FC236}">
                <a16:creationId xmlns:a16="http://schemas.microsoft.com/office/drawing/2014/main" id="{15828B99-4ABF-665D-191C-BBD8E9667336}"/>
              </a:ext>
            </a:extLst>
          </p:cNvPr>
          <p:cNvSpPr/>
          <p:nvPr/>
        </p:nvSpPr>
        <p:spPr>
          <a:xfrm>
            <a:off x="329467" y="6536231"/>
            <a:ext cx="3047996" cy="19049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t" anchorCtr="0" compatLnSpc="1">
            <a:norm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825" b="0" i="0" u="none" strike="noStrike" kern="0" cap="none" spc="0" baseline="0">
                <a:solidFill>
                  <a:srgbClr val="64748B"/>
                </a:solidFill>
                <a:uFillTx/>
              </a:defRPr>
            </a:pPr>
            <a:r>
              <a:rPr lang="en-US" sz="825" b="0" i="0" u="none" strike="noStrike" kern="1200" cap="none" spc="0" baseline="0">
                <a:solidFill>
                  <a:srgbClr val="64748B"/>
                </a:solidFill>
                <a:uFillTx/>
                <a:latin typeface="Aptos"/>
              </a:rPr>
              <a:t>Data Hub guide - new vessel workflow</a:t>
            </a:r>
          </a:p>
        </p:txBody>
      </p:sp>
      <p:sp>
        <p:nvSpPr>
          <p:cNvPr id="18" name="Rectangle 19">
            <a:extLst>
              <a:ext uri="{FF2B5EF4-FFF2-40B4-BE49-F238E27FC236}">
                <a16:creationId xmlns:a16="http://schemas.microsoft.com/office/drawing/2014/main" id="{580D4970-E264-9F05-AF75-67F7B5C6AE0E}"/>
              </a:ext>
            </a:extLst>
          </p:cNvPr>
          <p:cNvSpPr/>
          <p:nvPr/>
        </p:nvSpPr>
        <p:spPr>
          <a:xfrm>
            <a:off x="11144250" y="6496053"/>
            <a:ext cx="381003" cy="22860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t" anchorCtr="0" compatLnSpc="1">
            <a:norm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900" b="1" i="0" u="none" strike="noStrike" kern="0" cap="none" spc="0" baseline="0">
                <a:solidFill>
                  <a:srgbClr val="64748B"/>
                </a:solidFill>
                <a:uFillTx/>
              </a:defRPr>
            </a:pPr>
            <a:r>
              <a:rPr lang="fr-FR" sz="900" b="1" i="0" u="none" strike="noStrike" kern="1200" cap="none" spc="0" baseline="0">
                <a:solidFill>
                  <a:srgbClr val="64748B"/>
                </a:solidFill>
                <a:uFillTx/>
                <a:latin typeface="Aptos"/>
              </a:rPr>
              <a:t>6</a:t>
            </a:r>
          </a:p>
        </p:txBody>
      </p:sp>
      <p:sp>
        <p:nvSpPr>
          <p:cNvPr id="19" name="Rectangle : coins arrondis 21">
            <a:extLst>
              <a:ext uri="{FF2B5EF4-FFF2-40B4-BE49-F238E27FC236}">
                <a16:creationId xmlns:a16="http://schemas.microsoft.com/office/drawing/2014/main" id="{79B24977-D506-B255-704B-2522DA32AA37}"/>
              </a:ext>
            </a:extLst>
          </p:cNvPr>
          <p:cNvSpPr/>
          <p:nvPr/>
        </p:nvSpPr>
        <p:spPr>
          <a:xfrm>
            <a:off x="590254" y="2247220"/>
            <a:ext cx="5073648" cy="477517"/>
          </a:xfrm>
          <a:custGeom>
            <a:avLst/>
            <a:gdLst>
              <a:gd name="f0" fmla="val 10800000"/>
              <a:gd name="f1" fmla="val 5400000"/>
              <a:gd name="f2" fmla="val 16200000"/>
              <a:gd name="f3" fmla="val w"/>
              <a:gd name="f4" fmla="val h"/>
              <a:gd name="f5" fmla="val ss"/>
              <a:gd name="f6" fmla="val 0"/>
              <a:gd name="f7" fmla="*/ 5419351 1 1725033"/>
              <a:gd name="f8" fmla="val 45"/>
              <a:gd name="f9" fmla="val 3600"/>
              <a:gd name="f10" fmla="abs f3"/>
              <a:gd name="f11" fmla="abs f4"/>
              <a:gd name="f12" fmla="abs f5"/>
              <a:gd name="f13" fmla="*/ f7 1 180"/>
              <a:gd name="f14" fmla="+- 0 0 f1"/>
              <a:gd name="f15" fmla="+- f6 f9 0"/>
              <a:gd name="f16" fmla="?: f10 f3 1"/>
              <a:gd name="f17" fmla="?: f11 f4 1"/>
              <a:gd name="f18" fmla="?: f12 f5 1"/>
              <a:gd name="f19" fmla="*/ f8 f13 1"/>
              <a:gd name="f20" fmla="+- f6 0 f15"/>
              <a:gd name="f21" fmla="+- f15 0 f6"/>
              <a:gd name="f22" fmla="*/ f16 1 21600"/>
              <a:gd name="f23" fmla="*/ f17 1 21600"/>
              <a:gd name="f24" fmla="*/ 21600 f16 1"/>
              <a:gd name="f25" fmla="*/ 21600 f17 1"/>
              <a:gd name="f26" fmla="+- 0 0 f19"/>
              <a:gd name="f27" fmla="abs f20"/>
              <a:gd name="f28" fmla="abs f21"/>
              <a:gd name="f29" fmla="?: f20 f14 f1"/>
              <a:gd name="f30" fmla="?: f20 f1 f14"/>
              <a:gd name="f31" fmla="?: f20 f2 f1"/>
              <a:gd name="f32" fmla="?: f20 f1 f2"/>
              <a:gd name="f33" fmla="?: f21 f14 f1"/>
              <a:gd name="f34" fmla="?: f21 f1 f14"/>
              <a:gd name="f35" fmla="?: f20 0 f0"/>
              <a:gd name="f36" fmla="?: f20 f0 0"/>
              <a:gd name="f37" fmla="min f23 f22"/>
              <a:gd name="f38" fmla="*/ f24 1 f18"/>
              <a:gd name="f39" fmla="*/ f25 1 f18"/>
              <a:gd name="f40" fmla="*/ f26 f0 1"/>
              <a:gd name="f41" fmla="?: f20 f32 f31"/>
              <a:gd name="f42" fmla="?: f20 f31 f32"/>
              <a:gd name="f43" fmla="?: f21 f30 f29"/>
              <a:gd name="f44" fmla="val f38"/>
              <a:gd name="f45" fmla="val f39"/>
              <a:gd name="f46" fmla="*/ f40 1 f7"/>
              <a:gd name="f47" fmla="?: f21 f42 f41"/>
              <a:gd name="f48" fmla="*/ f15 f37 1"/>
              <a:gd name="f49" fmla="*/ f6 f37 1"/>
              <a:gd name="f50" fmla="*/ f27 f37 1"/>
              <a:gd name="f51" fmla="*/ f28 f37 1"/>
              <a:gd name="f52" fmla="+- f45 0 f9"/>
              <a:gd name="f53" fmla="+- f44 0 f9"/>
              <a:gd name="f54" fmla="+- f46 0 f1"/>
              <a:gd name="f55" fmla="*/ f45 f37 1"/>
              <a:gd name="f56" fmla="*/ f44 f37 1"/>
              <a:gd name="f57" fmla="+- f45 0 f52"/>
              <a:gd name="f58" fmla="+- f44 0 f53"/>
              <a:gd name="f59" fmla="+- f52 0 f45"/>
              <a:gd name="f60" fmla="+- f53 0 f44"/>
              <a:gd name="f61" fmla="+- f54 f1 0"/>
              <a:gd name="f62" fmla="*/ f52 f37 1"/>
              <a:gd name="f63" fmla="*/ f53 f37 1"/>
              <a:gd name="f64" fmla="abs f57"/>
              <a:gd name="f65" fmla="?: f57 0 f0"/>
              <a:gd name="f66" fmla="?: f57 f0 0"/>
              <a:gd name="f67" fmla="?: f57 f33 f34"/>
              <a:gd name="f68" fmla="abs f58"/>
              <a:gd name="f69" fmla="abs f59"/>
              <a:gd name="f70" fmla="?: f58 f14 f1"/>
              <a:gd name="f71" fmla="?: f58 f1 f14"/>
              <a:gd name="f72" fmla="?: f58 f2 f1"/>
              <a:gd name="f73" fmla="?: f58 f1 f2"/>
              <a:gd name="f74" fmla="abs f60"/>
              <a:gd name="f75" fmla="?: f60 f14 f1"/>
              <a:gd name="f76" fmla="?: f60 f1 f14"/>
              <a:gd name="f77" fmla="?: f60 f36 f35"/>
              <a:gd name="f78" fmla="?: f60 f35 f36"/>
              <a:gd name="f79" fmla="*/ f61 f7 1"/>
              <a:gd name="f80" fmla="?: f21 f66 f65"/>
              <a:gd name="f81" fmla="?: f21 f65 f66"/>
              <a:gd name="f82" fmla="?: f58 f73 f72"/>
              <a:gd name="f83" fmla="?: f58 f72 f73"/>
              <a:gd name="f84" fmla="?: f59 f71 f70"/>
              <a:gd name="f85" fmla="?: f20 f77 f78"/>
              <a:gd name="f86" fmla="?: f20 f75 f76"/>
              <a:gd name="f87" fmla="*/ f79 1 f0"/>
              <a:gd name="f88" fmla="*/ f64 f37 1"/>
              <a:gd name="f89" fmla="*/ f68 f37 1"/>
              <a:gd name="f90" fmla="*/ f69 f37 1"/>
              <a:gd name="f91" fmla="*/ f74 f37 1"/>
              <a:gd name="f92" fmla="?: f57 f80 f81"/>
              <a:gd name="f93" fmla="?: f59 f83 f82"/>
              <a:gd name="f94" fmla="+- 0 0 f87"/>
              <a:gd name="f95" fmla="+- 0 0 f94"/>
              <a:gd name="f96" fmla="*/ f95 f0 1"/>
              <a:gd name="f97" fmla="*/ f96 1 f7"/>
              <a:gd name="f98" fmla="+- f97 0 f1"/>
              <a:gd name="f99" fmla="cos 1 f98"/>
              <a:gd name="f100" fmla="+- 0 0 f99"/>
              <a:gd name="f101" fmla="+- 0 0 f100"/>
              <a:gd name="f102" fmla="val f101"/>
              <a:gd name="f103" fmla="+- 0 0 f102"/>
              <a:gd name="f104" fmla="*/ f9 f103 1"/>
              <a:gd name="f105" fmla="*/ f104 3163 1"/>
              <a:gd name="f106" fmla="*/ f105 1 7636"/>
              <a:gd name="f107" fmla="+- f6 f106 0"/>
              <a:gd name="f108" fmla="+- f44 0 f106"/>
              <a:gd name="f109" fmla="+- f45 0 f106"/>
              <a:gd name="f110" fmla="*/ f107 f37 1"/>
              <a:gd name="f111" fmla="*/ f108 f37 1"/>
              <a:gd name="f112" fmla="*/ f109 f3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10" t="f110" r="f111" b="f112"/>
            <a:pathLst>
              <a:path>
                <a:moveTo>
                  <a:pt x="f48" y="f49"/>
                </a:moveTo>
                <a:arcTo wR="f50" hR="f51" stAng="f47" swAng="f43"/>
                <a:lnTo>
                  <a:pt x="f49" y="f62"/>
                </a:lnTo>
                <a:arcTo wR="f51" hR="f88" stAng="f92" swAng="f67"/>
                <a:lnTo>
                  <a:pt x="f63" y="f55"/>
                </a:lnTo>
                <a:arcTo wR="f89" hR="f90" stAng="f93" swAng="f84"/>
                <a:lnTo>
                  <a:pt x="f56" y="f48"/>
                </a:lnTo>
                <a:arcTo wR="f91" hR="f50" stAng="f85" swAng="f86"/>
                <a:close/>
              </a:path>
            </a:pathLst>
          </a:custGeom>
          <a:solidFill>
            <a:srgbClr val="0F9ED5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 dirty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0" name="Rectangle : coins arrondis 24">
            <a:extLst>
              <a:ext uri="{FF2B5EF4-FFF2-40B4-BE49-F238E27FC236}">
                <a16:creationId xmlns:a16="http://schemas.microsoft.com/office/drawing/2014/main" id="{7FE4E4A5-72A4-317B-9D91-BCA2B657C17E}"/>
              </a:ext>
            </a:extLst>
          </p:cNvPr>
          <p:cNvSpPr/>
          <p:nvPr/>
        </p:nvSpPr>
        <p:spPr>
          <a:xfrm>
            <a:off x="555324" y="3008659"/>
            <a:ext cx="5073648" cy="1255562"/>
          </a:xfrm>
          <a:custGeom>
            <a:avLst/>
            <a:gdLst>
              <a:gd name="f0" fmla="val 10800000"/>
              <a:gd name="f1" fmla="val 5400000"/>
              <a:gd name="f2" fmla="val 16200000"/>
              <a:gd name="f3" fmla="val w"/>
              <a:gd name="f4" fmla="val h"/>
              <a:gd name="f5" fmla="val ss"/>
              <a:gd name="f6" fmla="val 0"/>
              <a:gd name="f7" fmla="*/ 5419351 1 1725033"/>
              <a:gd name="f8" fmla="val 45"/>
              <a:gd name="f9" fmla="val 3600"/>
              <a:gd name="f10" fmla="abs f3"/>
              <a:gd name="f11" fmla="abs f4"/>
              <a:gd name="f12" fmla="abs f5"/>
              <a:gd name="f13" fmla="*/ f7 1 180"/>
              <a:gd name="f14" fmla="+- 0 0 f1"/>
              <a:gd name="f15" fmla="+- f6 f9 0"/>
              <a:gd name="f16" fmla="?: f10 f3 1"/>
              <a:gd name="f17" fmla="?: f11 f4 1"/>
              <a:gd name="f18" fmla="?: f12 f5 1"/>
              <a:gd name="f19" fmla="*/ f8 f13 1"/>
              <a:gd name="f20" fmla="+- f6 0 f15"/>
              <a:gd name="f21" fmla="+- f15 0 f6"/>
              <a:gd name="f22" fmla="*/ f16 1 21600"/>
              <a:gd name="f23" fmla="*/ f17 1 21600"/>
              <a:gd name="f24" fmla="*/ 21600 f16 1"/>
              <a:gd name="f25" fmla="*/ 21600 f17 1"/>
              <a:gd name="f26" fmla="+- 0 0 f19"/>
              <a:gd name="f27" fmla="abs f20"/>
              <a:gd name="f28" fmla="abs f21"/>
              <a:gd name="f29" fmla="?: f20 f14 f1"/>
              <a:gd name="f30" fmla="?: f20 f1 f14"/>
              <a:gd name="f31" fmla="?: f20 f2 f1"/>
              <a:gd name="f32" fmla="?: f20 f1 f2"/>
              <a:gd name="f33" fmla="?: f21 f14 f1"/>
              <a:gd name="f34" fmla="?: f21 f1 f14"/>
              <a:gd name="f35" fmla="?: f20 0 f0"/>
              <a:gd name="f36" fmla="?: f20 f0 0"/>
              <a:gd name="f37" fmla="min f23 f22"/>
              <a:gd name="f38" fmla="*/ f24 1 f18"/>
              <a:gd name="f39" fmla="*/ f25 1 f18"/>
              <a:gd name="f40" fmla="*/ f26 f0 1"/>
              <a:gd name="f41" fmla="?: f20 f32 f31"/>
              <a:gd name="f42" fmla="?: f20 f31 f32"/>
              <a:gd name="f43" fmla="?: f21 f30 f29"/>
              <a:gd name="f44" fmla="val f38"/>
              <a:gd name="f45" fmla="val f39"/>
              <a:gd name="f46" fmla="*/ f40 1 f7"/>
              <a:gd name="f47" fmla="?: f21 f42 f41"/>
              <a:gd name="f48" fmla="*/ f15 f37 1"/>
              <a:gd name="f49" fmla="*/ f6 f37 1"/>
              <a:gd name="f50" fmla="*/ f27 f37 1"/>
              <a:gd name="f51" fmla="*/ f28 f37 1"/>
              <a:gd name="f52" fmla="+- f45 0 f9"/>
              <a:gd name="f53" fmla="+- f44 0 f9"/>
              <a:gd name="f54" fmla="+- f46 0 f1"/>
              <a:gd name="f55" fmla="*/ f45 f37 1"/>
              <a:gd name="f56" fmla="*/ f44 f37 1"/>
              <a:gd name="f57" fmla="+- f45 0 f52"/>
              <a:gd name="f58" fmla="+- f44 0 f53"/>
              <a:gd name="f59" fmla="+- f52 0 f45"/>
              <a:gd name="f60" fmla="+- f53 0 f44"/>
              <a:gd name="f61" fmla="+- f54 f1 0"/>
              <a:gd name="f62" fmla="*/ f52 f37 1"/>
              <a:gd name="f63" fmla="*/ f53 f37 1"/>
              <a:gd name="f64" fmla="abs f57"/>
              <a:gd name="f65" fmla="?: f57 0 f0"/>
              <a:gd name="f66" fmla="?: f57 f0 0"/>
              <a:gd name="f67" fmla="?: f57 f33 f34"/>
              <a:gd name="f68" fmla="abs f58"/>
              <a:gd name="f69" fmla="abs f59"/>
              <a:gd name="f70" fmla="?: f58 f14 f1"/>
              <a:gd name="f71" fmla="?: f58 f1 f14"/>
              <a:gd name="f72" fmla="?: f58 f2 f1"/>
              <a:gd name="f73" fmla="?: f58 f1 f2"/>
              <a:gd name="f74" fmla="abs f60"/>
              <a:gd name="f75" fmla="?: f60 f14 f1"/>
              <a:gd name="f76" fmla="?: f60 f1 f14"/>
              <a:gd name="f77" fmla="?: f60 f36 f35"/>
              <a:gd name="f78" fmla="?: f60 f35 f36"/>
              <a:gd name="f79" fmla="*/ f61 f7 1"/>
              <a:gd name="f80" fmla="?: f21 f66 f65"/>
              <a:gd name="f81" fmla="?: f21 f65 f66"/>
              <a:gd name="f82" fmla="?: f58 f73 f72"/>
              <a:gd name="f83" fmla="?: f58 f72 f73"/>
              <a:gd name="f84" fmla="?: f59 f71 f70"/>
              <a:gd name="f85" fmla="?: f20 f77 f78"/>
              <a:gd name="f86" fmla="?: f20 f75 f76"/>
              <a:gd name="f87" fmla="*/ f79 1 f0"/>
              <a:gd name="f88" fmla="*/ f64 f37 1"/>
              <a:gd name="f89" fmla="*/ f68 f37 1"/>
              <a:gd name="f90" fmla="*/ f69 f37 1"/>
              <a:gd name="f91" fmla="*/ f74 f37 1"/>
              <a:gd name="f92" fmla="?: f57 f80 f81"/>
              <a:gd name="f93" fmla="?: f59 f83 f82"/>
              <a:gd name="f94" fmla="+- 0 0 f87"/>
              <a:gd name="f95" fmla="+- 0 0 f94"/>
              <a:gd name="f96" fmla="*/ f95 f0 1"/>
              <a:gd name="f97" fmla="*/ f96 1 f7"/>
              <a:gd name="f98" fmla="+- f97 0 f1"/>
              <a:gd name="f99" fmla="cos 1 f98"/>
              <a:gd name="f100" fmla="+- 0 0 f99"/>
              <a:gd name="f101" fmla="+- 0 0 f100"/>
              <a:gd name="f102" fmla="val f101"/>
              <a:gd name="f103" fmla="+- 0 0 f102"/>
              <a:gd name="f104" fmla="*/ f9 f103 1"/>
              <a:gd name="f105" fmla="*/ f104 3163 1"/>
              <a:gd name="f106" fmla="*/ f105 1 7636"/>
              <a:gd name="f107" fmla="+- f6 f106 0"/>
              <a:gd name="f108" fmla="+- f44 0 f106"/>
              <a:gd name="f109" fmla="+- f45 0 f106"/>
              <a:gd name="f110" fmla="*/ f107 f37 1"/>
              <a:gd name="f111" fmla="*/ f108 f37 1"/>
              <a:gd name="f112" fmla="*/ f109 f3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10" t="f110" r="f111" b="f112"/>
            <a:pathLst>
              <a:path>
                <a:moveTo>
                  <a:pt x="f48" y="f49"/>
                </a:moveTo>
                <a:arcTo wR="f50" hR="f51" stAng="f47" swAng="f43"/>
                <a:lnTo>
                  <a:pt x="f49" y="f62"/>
                </a:lnTo>
                <a:arcTo wR="f51" hR="f88" stAng="f92" swAng="f67"/>
                <a:lnTo>
                  <a:pt x="f63" y="f55"/>
                </a:lnTo>
                <a:arcTo wR="f89" hR="f90" stAng="f93" swAng="f84"/>
                <a:lnTo>
                  <a:pt x="f56" y="f48"/>
                </a:lnTo>
                <a:arcTo wR="f91" hR="f50" stAng="f85" swAng="f86"/>
                <a:close/>
              </a:path>
            </a:pathLst>
          </a:custGeom>
          <a:solidFill>
            <a:srgbClr val="4EA72E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1" name="Rectangle : coins arrondis 42">
            <a:extLst>
              <a:ext uri="{FF2B5EF4-FFF2-40B4-BE49-F238E27FC236}">
                <a16:creationId xmlns:a16="http://schemas.microsoft.com/office/drawing/2014/main" id="{B8B5260C-CC41-53EC-F9C2-B18A72CD70E0}"/>
              </a:ext>
            </a:extLst>
          </p:cNvPr>
          <p:cNvSpPr/>
          <p:nvPr/>
        </p:nvSpPr>
        <p:spPr>
          <a:xfrm>
            <a:off x="6903070" y="3731712"/>
            <a:ext cx="3637282" cy="2875559"/>
          </a:xfrm>
          <a:custGeom>
            <a:avLst/>
            <a:gdLst>
              <a:gd name="f0" fmla="val 10800000"/>
              <a:gd name="f1" fmla="val 5400000"/>
              <a:gd name="f2" fmla="val 16200000"/>
              <a:gd name="f3" fmla="val w"/>
              <a:gd name="f4" fmla="val h"/>
              <a:gd name="f5" fmla="val ss"/>
              <a:gd name="f6" fmla="val 0"/>
              <a:gd name="f7" fmla="*/ 5419351 1 1725033"/>
              <a:gd name="f8" fmla="val 45"/>
              <a:gd name="f9" fmla="val 868"/>
              <a:gd name="f10" fmla="abs f3"/>
              <a:gd name="f11" fmla="abs f4"/>
              <a:gd name="f12" fmla="abs f5"/>
              <a:gd name="f13" fmla="*/ f7 1 180"/>
              <a:gd name="f14" fmla="+- 0 0 f1"/>
              <a:gd name="f15" fmla="+- f6 f9 0"/>
              <a:gd name="f16" fmla="?: f10 f3 1"/>
              <a:gd name="f17" fmla="?: f11 f4 1"/>
              <a:gd name="f18" fmla="?: f12 f5 1"/>
              <a:gd name="f19" fmla="*/ f8 f13 1"/>
              <a:gd name="f20" fmla="+- f6 0 f15"/>
              <a:gd name="f21" fmla="+- f15 0 f6"/>
              <a:gd name="f22" fmla="*/ f16 1 21600"/>
              <a:gd name="f23" fmla="*/ f17 1 21600"/>
              <a:gd name="f24" fmla="*/ 21600 f16 1"/>
              <a:gd name="f25" fmla="*/ 21600 f17 1"/>
              <a:gd name="f26" fmla="+- 0 0 f19"/>
              <a:gd name="f27" fmla="abs f20"/>
              <a:gd name="f28" fmla="abs f21"/>
              <a:gd name="f29" fmla="?: f20 f14 f1"/>
              <a:gd name="f30" fmla="?: f20 f1 f14"/>
              <a:gd name="f31" fmla="?: f20 f2 f1"/>
              <a:gd name="f32" fmla="?: f20 f1 f2"/>
              <a:gd name="f33" fmla="?: f21 f14 f1"/>
              <a:gd name="f34" fmla="?: f21 f1 f14"/>
              <a:gd name="f35" fmla="?: f20 0 f0"/>
              <a:gd name="f36" fmla="?: f20 f0 0"/>
              <a:gd name="f37" fmla="min f23 f22"/>
              <a:gd name="f38" fmla="*/ f24 1 f18"/>
              <a:gd name="f39" fmla="*/ f25 1 f18"/>
              <a:gd name="f40" fmla="*/ f26 f0 1"/>
              <a:gd name="f41" fmla="?: f20 f32 f31"/>
              <a:gd name="f42" fmla="?: f20 f31 f32"/>
              <a:gd name="f43" fmla="?: f21 f30 f29"/>
              <a:gd name="f44" fmla="val f38"/>
              <a:gd name="f45" fmla="val f39"/>
              <a:gd name="f46" fmla="*/ f40 1 f7"/>
              <a:gd name="f47" fmla="?: f21 f42 f41"/>
              <a:gd name="f48" fmla="*/ f15 f37 1"/>
              <a:gd name="f49" fmla="*/ f6 f37 1"/>
              <a:gd name="f50" fmla="*/ f27 f37 1"/>
              <a:gd name="f51" fmla="*/ f28 f37 1"/>
              <a:gd name="f52" fmla="+- f45 0 f9"/>
              <a:gd name="f53" fmla="+- f44 0 f9"/>
              <a:gd name="f54" fmla="+- f46 0 f1"/>
              <a:gd name="f55" fmla="*/ f45 f37 1"/>
              <a:gd name="f56" fmla="*/ f44 f37 1"/>
              <a:gd name="f57" fmla="+- f45 0 f52"/>
              <a:gd name="f58" fmla="+- f44 0 f53"/>
              <a:gd name="f59" fmla="+- f52 0 f45"/>
              <a:gd name="f60" fmla="+- f53 0 f44"/>
              <a:gd name="f61" fmla="+- f54 f1 0"/>
              <a:gd name="f62" fmla="*/ f52 f37 1"/>
              <a:gd name="f63" fmla="*/ f53 f37 1"/>
              <a:gd name="f64" fmla="abs f57"/>
              <a:gd name="f65" fmla="?: f57 0 f0"/>
              <a:gd name="f66" fmla="?: f57 f0 0"/>
              <a:gd name="f67" fmla="?: f57 f33 f34"/>
              <a:gd name="f68" fmla="abs f58"/>
              <a:gd name="f69" fmla="abs f59"/>
              <a:gd name="f70" fmla="?: f58 f14 f1"/>
              <a:gd name="f71" fmla="?: f58 f1 f14"/>
              <a:gd name="f72" fmla="?: f58 f2 f1"/>
              <a:gd name="f73" fmla="?: f58 f1 f2"/>
              <a:gd name="f74" fmla="abs f60"/>
              <a:gd name="f75" fmla="?: f60 f14 f1"/>
              <a:gd name="f76" fmla="?: f60 f1 f14"/>
              <a:gd name="f77" fmla="?: f60 f36 f35"/>
              <a:gd name="f78" fmla="?: f60 f35 f36"/>
              <a:gd name="f79" fmla="*/ f61 f7 1"/>
              <a:gd name="f80" fmla="?: f21 f66 f65"/>
              <a:gd name="f81" fmla="?: f21 f65 f66"/>
              <a:gd name="f82" fmla="?: f58 f73 f72"/>
              <a:gd name="f83" fmla="?: f58 f72 f73"/>
              <a:gd name="f84" fmla="?: f59 f71 f70"/>
              <a:gd name="f85" fmla="?: f20 f77 f78"/>
              <a:gd name="f86" fmla="?: f20 f75 f76"/>
              <a:gd name="f87" fmla="*/ f79 1 f0"/>
              <a:gd name="f88" fmla="*/ f64 f37 1"/>
              <a:gd name="f89" fmla="*/ f68 f37 1"/>
              <a:gd name="f90" fmla="*/ f69 f37 1"/>
              <a:gd name="f91" fmla="*/ f74 f37 1"/>
              <a:gd name="f92" fmla="?: f57 f80 f81"/>
              <a:gd name="f93" fmla="?: f59 f83 f82"/>
              <a:gd name="f94" fmla="+- 0 0 f87"/>
              <a:gd name="f95" fmla="+- 0 0 f94"/>
              <a:gd name="f96" fmla="*/ f95 f0 1"/>
              <a:gd name="f97" fmla="*/ f96 1 f7"/>
              <a:gd name="f98" fmla="+- f97 0 f1"/>
              <a:gd name="f99" fmla="cos 1 f98"/>
              <a:gd name="f100" fmla="+- 0 0 f99"/>
              <a:gd name="f101" fmla="+- 0 0 f100"/>
              <a:gd name="f102" fmla="val f101"/>
              <a:gd name="f103" fmla="+- 0 0 f102"/>
              <a:gd name="f104" fmla="*/ f9 f103 1"/>
              <a:gd name="f105" fmla="*/ f104 3163 1"/>
              <a:gd name="f106" fmla="*/ f105 1 7636"/>
              <a:gd name="f107" fmla="+- f6 f106 0"/>
              <a:gd name="f108" fmla="+- f44 0 f106"/>
              <a:gd name="f109" fmla="+- f45 0 f106"/>
              <a:gd name="f110" fmla="*/ f107 f37 1"/>
              <a:gd name="f111" fmla="*/ f108 f37 1"/>
              <a:gd name="f112" fmla="*/ f109 f3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10" t="f110" r="f111" b="f112"/>
            <a:pathLst>
              <a:path>
                <a:moveTo>
                  <a:pt x="f48" y="f49"/>
                </a:moveTo>
                <a:arcTo wR="f50" hR="f51" stAng="f47" swAng="f43"/>
                <a:lnTo>
                  <a:pt x="f49" y="f62"/>
                </a:lnTo>
                <a:arcTo wR="f51" hR="f88" stAng="f92" swAng="f67"/>
                <a:lnTo>
                  <a:pt x="f63" y="f55"/>
                </a:lnTo>
                <a:arcTo wR="f89" hR="f90" stAng="f93" swAng="f84"/>
                <a:lnTo>
                  <a:pt x="f56" y="f48"/>
                </a:lnTo>
                <a:arcTo wR="f91" hR="f50" stAng="f85" swAng="f86"/>
                <a:close/>
              </a:path>
            </a:pathLst>
          </a:custGeom>
          <a:solidFill>
            <a:srgbClr val="0B1220"/>
          </a:solidFill>
          <a:ln w="9528" cap="flat">
            <a:solidFill>
              <a:srgbClr val="1E293B"/>
            </a:solidFill>
            <a:prstDash val="solid"/>
            <a:miter/>
          </a:ln>
          <a:effectLst>
            <a:outerShdw dist="19046" dir="5400000" algn="tl">
              <a:srgbClr val="000000">
                <a:alpha val="63000"/>
              </a:srgbClr>
            </a:outerShdw>
          </a:effectLst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000000"/>
              </a:solidFill>
              <a:uFillTx/>
              <a:latin typeface="Aptos Display"/>
            </a:endParaRPr>
          </a:p>
        </p:txBody>
      </p:sp>
      <p:sp>
        <p:nvSpPr>
          <p:cNvPr id="22" name="Rectangle : coins arrondis 44">
            <a:extLst>
              <a:ext uri="{FF2B5EF4-FFF2-40B4-BE49-F238E27FC236}">
                <a16:creationId xmlns:a16="http://schemas.microsoft.com/office/drawing/2014/main" id="{66F2982D-0141-FC4F-7B84-B8D420919110}"/>
              </a:ext>
            </a:extLst>
          </p:cNvPr>
          <p:cNvSpPr/>
          <p:nvPr/>
        </p:nvSpPr>
        <p:spPr>
          <a:xfrm>
            <a:off x="7251054" y="3938631"/>
            <a:ext cx="3021333" cy="353982"/>
          </a:xfrm>
          <a:custGeom>
            <a:avLst/>
            <a:gdLst>
              <a:gd name="f0" fmla="val 10800000"/>
              <a:gd name="f1" fmla="val 5400000"/>
              <a:gd name="f2" fmla="val 16200000"/>
              <a:gd name="f3" fmla="val w"/>
              <a:gd name="f4" fmla="val h"/>
              <a:gd name="f5" fmla="val ss"/>
              <a:gd name="f6" fmla="val 0"/>
              <a:gd name="f7" fmla="*/ 5419351 1 1725033"/>
              <a:gd name="f8" fmla="val 45"/>
              <a:gd name="f9" fmla="val 3600"/>
              <a:gd name="f10" fmla="abs f3"/>
              <a:gd name="f11" fmla="abs f4"/>
              <a:gd name="f12" fmla="abs f5"/>
              <a:gd name="f13" fmla="*/ f7 1 180"/>
              <a:gd name="f14" fmla="+- 0 0 f1"/>
              <a:gd name="f15" fmla="+- f6 f9 0"/>
              <a:gd name="f16" fmla="?: f10 f3 1"/>
              <a:gd name="f17" fmla="?: f11 f4 1"/>
              <a:gd name="f18" fmla="?: f12 f5 1"/>
              <a:gd name="f19" fmla="*/ f8 f13 1"/>
              <a:gd name="f20" fmla="+- f6 0 f15"/>
              <a:gd name="f21" fmla="+- f15 0 f6"/>
              <a:gd name="f22" fmla="*/ f16 1 21600"/>
              <a:gd name="f23" fmla="*/ f17 1 21600"/>
              <a:gd name="f24" fmla="*/ 21600 f16 1"/>
              <a:gd name="f25" fmla="*/ 21600 f17 1"/>
              <a:gd name="f26" fmla="+- 0 0 f19"/>
              <a:gd name="f27" fmla="abs f20"/>
              <a:gd name="f28" fmla="abs f21"/>
              <a:gd name="f29" fmla="?: f20 f14 f1"/>
              <a:gd name="f30" fmla="?: f20 f1 f14"/>
              <a:gd name="f31" fmla="?: f20 f2 f1"/>
              <a:gd name="f32" fmla="?: f20 f1 f2"/>
              <a:gd name="f33" fmla="?: f21 f14 f1"/>
              <a:gd name="f34" fmla="?: f21 f1 f14"/>
              <a:gd name="f35" fmla="?: f20 0 f0"/>
              <a:gd name="f36" fmla="?: f20 f0 0"/>
              <a:gd name="f37" fmla="min f23 f22"/>
              <a:gd name="f38" fmla="*/ f24 1 f18"/>
              <a:gd name="f39" fmla="*/ f25 1 f18"/>
              <a:gd name="f40" fmla="*/ f26 f0 1"/>
              <a:gd name="f41" fmla="?: f20 f32 f31"/>
              <a:gd name="f42" fmla="?: f20 f31 f32"/>
              <a:gd name="f43" fmla="?: f21 f30 f29"/>
              <a:gd name="f44" fmla="val f38"/>
              <a:gd name="f45" fmla="val f39"/>
              <a:gd name="f46" fmla="*/ f40 1 f7"/>
              <a:gd name="f47" fmla="?: f21 f42 f41"/>
              <a:gd name="f48" fmla="*/ f15 f37 1"/>
              <a:gd name="f49" fmla="*/ f6 f37 1"/>
              <a:gd name="f50" fmla="*/ f27 f37 1"/>
              <a:gd name="f51" fmla="*/ f28 f37 1"/>
              <a:gd name="f52" fmla="+- f45 0 f9"/>
              <a:gd name="f53" fmla="+- f44 0 f9"/>
              <a:gd name="f54" fmla="+- f46 0 f1"/>
              <a:gd name="f55" fmla="*/ f45 f37 1"/>
              <a:gd name="f56" fmla="*/ f44 f37 1"/>
              <a:gd name="f57" fmla="+- f45 0 f52"/>
              <a:gd name="f58" fmla="+- f44 0 f53"/>
              <a:gd name="f59" fmla="+- f52 0 f45"/>
              <a:gd name="f60" fmla="+- f53 0 f44"/>
              <a:gd name="f61" fmla="+- f54 f1 0"/>
              <a:gd name="f62" fmla="*/ f52 f37 1"/>
              <a:gd name="f63" fmla="*/ f53 f37 1"/>
              <a:gd name="f64" fmla="abs f57"/>
              <a:gd name="f65" fmla="?: f57 0 f0"/>
              <a:gd name="f66" fmla="?: f57 f0 0"/>
              <a:gd name="f67" fmla="?: f57 f33 f34"/>
              <a:gd name="f68" fmla="abs f58"/>
              <a:gd name="f69" fmla="abs f59"/>
              <a:gd name="f70" fmla="?: f58 f14 f1"/>
              <a:gd name="f71" fmla="?: f58 f1 f14"/>
              <a:gd name="f72" fmla="?: f58 f2 f1"/>
              <a:gd name="f73" fmla="?: f58 f1 f2"/>
              <a:gd name="f74" fmla="abs f60"/>
              <a:gd name="f75" fmla="?: f60 f14 f1"/>
              <a:gd name="f76" fmla="?: f60 f1 f14"/>
              <a:gd name="f77" fmla="?: f60 f36 f35"/>
              <a:gd name="f78" fmla="?: f60 f35 f36"/>
              <a:gd name="f79" fmla="*/ f61 f7 1"/>
              <a:gd name="f80" fmla="?: f21 f66 f65"/>
              <a:gd name="f81" fmla="?: f21 f65 f66"/>
              <a:gd name="f82" fmla="?: f58 f73 f72"/>
              <a:gd name="f83" fmla="?: f58 f72 f73"/>
              <a:gd name="f84" fmla="?: f59 f71 f70"/>
              <a:gd name="f85" fmla="?: f20 f77 f78"/>
              <a:gd name="f86" fmla="?: f20 f75 f76"/>
              <a:gd name="f87" fmla="*/ f79 1 f0"/>
              <a:gd name="f88" fmla="*/ f64 f37 1"/>
              <a:gd name="f89" fmla="*/ f68 f37 1"/>
              <a:gd name="f90" fmla="*/ f69 f37 1"/>
              <a:gd name="f91" fmla="*/ f74 f37 1"/>
              <a:gd name="f92" fmla="?: f57 f80 f81"/>
              <a:gd name="f93" fmla="?: f59 f83 f82"/>
              <a:gd name="f94" fmla="+- 0 0 f87"/>
              <a:gd name="f95" fmla="+- 0 0 f94"/>
              <a:gd name="f96" fmla="*/ f95 f0 1"/>
              <a:gd name="f97" fmla="*/ f96 1 f7"/>
              <a:gd name="f98" fmla="+- f97 0 f1"/>
              <a:gd name="f99" fmla="cos 1 f98"/>
              <a:gd name="f100" fmla="+- 0 0 f99"/>
              <a:gd name="f101" fmla="+- 0 0 f100"/>
              <a:gd name="f102" fmla="val f101"/>
              <a:gd name="f103" fmla="+- 0 0 f102"/>
              <a:gd name="f104" fmla="*/ f9 f103 1"/>
              <a:gd name="f105" fmla="*/ f104 3163 1"/>
              <a:gd name="f106" fmla="*/ f105 1 7636"/>
              <a:gd name="f107" fmla="+- f6 f106 0"/>
              <a:gd name="f108" fmla="+- f44 0 f106"/>
              <a:gd name="f109" fmla="+- f45 0 f106"/>
              <a:gd name="f110" fmla="*/ f107 f37 1"/>
              <a:gd name="f111" fmla="*/ f108 f37 1"/>
              <a:gd name="f112" fmla="*/ f109 f3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10" t="f110" r="f111" b="f112"/>
            <a:pathLst>
              <a:path>
                <a:moveTo>
                  <a:pt x="f48" y="f49"/>
                </a:moveTo>
                <a:arcTo wR="f50" hR="f51" stAng="f47" swAng="f43"/>
                <a:lnTo>
                  <a:pt x="f49" y="f62"/>
                </a:lnTo>
                <a:arcTo wR="f51" hR="f88" stAng="f92" swAng="f67"/>
                <a:lnTo>
                  <a:pt x="f63" y="f55"/>
                </a:lnTo>
                <a:arcTo wR="f89" hR="f90" stAng="f93" swAng="f84"/>
                <a:lnTo>
                  <a:pt x="f56" y="f48"/>
                </a:lnTo>
                <a:arcTo wR="f91" hR="f50" stAng="f85" swAng="f86"/>
                <a:close/>
              </a:path>
            </a:pathLst>
          </a:custGeom>
          <a:solidFill>
            <a:srgbClr val="0F9ED5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rPr>
              <a:t>Summary</a:t>
            </a:r>
          </a:p>
        </p:txBody>
      </p:sp>
      <p:sp>
        <p:nvSpPr>
          <p:cNvPr id="23" name="Rectangle : coins arrondis 46">
            <a:extLst>
              <a:ext uri="{FF2B5EF4-FFF2-40B4-BE49-F238E27FC236}">
                <a16:creationId xmlns:a16="http://schemas.microsoft.com/office/drawing/2014/main" id="{50985BBD-5A53-FBBC-2FD9-8353C0B04EAC}"/>
              </a:ext>
            </a:extLst>
          </p:cNvPr>
          <p:cNvSpPr/>
          <p:nvPr/>
        </p:nvSpPr>
        <p:spPr>
          <a:xfrm>
            <a:off x="7251054" y="4568424"/>
            <a:ext cx="3021333" cy="521939"/>
          </a:xfrm>
          <a:custGeom>
            <a:avLst/>
            <a:gdLst>
              <a:gd name="f0" fmla="val 10800000"/>
              <a:gd name="f1" fmla="val 5400000"/>
              <a:gd name="f2" fmla="val 16200000"/>
              <a:gd name="f3" fmla="val w"/>
              <a:gd name="f4" fmla="val h"/>
              <a:gd name="f5" fmla="val ss"/>
              <a:gd name="f6" fmla="val 0"/>
              <a:gd name="f7" fmla="*/ 5419351 1 1725033"/>
              <a:gd name="f8" fmla="val 45"/>
              <a:gd name="f9" fmla="val 3600"/>
              <a:gd name="f10" fmla="abs f3"/>
              <a:gd name="f11" fmla="abs f4"/>
              <a:gd name="f12" fmla="abs f5"/>
              <a:gd name="f13" fmla="*/ f7 1 180"/>
              <a:gd name="f14" fmla="+- 0 0 f1"/>
              <a:gd name="f15" fmla="+- f6 f9 0"/>
              <a:gd name="f16" fmla="?: f10 f3 1"/>
              <a:gd name="f17" fmla="?: f11 f4 1"/>
              <a:gd name="f18" fmla="?: f12 f5 1"/>
              <a:gd name="f19" fmla="*/ f8 f13 1"/>
              <a:gd name="f20" fmla="+- f6 0 f15"/>
              <a:gd name="f21" fmla="+- f15 0 f6"/>
              <a:gd name="f22" fmla="*/ f16 1 21600"/>
              <a:gd name="f23" fmla="*/ f17 1 21600"/>
              <a:gd name="f24" fmla="*/ 21600 f16 1"/>
              <a:gd name="f25" fmla="*/ 21600 f17 1"/>
              <a:gd name="f26" fmla="+- 0 0 f19"/>
              <a:gd name="f27" fmla="abs f20"/>
              <a:gd name="f28" fmla="abs f21"/>
              <a:gd name="f29" fmla="?: f20 f14 f1"/>
              <a:gd name="f30" fmla="?: f20 f1 f14"/>
              <a:gd name="f31" fmla="?: f20 f2 f1"/>
              <a:gd name="f32" fmla="?: f20 f1 f2"/>
              <a:gd name="f33" fmla="?: f21 f14 f1"/>
              <a:gd name="f34" fmla="?: f21 f1 f14"/>
              <a:gd name="f35" fmla="?: f20 0 f0"/>
              <a:gd name="f36" fmla="?: f20 f0 0"/>
              <a:gd name="f37" fmla="min f23 f22"/>
              <a:gd name="f38" fmla="*/ f24 1 f18"/>
              <a:gd name="f39" fmla="*/ f25 1 f18"/>
              <a:gd name="f40" fmla="*/ f26 f0 1"/>
              <a:gd name="f41" fmla="?: f20 f32 f31"/>
              <a:gd name="f42" fmla="?: f20 f31 f32"/>
              <a:gd name="f43" fmla="?: f21 f30 f29"/>
              <a:gd name="f44" fmla="val f38"/>
              <a:gd name="f45" fmla="val f39"/>
              <a:gd name="f46" fmla="*/ f40 1 f7"/>
              <a:gd name="f47" fmla="?: f21 f42 f41"/>
              <a:gd name="f48" fmla="*/ f15 f37 1"/>
              <a:gd name="f49" fmla="*/ f6 f37 1"/>
              <a:gd name="f50" fmla="*/ f27 f37 1"/>
              <a:gd name="f51" fmla="*/ f28 f37 1"/>
              <a:gd name="f52" fmla="+- f45 0 f9"/>
              <a:gd name="f53" fmla="+- f44 0 f9"/>
              <a:gd name="f54" fmla="+- f46 0 f1"/>
              <a:gd name="f55" fmla="*/ f45 f37 1"/>
              <a:gd name="f56" fmla="*/ f44 f37 1"/>
              <a:gd name="f57" fmla="+- f45 0 f52"/>
              <a:gd name="f58" fmla="+- f44 0 f53"/>
              <a:gd name="f59" fmla="+- f52 0 f45"/>
              <a:gd name="f60" fmla="+- f53 0 f44"/>
              <a:gd name="f61" fmla="+- f54 f1 0"/>
              <a:gd name="f62" fmla="*/ f52 f37 1"/>
              <a:gd name="f63" fmla="*/ f53 f37 1"/>
              <a:gd name="f64" fmla="abs f57"/>
              <a:gd name="f65" fmla="?: f57 0 f0"/>
              <a:gd name="f66" fmla="?: f57 f0 0"/>
              <a:gd name="f67" fmla="?: f57 f33 f34"/>
              <a:gd name="f68" fmla="abs f58"/>
              <a:gd name="f69" fmla="abs f59"/>
              <a:gd name="f70" fmla="?: f58 f14 f1"/>
              <a:gd name="f71" fmla="?: f58 f1 f14"/>
              <a:gd name="f72" fmla="?: f58 f2 f1"/>
              <a:gd name="f73" fmla="?: f58 f1 f2"/>
              <a:gd name="f74" fmla="abs f60"/>
              <a:gd name="f75" fmla="?: f60 f14 f1"/>
              <a:gd name="f76" fmla="?: f60 f1 f14"/>
              <a:gd name="f77" fmla="?: f60 f36 f35"/>
              <a:gd name="f78" fmla="?: f60 f35 f36"/>
              <a:gd name="f79" fmla="*/ f61 f7 1"/>
              <a:gd name="f80" fmla="?: f21 f66 f65"/>
              <a:gd name="f81" fmla="?: f21 f65 f66"/>
              <a:gd name="f82" fmla="?: f58 f73 f72"/>
              <a:gd name="f83" fmla="?: f58 f72 f73"/>
              <a:gd name="f84" fmla="?: f59 f71 f70"/>
              <a:gd name="f85" fmla="?: f20 f77 f78"/>
              <a:gd name="f86" fmla="?: f20 f75 f76"/>
              <a:gd name="f87" fmla="*/ f79 1 f0"/>
              <a:gd name="f88" fmla="*/ f64 f37 1"/>
              <a:gd name="f89" fmla="*/ f68 f37 1"/>
              <a:gd name="f90" fmla="*/ f69 f37 1"/>
              <a:gd name="f91" fmla="*/ f74 f37 1"/>
              <a:gd name="f92" fmla="?: f57 f80 f81"/>
              <a:gd name="f93" fmla="?: f59 f83 f82"/>
              <a:gd name="f94" fmla="+- 0 0 f87"/>
              <a:gd name="f95" fmla="+- 0 0 f94"/>
              <a:gd name="f96" fmla="*/ f95 f0 1"/>
              <a:gd name="f97" fmla="*/ f96 1 f7"/>
              <a:gd name="f98" fmla="+- f97 0 f1"/>
              <a:gd name="f99" fmla="cos 1 f98"/>
              <a:gd name="f100" fmla="+- 0 0 f99"/>
              <a:gd name="f101" fmla="+- 0 0 f100"/>
              <a:gd name="f102" fmla="val f101"/>
              <a:gd name="f103" fmla="+- 0 0 f102"/>
              <a:gd name="f104" fmla="*/ f9 f103 1"/>
              <a:gd name="f105" fmla="*/ f104 3163 1"/>
              <a:gd name="f106" fmla="*/ f105 1 7636"/>
              <a:gd name="f107" fmla="+- f6 f106 0"/>
              <a:gd name="f108" fmla="+- f44 0 f106"/>
              <a:gd name="f109" fmla="+- f45 0 f106"/>
              <a:gd name="f110" fmla="*/ f107 f37 1"/>
              <a:gd name="f111" fmla="*/ f108 f37 1"/>
              <a:gd name="f112" fmla="*/ f109 f3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10" t="f110" r="f111" b="f112"/>
            <a:pathLst>
              <a:path>
                <a:moveTo>
                  <a:pt x="f48" y="f49"/>
                </a:moveTo>
                <a:arcTo wR="f50" hR="f51" stAng="f47" swAng="f43"/>
                <a:lnTo>
                  <a:pt x="f49" y="f62"/>
                </a:lnTo>
                <a:arcTo wR="f51" hR="f88" stAng="f92" swAng="f67"/>
                <a:lnTo>
                  <a:pt x="f63" y="f55"/>
                </a:lnTo>
                <a:arcTo wR="f89" hR="f90" stAng="f93" swAng="f84"/>
                <a:lnTo>
                  <a:pt x="f56" y="f48"/>
                </a:lnTo>
                <a:arcTo wR="f91" hR="f50" stAng="f85" swAng="f86"/>
                <a:close/>
              </a:path>
            </a:pathLst>
          </a:custGeom>
          <a:solidFill>
            <a:srgbClr val="4EA72E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rPr>
              <a:t>DATA 1</a:t>
            </a:r>
          </a:p>
        </p:txBody>
      </p:sp>
      <p:sp>
        <p:nvSpPr>
          <p:cNvPr id="24" name="Rectangle : coins arrondis 50">
            <a:extLst>
              <a:ext uri="{FF2B5EF4-FFF2-40B4-BE49-F238E27FC236}">
                <a16:creationId xmlns:a16="http://schemas.microsoft.com/office/drawing/2014/main" id="{9100F037-3A65-CCAE-B0A2-0654DA263A23}"/>
              </a:ext>
            </a:extLst>
          </p:cNvPr>
          <p:cNvSpPr/>
          <p:nvPr/>
        </p:nvSpPr>
        <p:spPr>
          <a:xfrm>
            <a:off x="7251054" y="5153137"/>
            <a:ext cx="3021333" cy="521939"/>
          </a:xfrm>
          <a:custGeom>
            <a:avLst/>
            <a:gdLst>
              <a:gd name="f0" fmla="val 10800000"/>
              <a:gd name="f1" fmla="val 5400000"/>
              <a:gd name="f2" fmla="val 16200000"/>
              <a:gd name="f3" fmla="val w"/>
              <a:gd name="f4" fmla="val h"/>
              <a:gd name="f5" fmla="val ss"/>
              <a:gd name="f6" fmla="val 0"/>
              <a:gd name="f7" fmla="*/ 5419351 1 1725033"/>
              <a:gd name="f8" fmla="val 45"/>
              <a:gd name="f9" fmla="val 3600"/>
              <a:gd name="f10" fmla="abs f3"/>
              <a:gd name="f11" fmla="abs f4"/>
              <a:gd name="f12" fmla="abs f5"/>
              <a:gd name="f13" fmla="*/ f7 1 180"/>
              <a:gd name="f14" fmla="+- 0 0 f1"/>
              <a:gd name="f15" fmla="+- f6 f9 0"/>
              <a:gd name="f16" fmla="?: f10 f3 1"/>
              <a:gd name="f17" fmla="?: f11 f4 1"/>
              <a:gd name="f18" fmla="?: f12 f5 1"/>
              <a:gd name="f19" fmla="*/ f8 f13 1"/>
              <a:gd name="f20" fmla="+- f6 0 f15"/>
              <a:gd name="f21" fmla="+- f15 0 f6"/>
              <a:gd name="f22" fmla="*/ f16 1 21600"/>
              <a:gd name="f23" fmla="*/ f17 1 21600"/>
              <a:gd name="f24" fmla="*/ 21600 f16 1"/>
              <a:gd name="f25" fmla="*/ 21600 f17 1"/>
              <a:gd name="f26" fmla="+- 0 0 f19"/>
              <a:gd name="f27" fmla="abs f20"/>
              <a:gd name="f28" fmla="abs f21"/>
              <a:gd name="f29" fmla="?: f20 f14 f1"/>
              <a:gd name="f30" fmla="?: f20 f1 f14"/>
              <a:gd name="f31" fmla="?: f20 f2 f1"/>
              <a:gd name="f32" fmla="?: f20 f1 f2"/>
              <a:gd name="f33" fmla="?: f21 f14 f1"/>
              <a:gd name="f34" fmla="?: f21 f1 f14"/>
              <a:gd name="f35" fmla="?: f20 0 f0"/>
              <a:gd name="f36" fmla="?: f20 f0 0"/>
              <a:gd name="f37" fmla="min f23 f22"/>
              <a:gd name="f38" fmla="*/ f24 1 f18"/>
              <a:gd name="f39" fmla="*/ f25 1 f18"/>
              <a:gd name="f40" fmla="*/ f26 f0 1"/>
              <a:gd name="f41" fmla="?: f20 f32 f31"/>
              <a:gd name="f42" fmla="?: f20 f31 f32"/>
              <a:gd name="f43" fmla="?: f21 f30 f29"/>
              <a:gd name="f44" fmla="val f38"/>
              <a:gd name="f45" fmla="val f39"/>
              <a:gd name="f46" fmla="*/ f40 1 f7"/>
              <a:gd name="f47" fmla="?: f21 f42 f41"/>
              <a:gd name="f48" fmla="*/ f15 f37 1"/>
              <a:gd name="f49" fmla="*/ f6 f37 1"/>
              <a:gd name="f50" fmla="*/ f27 f37 1"/>
              <a:gd name="f51" fmla="*/ f28 f37 1"/>
              <a:gd name="f52" fmla="+- f45 0 f9"/>
              <a:gd name="f53" fmla="+- f44 0 f9"/>
              <a:gd name="f54" fmla="+- f46 0 f1"/>
              <a:gd name="f55" fmla="*/ f45 f37 1"/>
              <a:gd name="f56" fmla="*/ f44 f37 1"/>
              <a:gd name="f57" fmla="+- f45 0 f52"/>
              <a:gd name="f58" fmla="+- f44 0 f53"/>
              <a:gd name="f59" fmla="+- f52 0 f45"/>
              <a:gd name="f60" fmla="+- f53 0 f44"/>
              <a:gd name="f61" fmla="+- f54 f1 0"/>
              <a:gd name="f62" fmla="*/ f52 f37 1"/>
              <a:gd name="f63" fmla="*/ f53 f37 1"/>
              <a:gd name="f64" fmla="abs f57"/>
              <a:gd name="f65" fmla="?: f57 0 f0"/>
              <a:gd name="f66" fmla="?: f57 f0 0"/>
              <a:gd name="f67" fmla="?: f57 f33 f34"/>
              <a:gd name="f68" fmla="abs f58"/>
              <a:gd name="f69" fmla="abs f59"/>
              <a:gd name="f70" fmla="?: f58 f14 f1"/>
              <a:gd name="f71" fmla="?: f58 f1 f14"/>
              <a:gd name="f72" fmla="?: f58 f2 f1"/>
              <a:gd name="f73" fmla="?: f58 f1 f2"/>
              <a:gd name="f74" fmla="abs f60"/>
              <a:gd name="f75" fmla="?: f60 f14 f1"/>
              <a:gd name="f76" fmla="?: f60 f1 f14"/>
              <a:gd name="f77" fmla="?: f60 f36 f35"/>
              <a:gd name="f78" fmla="?: f60 f35 f36"/>
              <a:gd name="f79" fmla="*/ f61 f7 1"/>
              <a:gd name="f80" fmla="?: f21 f66 f65"/>
              <a:gd name="f81" fmla="?: f21 f65 f66"/>
              <a:gd name="f82" fmla="?: f58 f73 f72"/>
              <a:gd name="f83" fmla="?: f58 f72 f73"/>
              <a:gd name="f84" fmla="?: f59 f71 f70"/>
              <a:gd name="f85" fmla="?: f20 f77 f78"/>
              <a:gd name="f86" fmla="?: f20 f75 f76"/>
              <a:gd name="f87" fmla="*/ f79 1 f0"/>
              <a:gd name="f88" fmla="*/ f64 f37 1"/>
              <a:gd name="f89" fmla="*/ f68 f37 1"/>
              <a:gd name="f90" fmla="*/ f69 f37 1"/>
              <a:gd name="f91" fmla="*/ f74 f37 1"/>
              <a:gd name="f92" fmla="?: f57 f80 f81"/>
              <a:gd name="f93" fmla="?: f59 f83 f82"/>
              <a:gd name="f94" fmla="+- 0 0 f87"/>
              <a:gd name="f95" fmla="+- 0 0 f94"/>
              <a:gd name="f96" fmla="*/ f95 f0 1"/>
              <a:gd name="f97" fmla="*/ f96 1 f7"/>
              <a:gd name="f98" fmla="+- f97 0 f1"/>
              <a:gd name="f99" fmla="cos 1 f98"/>
              <a:gd name="f100" fmla="+- 0 0 f99"/>
              <a:gd name="f101" fmla="+- 0 0 f100"/>
              <a:gd name="f102" fmla="val f101"/>
              <a:gd name="f103" fmla="+- 0 0 f102"/>
              <a:gd name="f104" fmla="*/ f9 f103 1"/>
              <a:gd name="f105" fmla="*/ f104 3163 1"/>
              <a:gd name="f106" fmla="*/ f105 1 7636"/>
              <a:gd name="f107" fmla="+- f6 f106 0"/>
              <a:gd name="f108" fmla="+- f44 0 f106"/>
              <a:gd name="f109" fmla="+- f45 0 f106"/>
              <a:gd name="f110" fmla="*/ f107 f37 1"/>
              <a:gd name="f111" fmla="*/ f108 f37 1"/>
              <a:gd name="f112" fmla="*/ f109 f3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10" t="f110" r="f111" b="f112"/>
            <a:pathLst>
              <a:path>
                <a:moveTo>
                  <a:pt x="f48" y="f49"/>
                </a:moveTo>
                <a:arcTo wR="f50" hR="f51" stAng="f47" swAng="f43"/>
                <a:lnTo>
                  <a:pt x="f49" y="f62"/>
                </a:lnTo>
                <a:arcTo wR="f51" hR="f88" stAng="f92" swAng="f67"/>
                <a:lnTo>
                  <a:pt x="f63" y="f55"/>
                </a:lnTo>
                <a:arcTo wR="f89" hR="f90" stAng="f93" swAng="f84"/>
                <a:lnTo>
                  <a:pt x="f56" y="f48"/>
                </a:lnTo>
                <a:arcTo wR="f91" hR="f50" stAng="f85" swAng="f86"/>
                <a:close/>
              </a:path>
            </a:pathLst>
          </a:custGeom>
          <a:solidFill>
            <a:srgbClr val="4EA72E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rPr>
              <a:t>DATA 2</a:t>
            </a:r>
          </a:p>
        </p:txBody>
      </p:sp>
      <p:sp>
        <p:nvSpPr>
          <p:cNvPr id="25" name="Rectangle : coins arrondis 52">
            <a:extLst>
              <a:ext uri="{FF2B5EF4-FFF2-40B4-BE49-F238E27FC236}">
                <a16:creationId xmlns:a16="http://schemas.microsoft.com/office/drawing/2014/main" id="{80411928-5E37-F9B2-5998-BD3E245BF003}"/>
              </a:ext>
            </a:extLst>
          </p:cNvPr>
          <p:cNvSpPr/>
          <p:nvPr/>
        </p:nvSpPr>
        <p:spPr>
          <a:xfrm>
            <a:off x="7251054" y="5737841"/>
            <a:ext cx="3021333" cy="521939"/>
          </a:xfrm>
          <a:custGeom>
            <a:avLst/>
            <a:gdLst>
              <a:gd name="f0" fmla="val 10800000"/>
              <a:gd name="f1" fmla="val 5400000"/>
              <a:gd name="f2" fmla="val 16200000"/>
              <a:gd name="f3" fmla="val w"/>
              <a:gd name="f4" fmla="val h"/>
              <a:gd name="f5" fmla="val ss"/>
              <a:gd name="f6" fmla="val 0"/>
              <a:gd name="f7" fmla="*/ 5419351 1 1725033"/>
              <a:gd name="f8" fmla="val 45"/>
              <a:gd name="f9" fmla="val 3600"/>
              <a:gd name="f10" fmla="abs f3"/>
              <a:gd name="f11" fmla="abs f4"/>
              <a:gd name="f12" fmla="abs f5"/>
              <a:gd name="f13" fmla="*/ f7 1 180"/>
              <a:gd name="f14" fmla="+- 0 0 f1"/>
              <a:gd name="f15" fmla="+- f6 f9 0"/>
              <a:gd name="f16" fmla="?: f10 f3 1"/>
              <a:gd name="f17" fmla="?: f11 f4 1"/>
              <a:gd name="f18" fmla="?: f12 f5 1"/>
              <a:gd name="f19" fmla="*/ f8 f13 1"/>
              <a:gd name="f20" fmla="+- f6 0 f15"/>
              <a:gd name="f21" fmla="+- f15 0 f6"/>
              <a:gd name="f22" fmla="*/ f16 1 21600"/>
              <a:gd name="f23" fmla="*/ f17 1 21600"/>
              <a:gd name="f24" fmla="*/ 21600 f16 1"/>
              <a:gd name="f25" fmla="*/ 21600 f17 1"/>
              <a:gd name="f26" fmla="+- 0 0 f19"/>
              <a:gd name="f27" fmla="abs f20"/>
              <a:gd name="f28" fmla="abs f21"/>
              <a:gd name="f29" fmla="?: f20 f14 f1"/>
              <a:gd name="f30" fmla="?: f20 f1 f14"/>
              <a:gd name="f31" fmla="?: f20 f2 f1"/>
              <a:gd name="f32" fmla="?: f20 f1 f2"/>
              <a:gd name="f33" fmla="?: f21 f14 f1"/>
              <a:gd name="f34" fmla="?: f21 f1 f14"/>
              <a:gd name="f35" fmla="?: f20 0 f0"/>
              <a:gd name="f36" fmla="?: f20 f0 0"/>
              <a:gd name="f37" fmla="min f23 f22"/>
              <a:gd name="f38" fmla="*/ f24 1 f18"/>
              <a:gd name="f39" fmla="*/ f25 1 f18"/>
              <a:gd name="f40" fmla="*/ f26 f0 1"/>
              <a:gd name="f41" fmla="?: f20 f32 f31"/>
              <a:gd name="f42" fmla="?: f20 f31 f32"/>
              <a:gd name="f43" fmla="?: f21 f30 f29"/>
              <a:gd name="f44" fmla="val f38"/>
              <a:gd name="f45" fmla="val f39"/>
              <a:gd name="f46" fmla="*/ f40 1 f7"/>
              <a:gd name="f47" fmla="?: f21 f42 f41"/>
              <a:gd name="f48" fmla="*/ f15 f37 1"/>
              <a:gd name="f49" fmla="*/ f6 f37 1"/>
              <a:gd name="f50" fmla="*/ f27 f37 1"/>
              <a:gd name="f51" fmla="*/ f28 f37 1"/>
              <a:gd name="f52" fmla="+- f45 0 f9"/>
              <a:gd name="f53" fmla="+- f44 0 f9"/>
              <a:gd name="f54" fmla="+- f46 0 f1"/>
              <a:gd name="f55" fmla="*/ f45 f37 1"/>
              <a:gd name="f56" fmla="*/ f44 f37 1"/>
              <a:gd name="f57" fmla="+- f45 0 f52"/>
              <a:gd name="f58" fmla="+- f44 0 f53"/>
              <a:gd name="f59" fmla="+- f52 0 f45"/>
              <a:gd name="f60" fmla="+- f53 0 f44"/>
              <a:gd name="f61" fmla="+- f54 f1 0"/>
              <a:gd name="f62" fmla="*/ f52 f37 1"/>
              <a:gd name="f63" fmla="*/ f53 f37 1"/>
              <a:gd name="f64" fmla="abs f57"/>
              <a:gd name="f65" fmla="?: f57 0 f0"/>
              <a:gd name="f66" fmla="?: f57 f0 0"/>
              <a:gd name="f67" fmla="?: f57 f33 f34"/>
              <a:gd name="f68" fmla="abs f58"/>
              <a:gd name="f69" fmla="abs f59"/>
              <a:gd name="f70" fmla="?: f58 f14 f1"/>
              <a:gd name="f71" fmla="?: f58 f1 f14"/>
              <a:gd name="f72" fmla="?: f58 f2 f1"/>
              <a:gd name="f73" fmla="?: f58 f1 f2"/>
              <a:gd name="f74" fmla="abs f60"/>
              <a:gd name="f75" fmla="?: f60 f14 f1"/>
              <a:gd name="f76" fmla="?: f60 f1 f14"/>
              <a:gd name="f77" fmla="?: f60 f36 f35"/>
              <a:gd name="f78" fmla="?: f60 f35 f36"/>
              <a:gd name="f79" fmla="*/ f61 f7 1"/>
              <a:gd name="f80" fmla="?: f21 f66 f65"/>
              <a:gd name="f81" fmla="?: f21 f65 f66"/>
              <a:gd name="f82" fmla="?: f58 f73 f72"/>
              <a:gd name="f83" fmla="?: f58 f72 f73"/>
              <a:gd name="f84" fmla="?: f59 f71 f70"/>
              <a:gd name="f85" fmla="?: f20 f77 f78"/>
              <a:gd name="f86" fmla="?: f20 f75 f76"/>
              <a:gd name="f87" fmla="*/ f79 1 f0"/>
              <a:gd name="f88" fmla="*/ f64 f37 1"/>
              <a:gd name="f89" fmla="*/ f68 f37 1"/>
              <a:gd name="f90" fmla="*/ f69 f37 1"/>
              <a:gd name="f91" fmla="*/ f74 f37 1"/>
              <a:gd name="f92" fmla="?: f57 f80 f81"/>
              <a:gd name="f93" fmla="?: f59 f83 f82"/>
              <a:gd name="f94" fmla="+- 0 0 f87"/>
              <a:gd name="f95" fmla="+- 0 0 f94"/>
              <a:gd name="f96" fmla="*/ f95 f0 1"/>
              <a:gd name="f97" fmla="*/ f96 1 f7"/>
              <a:gd name="f98" fmla="+- f97 0 f1"/>
              <a:gd name="f99" fmla="cos 1 f98"/>
              <a:gd name="f100" fmla="+- 0 0 f99"/>
              <a:gd name="f101" fmla="+- 0 0 f100"/>
              <a:gd name="f102" fmla="val f101"/>
              <a:gd name="f103" fmla="+- 0 0 f102"/>
              <a:gd name="f104" fmla="*/ f9 f103 1"/>
              <a:gd name="f105" fmla="*/ f104 3163 1"/>
              <a:gd name="f106" fmla="*/ f105 1 7636"/>
              <a:gd name="f107" fmla="+- f6 f106 0"/>
              <a:gd name="f108" fmla="+- f44 0 f106"/>
              <a:gd name="f109" fmla="+- f45 0 f106"/>
              <a:gd name="f110" fmla="*/ f107 f37 1"/>
              <a:gd name="f111" fmla="*/ f108 f37 1"/>
              <a:gd name="f112" fmla="*/ f109 f3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10" t="f110" r="f111" b="f112"/>
            <a:pathLst>
              <a:path>
                <a:moveTo>
                  <a:pt x="f48" y="f49"/>
                </a:moveTo>
                <a:arcTo wR="f50" hR="f51" stAng="f47" swAng="f43"/>
                <a:lnTo>
                  <a:pt x="f49" y="f62"/>
                </a:lnTo>
                <a:arcTo wR="f51" hR="f88" stAng="f92" swAng="f67"/>
                <a:lnTo>
                  <a:pt x="f63" y="f55"/>
                </a:lnTo>
                <a:arcTo wR="f89" hR="f90" stAng="f93" swAng="f84"/>
                <a:lnTo>
                  <a:pt x="f56" y="f48"/>
                </a:lnTo>
                <a:arcTo wR="f91" hR="f50" stAng="f85" swAng="f86"/>
                <a:close/>
              </a:path>
            </a:pathLst>
          </a:custGeom>
          <a:solidFill>
            <a:srgbClr val="4EA72E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rPr>
              <a:t>DATA …</a:t>
            </a:r>
          </a:p>
        </p:txBody>
      </p:sp>
      <p:sp>
        <p:nvSpPr>
          <p:cNvPr id="26" name="ZoneTexte 53">
            <a:extLst>
              <a:ext uri="{FF2B5EF4-FFF2-40B4-BE49-F238E27FC236}">
                <a16:creationId xmlns:a16="http://schemas.microsoft.com/office/drawing/2014/main" id="{7DB0AECA-D08A-4430-748D-E1B2D43AC7F5}"/>
              </a:ext>
            </a:extLst>
          </p:cNvPr>
          <p:cNvSpPr txBox="1"/>
          <p:nvPr/>
        </p:nvSpPr>
        <p:spPr>
          <a:xfrm>
            <a:off x="6796396" y="4212942"/>
            <a:ext cx="3910331" cy="36933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Consolas" pitchFamily="49"/>
              </a:rPr>
              <a:t> "vessel_info": [</a:t>
            </a: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7" name="ZoneTexte 55">
            <a:extLst>
              <a:ext uri="{FF2B5EF4-FFF2-40B4-BE49-F238E27FC236}">
                <a16:creationId xmlns:a16="http://schemas.microsoft.com/office/drawing/2014/main" id="{B1846BB3-AAE5-6FBE-5FCA-B3FC0357AB80}"/>
              </a:ext>
            </a:extLst>
          </p:cNvPr>
          <p:cNvSpPr txBox="1"/>
          <p:nvPr/>
        </p:nvSpPr>
        <p:spPr>
          <a:xfrm>
            <a:off x="10027301" y="6248863"/>
            <a:ext cx="3910331" cy="36933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Consolas" pitchFamily="49"/>
              </a:rPr>
              <a:t>]</a:t>
            </a: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8" name="Rectangle : coins arrondis 24">
            <a:extLst>
              <a:ext uri="{FF2B5EF4-FFF2-40B4-BE49-F238E27FC236}">
                <a16:creationId xmlns:a16="http://schemas.microsoft.com/office/drawing/2014/main" id="{E140AFF0-67CD-DB89-B699-731AD4FF6EAF}"/>
              </a:ext>
            </a:extLst>
          </p:cNvPr>
          <p:cNvSpPr/>
          <p:nvPr/>
        </p:nvSpPr>
        <p:spPr>
          <a:xfrm>
            <a:off x="571500" y="4363983"/>
            <a:ext cx="5073648" cy="1255562"/>
          </a:xfrm>
          <a:custGeom>
            <a:avLst/>
            <a:gdLst>
              <a:gd name="f0" fmla="val 10800000"/>
              <a:gd name="f1" fmla="val 5400000"/>
              <a:gd name="f2" fmla="val 16200000"/>
              <a:gd name="f3" fmla="val w"/>
              <a:gd name="f4" fmla="val h"/>
              <a:gd name="f5" fmla="val ss"/>
              <a:gd name="f6" fmla="val 0"/>
              <a:gd name="f7" fmla="*/ 5419351 1 1725033"/>
              <a:gd name="f8" fmla="val 45"/>
              <a:gd name="f9" fmla="val 3600"/>
              <a:gd name="f10" fmla="abs f3"/>
              <a:gd name="f11" fmla="abs f4"/>
              <a:gd name="f12" fmla="abs f5"/>
              <a:gd name="f13" fmla="*/ f7 1 180"/>
              <a:gd name="f14" fmla="+- 0 0 f1"/>
              <a:gd name="f15" fmla="+- f6 f9 0"/>
              <a:gd name="f16" fmla="?: f10 f3 1"/>
              <a:gd name="f17" fmla="?: f11 f4 1"/>
              <a:gd name="f18" fmla="?: f12 f5 1"/>
              <a:gd name="f19" fmla="*/ f8 f13 1"/>
              <a:gd name="f20" fmla="+- f6 0 f15"/>
              <a:gd name="f21" fmla="+- f15 0 f6"/>
              <a:gd name="f22" fmla="*/ f16 1 21600"/>
              <a:gd name="f23" fmla="*/ f17 1 21600"/>
              <a:gd name="f24" fmla="*/ 21600 f16 1"/>
              <a:gd name="f25" fmla="*/ 21600 f17 1"/>
              <a:gd name="f26" fmla="+- 0 0 f19"/>
              <a:gd name="f27" fmla="abs f20"/>
              <a:gd name="f28" fmla="abs f21"/>
              <a:gd name="f29" fmla="?: f20 f14 f1"/>
              <a:gd name="f30" fmla="?: f20 f1 f14"/>
              <a:gd name="f31" fmla="?: f20 f2 f1"/>
              <a:gd name="f32" fmla="?: f20 f1 f2"/>
              <a:gd name="f33" fmla="?: f21 f14 f1"/>
              <a:gd name="f34" fmla="?: f21 f1 f14"/>
              <a:gd name="f35" fmla="?: f20 0 f0"/>
              <a:gd name="f36" fmla="?: f20 f0 0"/>
              <a:gd name="f37" fmla="min f23 f22"/>
              <a:gd name="f38" fmla="*/ f24 1 f18"/>
              <a:gd name="f39" fmla="*/ f25 1 f18"/>
              <a:gd name="f40" fmla="*/ f26 f0 1"/>
              <a:gd name="f41" fmla="?: f20 f32 f31"/>
              <a:gd name="f42" fmla="?: f20 f31 f32"/>
              <a:gd name="f43" fmla="?: f21 f30 f29"/>
              <a:gd name="f44" fmla="val f38"/>
              <a:gd name="f45" fmla="val f39"/>
              <a:gd name="f46" fmla="*/ f40 1 f7"/>
              <a:gd name="f47" fmla="?: f21 f42 f41"/>
              <a:gd name="f48" fmla="*/ f15 f37 1"/>
              <a:gd name="f49" fmla="*/ f6 f37 1"/>
              <a:gd name="f50" fmla="*/ f27 f37 1"/>
              <a:gd name="f51" fmla="*/ f28 f37 1"/>
              <a:gd name="f52" fmla="+- f45 0 f9"/>
              <a:gd name="f53" fmla="+- f44 0 f9"/>
              <a:gd name="f54" fmla="+- f46 0 f1"/>
              <a:gd name="f55" fmla="*/ f45 f37 1"/>
              <a:gd name="f56" fmla="*/ f44 f37 1"/>
              <a:gd name="f57" fmla="+- f45 0 f52"/>
              <a:gd name="f58" fmla="+- f44 0 f53"/>
              <a:gd name="f59" fmla="+- f52 0 f45"/>
              <a:gd name="f60" fmla="+- f53 0 f44"/>
              <a:gd name="f61" fmla="+- f54 f1 0"/>
              <a:gd name="f62" fmla="*/ f52 f37 1"/>
              <a:gd name="f63" fmla="*/ f53 f37 1"/>
              <a:gd name="f64" fmla="abs f57"/>
              <a:gd name="f65" fmla="?: f57 0 f0"/>
              <a:gd name="f66" fmla="?: f57 f0 0"/>
              <a:gd name="f67" fmla="?: f57 f33 f34"/>
              <a:gd name="f68" fmla="abs f58"/>
              <a:gd name="f69" fmla="abs f59"/>
              <a:gd name="f70" fmla="?: f58 f14 f1"/>
              <a:gd name="f71" fmla="?: f58 f1 f14"/>
              <a:gd name="f72" fmla="?: f58 f2 f1"/>
              <a:gd name="f73" fmla="?: f58 f1 f2"/>
              <a:gd name="f74" fmla="abs f60"/>
              <a:gd name="f75" fmla="?: f60 f14 f1"/>
              <a:gd name="f76" fmla="?: f60 f1 f14"/>
              <a:gd name="f77" fmla="?: f60 f36 f35"/>
              <a:gd name="f78" fmla="?: f60 f35 f36"/>
              <a:gd name="f79" fmla="*/ f61 f7 1"/>
              <a:gd name="f80" fmla="?: f21 f66 f65"/>
              <a:gd name="f81" fmla="?: f21 f65 f66"/>
              <a:gd name="f82" fmla="?: f58 f73 f72"/>
              <a:gd name="f83" fmla="?: f58 f72 f73"/>
              <a:gd name="f84" fmla="?: f59 f71 f70"/>
              <a:gd name="f85" fmla="?: f20 f77 f78"/>
              <a:gd name="f86" fmla="?: f20 f75 f76"/>
              <a:gd name="f87" fmla="*/ f79 1 f0"/>
              <a:gd name="f88" fmla="*/ f64 f37 1"/>
              <a:gd name="f89" fmla="*/ f68 f37 1"/>
              <a:gd name="f90" fmla="*/ f69 f37 1"/>
              <a:gd name="f91" fmla="*/ f74 f37 1"/>
              <a:gd name="f92" fmla="?: f57 f80 f81"/>
              <a:gd name="f93" fmla="?: f59 f83 f82"/>
              <a:gd name="f94" fmla="+- 0 0 f87"/>
              <a:gd name="f95" fmla="+- 0 0 f94"/>
              <a:gd name="f96" fmla="*/ f95 f0 1"/>
              <a:gd name="f97" fmla="*/ f96 1 f7"/>
              <a:gd name="f98" fmla="+- f97 0 f1"/>
              <a:gd name="f99" fmla="cos 1 f98"/>
              <a:gd name="f100" fmla="+- 0 0 f99"/>
              <a:gd name="f101" fmla="+- 0 0 f100"/>
              <a:gd name="f102" fmla="val f101"/>
              <a:gd name="f103" fmla="+- 0 0 f102"/>
              <a:gd name="f104" fmla="*/ f9 f103 1"/>
              <a:gd name="f105" fmla="*/ f104 3163 1"/>
              <a:gd name="f106" fmla="*/ f105 1 7636"/>
              <a:gd name="f107" fmla="+- f6 f106 0"/>
              <a:gd name="f108" fmla="+- f44 0 f106"/>
              <a:gd name="f109" fmla="+- f45 0 f106"/>
              <a:gd name="f110" fmla="*/ f107 f37 1"/>
              <a:gd name="f111" fmla="*/ f108 f37 1"/>
              <a:gd name="f112" fmla="*/ f109 f3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10" t="f110" r="f111" b="f112"/>
            <a:pathLst>
              <a:path>
                <a:moveTo>
                  <a:pt x="f48" y="f49"/>
                </a:moveTo>
                <a:arcTo wR="f50" hR="f51" stAng="f47" swAng="f43"/>
                <a:lnTo>
                  <a:pt x="f49" y="f62"/>
                </a:lnTo>
                <a:arcTo wR="f51" hR="f88" stAng="f92" swAng="f67"/>
                <a:lnTo>
                  <a:pt x="f63" y="f55"/>
                </a:lnTo>
                <a:arcTo wR="f89" hR="f90" stAng="f93" swAng="f84"/>
                <a:lnTo>
                  <a:pt x="f56" y="f48"/>
                </a:lnTo>
                <a:arcTo wR="f91" hR="f50" stAng="f85" swAng="f86"/>
                <a:close/>
              </a:path>
            </a:pathLst>
          </a:custGeom>
          <a:solidFill>
            <a:srgbClr val="4EA72E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 : coins arrondis 20">
            <a:extLst>
              <a:ext uri="{FF2B5EF4-FFF2-40B4-BE49-F238E27FC236}">
                <a16:creationId xmlns:a16="http://schemas.microsoft.com/office/drawing/2014/main" id="{33FCC951-B7B3-C4B3-AB4B-B8AC3A13C98E}"/>
              </a:ext>
            </a:extLst>
          </p:cNvPr>
          <p:cNvSpPr/>
          <p:nvPr/>
        </p:nvSpPr>
        <p:spPr>
          <a:xfrm>
            <a:off x="571500" y="361946"/>
            <a:ext cx="1619246" cy="285750"/>
          </a:xfrm>
          <a:custGeom>
            <a:avLst/>
            <a:gdLst>
              <a:gd name="f0" fmla="val 10800000"/>
              <a:gd name="f1" fmla="val 5400000"/>
              <a:gd name="f2" fmla="val 16200000"/>
              <a:gd name="f3" fmla="val w"/>
              <a:gd name="f4" fmla="val h"/>
              <a:gd name="f5" fmla="val ss"/>
              <a:gd name="f6" fmla="val 0"/>
              <a:gd name="f7" fmla="*/ 5419351 1 1725033"/>
              <a:gd name="f8" fmla="val 45"/>
              <a:gd name="f9" fmla="val 10800"/>
              <a:gd name="f10" fmla="abs f3"/>
              <a:gd name="f11" fmla="abs f4"/>
              <a:gd name="f12" fmla="abs f5"/>
              <a:gd name="f13" fmla="*/ f7 1 180"/>
              <a:gd name="f14" fmla="+- 0 0 f1"/>
              <a:gd name="f15" fmla="+- f6 f9 0"/>
              <a:gd name="f16" fmla="?: f10 f3 1"/>
              <a:gd name="f17" fmla="?: f11 f4 1"/>
              <a:gd name="f18" fmla="?: f12 f5 1"/>
              <a:gd name="f19" fmla="*/ f8 f13 1"/>
              <a:gd name="f20" fmla="+- f6 0 f15"/>
              <a:gd name="f21" fmla="+- f15 0 f6"/>
              <a:gd name="f22" fmla="*/ f16 1 21600"/>
              <a:gd name="f23" fmla="*/ f17 1 21600"/>
              <a:gd name="f24" fmla="*/ 21600 f16 1"/>
              <a:gd name="f25" fmla="*/ 21600 f17 1"/>
              <a:gd name="f26" fmla="+- 0 0 f19"/>
              <a:gd name="f27" fmla="abs f20"/>
              <a:gd name="f28" fmla="abs f21"/>
              <a:gd name="f29" fmla="?: f20 f14 f1"/>
              <a:gd name="f30" fmla="?: f20 f1 f14"/>
              <a:gd name="f31" fmla="?: f20 f2 f1"/>
              <a:gd name="f32" fmla="?: f20 f1 f2"/>
              <a:gd name="f33" fmla="?: f21 f14 f1"/>
              <a:gd name="f34" fmla="?: f21 f1 f14"/>
              <a:gd name="f35" fmla="?: f20 0 f0"/>
              <a:gd name="f36" fmla="?: f20 f0 0"/>
              <a:gd name="f37" fmla="min f23 f22"/>
              <a:gd name="f38" fmla="*/ f24 1 f18"/>
              <a:gd name="f39" fmla="*/ f25 1 f18"/>
              <a:gd name="f40" fmla="*/ f26 f0 1"/>
              <a:gd name="f41" fmla="?: f20 f32 f31"/>
              <a:gd name="f42" fmla="?: f20 f31 f32"/>
              <a:gd name="f43" fmla="?: f21 f30 f29"/>
              <a:gd name="f44" fmla="val f38"/>
              <a:gd name="f45" fmla="val f39"/>
              <a:gd name="f46" fmla="*/ f40 1 f7"/>
              <a:gd name="f47" fmla="?: f21 f42 f41"/>
              <a:gd name="f48" fmla="*/ f15 f37 1"/>
              <a:gd name="f49" fmla="*/ f6 f37 1"/>
              <a:gd name="f50" fmla="*/ f27 f37 1"/>
              <a:gd name="f51" fmla="*/ f28 f37 1"/>
              <a:gd name="f52" fmla="+- f45 0 f9"/>
              <a:gd name="f53" fmla="+- f44 0 f9"/>
              <a:gd name="f54" fmla="+- f46 0 f1"/>
              <a:gd name="f55" fmla="*/ f45 f37 1"/>
              <a:gd name="f56" fmla="*/ f44 f37 1"/>
              <a:gd name="f57" fmla="+- f45 0 f52"/>
              <a:gd name="f58" fmla="+- f44 0 f53"/>
              <a:gd name="f59" fmla="+- f52 0 f45"/>
              <a:gd name="f60" fmla="+- f53 0 f44"/>
              <a:gd name="f61" fmla="+- f54 f1 0"/>
              <a:gd name="f62" fmla="*/ f52 f37 1"/>
              <a:gd name="f63" fmla="*/ f53 f37 1"/>
              <a:gd name="f64" fmla="abs f57"/>
              <a:gd name="f65" fmla="?: f57 0 f0"/>
              <a:gd name="f66" fmla="?: f57 f0 0"/>
              <a:gd name="f67" fmla="?: f57 f33 f34"/>
              <a:gd name="f68" fmla="abs f58"/>
              <a:gd name="f69" fmla="abs f59"/>
              <a:gd name="f70" fmla="?: f58 f14 f1"/>
              <a:gd name="f71" fmla="?: f58 f1 f14"/>
              <a:gd name="f72" fmla="?: f58 f2 f1"/>
              <a:gd name="f73" fmla="?: f58 f1 f2"/>
              <a:gd name="f74" fmla="abs f60"/>
              <a:gd name="f75" fmla="?: f60 f14 f1"/>
              <a:gd name="f76" fmla="?: f60 f1 f14"/>
              <a:gd name="f77" fmla="?: f60 f36 f35"/>
              <a:gd name="f78" fmla="?: f60 f35 f36"/>
              <a:gd name="f79" fmla="*/ f61 f7 1"/>
              <a:gd name="f80" fmla="?: f21 f66 f65"/>
              <a:gd name="f81" fmla="?: f21 f65 f66"/>
              <a:gd name="f82" fmla="?: f58 f73 f72"/>
              <a:gd name="f83" fmla="?: f58 f72 f73"/>
              <a:gd name="f84" fmla="?: f59 f71 f70"/>
              <a:gd name="f85" fmla="?: f20 f77 f78"/>
              <a:gd name="f86" fmla="?: f20 f75 f76"/>
              <a:gd name="f87" fmla="*/ f79 1 f0"/>
              <a:gd name="f88" fmla="*/ f64 f37 1"/>
              <a:gd name="f89" fmla="*/ f68 f37 1"/>
              <a:gd name="f90" fmla="*/ f69 f37 1"/>
              <a:gd name="f91" fmla="*/ f74 f37 1"/>
              <a:gd name="f92" fmla="?: f57 f80 f81"/>
              <a:gd name="f93" fmla="?: f59 f83 f82"/>
              <a:gd name="f94" fmla="+- 0 0 f87"/>
              <a:gd name="f95" fmla="+- 0 0 f94"/>
              <a:gd name="f96" fmla="*/ f95 f0 1"/>
              <a:gd name="f97" fmla="*/ f96 1 f7"/>
              <a:gd name="f98" fmla="+- f97 0 f1"/>
              <a:gd name="f99" fmla="cos 1 f98"/>
              <a:gd name="f100" fmla="+- 0 0 f99"/>
              <a:gd name="f101" fmla="+- 0 0 f100"/>
              <a:gd name="f102" fmla="val f101"/>
              <a:gd name="f103" fmla="+- 0 0 f102"/>
              <a:gd name="f104" fmla="*/ f9 f103 1"/>
              <a:gd name="f105" fmla="*/ f104 3163 1"/>
              <a:gd name="f106" fmla="*/ f105 1 7636"/>
              <a:gd name="f107" fmla="+- f6 f106 0"/>
              <a:gd name="f108" fmla="+- f44 0 f106"/>
              <a:gd name="f109" fmla="+- f45 0 f106"/>
              <a:gd name="f110" fmla="*/ f107 f37 1"/>
              <a:gd name="f111" fmla="*/ f108 f37 1"/>
              <a:gd name="f112" fmla="*/ f109 f3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10" t="f110" r="f111" b="f112"/>
            <a:pathLst>
              <a:path>
                <a:moveTo>
                  <a:pt x="f48" y="f49"/>
                </a:moveTo>
                <a:arcTo wR="f50" hR="f51" stAng="f47" swAng="f43"/>
                <a:lnTo>
                  <a:pt x="f49" y="f62"/>
                </a:lnTo>
                <a:arcTo wR="f51" hR="f88" stAng="f92" swAng="f67"/>
                <a:lnTo>
                  <a:pt x="f63" y="f55"/>
                </a:lnTo>
                <a:arcTo wR="f89" hR="f90" stAng="f93" swAng="f84"/>
                <a:lnTo>
                  <a:pt x="f56" y="f48"/>
                </a:lnTo>
                <a:arcTo wR="f91" hR="f50" stAng="f85" swAng="f86"/>
                <a:close/>
              </a:path>
            </a:pathLst>
          </a:custGeom>
          <a:solidFill>
            <a:srgbClr val="2553D6"/>
          </a:solidFill>
          <a:ln w="0" cap="flat">
            <a:solidFill>
              <a:srgbClr val="2553D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4A7A5B9D-7772-C98E-DA12-41CA68DFC874}"/>
              </a:ext>
            </a:extLst>
          </p:cNvPr>
          <p:cNvSpPr/>
          <p:nvPr/>
        </p:nvSpPr>
        <p:spPr>
          <a:xfrm>
            <a:off x="571500" y="361946"/>
            <a:ext cx="1619246" cy="28575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76196" tIns="76196" rIns="76196" bIns="76196" anchor="ctr" anchorCtr="1" compatLnSpc="1">
            <a:normAutofit/>
          </a:bodyPr>
          <a:lstStyle/>
          <a:p>
            <a:pPr marL="0" marR="0" lvl="0" indent="0" algn="ctr" defTabSz="914400" rtl="0" fontAlgn="auto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000" b="1" i="0" u="none" strike="noStrike" kern="0" cap="none" spc="0" baseline="0">
                <a:solidFill>
                  <a:srgbClr val="FFFFFF"/>
                </a:solidFill>
                <a:uFillTx/>
              </a:defRPr>
            </a:pPr>
            <a:r>
              <a:rPr lang="fr-FR" sz="1000" b="1" i="0" u="none" strike="noStrike" kern="1200" cap="none" spc="0" baseline="0" dirty="0">
                <a:solidFill>
                  <a:srgbClr val="FFFFFF"/>
                </a:solidFill>
                <a:uFillTx/>
                <a:latin typeface="Aptos"/>
              </a:rPr>
              <a:t>BUILD STEP 3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2B10C7FB-AA2E-376C-8CD6-9476C3C11990}"/>
              </a:ext>
            </a:extLst>
          </p:cNvPr>
          <p:cNvSpPr/>
          <p:nvPr/>
        </p:nvSpPr>
        <p:spPr>
          <a:xfrm>
            <a:off x="571500" y="713990"/>
            <a:ext cx="11048996" cy="47624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t" anchorCtr="0" compatLnSpc="1">
            <a:norm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3000" b="1" i="0" u="none" strike="noStrike" kern="0" cap="none" spc="0" baseline="0">
                <a:solidFill>
                  <a:srgbClr val="0F172A"/>
                </a:solidFill>
                <a:uFillTx/>
              </a:defRPr>
            </a:pPr>
            <a:r>
              <a:rPr lang="en-US" sz="3000" b="1" i="0" u="none" strike="noStrike" kern="1200" cap="none" spc="0" baseline="0">
                <a:solidFill>
                  <a:srgbClr val="0F172A"/>
                </a:solidFill>
                <a:uFillTx/>
                <a:latin typeface="Aptos"/>
              </a:rPr>
              <a:t>Representation of a Data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5007A1BD-B2FE-EADE-E808-83F7B53792D5}"/>
              </a:ext>
            </a:extLst>
          </p:cNvPr>
          <p:cNvSpPr/>
          <p:nvPr/>
        </p:nvSpPr>
        <p:spPr>
          <a:xfrm>
            <a:off x="571500" y="1190247"/>
            <a:ext cx="11048996" cy="32385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t" anchorCtr="0" compatLnSpc="1">
            <a:norm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350" b="0" i="0" u="none" strike="noStrike" kern="0" cap="none" spc="0" baseline="0">
                <a:solidFill>
                  <a:srgbClr val="475569"/>
                </a:solidFill>
                <a:uFillTx/>
              </a:defRPr>
            </a:pPr>
            <a:endParaRPr lang="fr-FR" sz="1350" b="0" i="0" u="none" strike="noStrike" kern="1200" cap="none" spc="0" baseline="0">
              <a:solidFill>
                <a:srgbClr val="475569"/>
              </a:solidFill>
              <a:uFillTx/>
              <a:latin typeface="Aptos"/>
            </a:endParaRPr>
          </a:p>
        </p:txBody>
      </p:sp>
      <p:sp>
        <p:nvSpPr>
          <p:cNvPr id="6" name="Rectangle : coins arrondis 4">
            <a:extLst>
              <a:ext uri="{FF2B5EF4-FFF2-40B4-BE49-F238E27FC236}">
                <a16:creationId xmlns:a16="http://schemas.microsoft.com/office/drawing/2014/main" id="{A1D1D137-EEFD-90BA-1B5A-D4DB80D205F5}"/>
              </a:ext>
            </a:extLst>
          </p:cNvPr>
          <p:cNvSpPr/>
          <p:nvPr/>
        </p:nvSpPr>
        <p:spPr>
          <a:xfrm>
            <a:off x="475021" y="2684742"/>
            <a:ext cx="5333996" cy="1785923"/>
          </a:xfrm>
          <a:custGeom>
            <a:avLst/>
            <a:gdLst>
              <a:gd name="f0" fmla="val 10800000"/>
              <a:gd name="f1" fmla="val 5400000"/>
              <a:gd name="f2" fmla="val 16200000"/>
              <a:gd name="f3" fmla="val w"/>
              <a:gd name="f4" fmla="val h"/>
              <a:gd name="f5" fmla="val ss"/>
              <a:gd name="f6" fmla="val 0"/>
              <a:gd name="f7" fmla="*/ 5419351 1 1725033"/>
              <a:gd name="f8" fmla="val 45"/>
              <a:gd name="f9" fmla="val 868"/>
              <a:gd name="f10" fmla="abs f3"/>
              <a:gd name="f11" fmla="abs f4"/>
              <a:gd name="f12" fmla="abs f5"/>
              <a:gd name="f13" fmla="*/ f7 1 180"/>
              <a:gd name="f14" fmla="+- 0 0 f1"/>
              <a:gd name="f15" fmla="+- f6 f9 0"/>
              <a:gd name="f16" fmla="?: f10 f3 1"/>
              <a:gd name="f17" fmla="?: f11 f4 1"/>
              <a:gd name="f18" fmla="?: f12 f5 1"/>
              <a:gd name="f19" fmla="*/ f8 f13 1"/>
              <a:gd name="f20" fmla="+- f6 0 f15"/>
              <a:gd name="f21" fmla="+- f15 0 f6"/>
              <a:gd name="f22" fmla="*/ f16 1 21600"/>
              <a:gd name="f23" fmla="*/ f17 1 21600"/>
              <a:gd name="f24" fmla="*/ 21600 f16 1"/>
              <a:gd name="f25" fmla="*/ 21600 f17 1"/>
              <a:gd name="f26" fmla="+- 0 0 f19"/>
              <a:gd name="f27" fmla="abs f20"/>
              <a:gd name="f28" fmla="abs f21"/>
              <a:gd name="f29" fmla="?: f20 f14 f1"/>
              <a:gd name="f30" fmla="?: f20 f1 f14"/>
              <a:gd name="f31" fmla="?: f20 f2 f1"/>
              <a:gd name="f32" fmla="?: f20 f1 f2"/>
              <a:gd name="f33" fmla="?: f21 f14 f1"/>
              <a:gd name="f34" fmla="?: f21 f1 f14"/>
              <a:gd name="f35" fmla="?: f20 0 f0"/>
              <a:gd name="f36" fmla="?: f20 f0 0"/>
              <a:gd name="f37" fmla="min f23 f22"/>
              <a:gd name="f38" fmla="*/ f24 1 f18"/>
              <a:gd name="f39" fmla="*/ f25 1 f18"/>
              <a:gd name="f40" fmla="*/ f26 f0 1"/>
              <a:gd name="f41" fmla="?: f20 f32 f31"/>
              <a:gd name="f42" fmla="?: f20 f31 f32"/>
              <a:gd name="f43" fmla="?: f21 f30 f29"/>
              <a:gd name="f44" fmla="val f38"/>
              <a:gd name="f45" fmla="val f39"/>
              <a:gd name="f46" fmla="*/ f40 1 f7"/>
              <a:gd name="f47" fmla="?: f21 f42 f41"/>
              <a:gd name="f48" fmla="*/ f15 f37 1"/>
              <a:gd name="f49" fmla="*/ f6 f37 1"/>
              <a:gd name="f50" fmla="*/ f27 f37 1"/>
              <a:gd name="f51" fmla="*/ f28 f37 1"/>
              <a:gd name="f52" fmla="+- f45 0 f9"/>
              <a:gd name="f53" fmla="+- f44 0 f9"/>
              <a:gd name="f54" fmla="+- f46 0 f1"/>
              <a:gd name="f55" fmla="*/ f45 f37 1"/>
              <a:gd name="f56" fmla="*/ f44 f37 1"/>
              <a:gd name="f57" fmla="+- f45 0 f52"/>
              <a:gd name="f58" fmla="+- f44 0 f53"/>
              <a:gd name="f59" fmla="+- f52 0 f45"/>
              <a:gd name="f60" fmla="+- f53 0 f44"/>
              <a:gd name="f61" fmla="+- f54 f1 0"/>
              <a:gd name="f62" fmla="*/ f52 f37 1"/>
              <a:gd name="f63" fmla="*/ f53 f37 1"/>
              <a:gd name="f64" fmla="abs f57"/>
              <a:gd name="f65" fmla="?: f57 0 f0"/>
              <a:gd name="f66" fmla="?: f57 f0 0"/>
              <a:gd name="f67" fmla="?: f57 f33 f34"/>
              <a:gd name="f68" fmla="abs f58"/>
              <a:gd name="f69" fmla="abs f59"/>
              <a:gd name="f70" fmla="?: f58 f14 f1"/>
              <a:gd name="f71" fmla="?: f58 f1 f14"/>
              <a:gd name="f72" fmla="?: f58 f2 f1"/>
              <a:gd name="f73" fmla="?: f58 f1 f2"/>
              <a:gd name="f74" fmla="abs f60"/>
              <a:gd name="f75" fmla="?: f60 f14 f1"/>
              <a:gd name="f76" fmla="?: f60 f1 f14"/>
              <a:gd name="f77" fmla="?: f60 f36 f35"/>
              <a:gd name="f78" fmla="?: f60 f35 f36"/>
              <a:gd name="f79" fmla="*/ f61 f7 1"/>
              <a:gd name="f80" fmla="?: f21 f66 f65"/>
              <a:gd name="f81" fmla="?: f21 f65 f66"/>
              <a:gd name="f82" fmla="?: f58 f73 f72"/>
              <a:gd name="f83" fmla="?: f58 f72 f73"/>
              <a:gd name="f84" fmla="?: f59 f71 f70"/>
              <a:gd name="f85" fmla="?: f20 f77 f78"/>
              <a:gd name="f86" fmla="?: f20 f75 f76"/>
              <a:gd name="f87" fmla="*/ f79 1 f0"/>
              <a:gd name="f88" fmla="*/ f64 f37 1"/>
              <a:gd name="f89" fmla="*/ f68 f37 1"/>
              <a:gd name="f90" fmla="*/ f69 f37 1"/>
              <a:gd name="f91" fmla="*/ f74 f37 1"/>
              <a:gd name="f92" fmla="?: f57 f80 f81"/>
              <a:gd name="f93" fmla="?: f59 f83 f82"/>
              <a:gd name="f94" fmla="+- 0 0 f87"/>
              <a:gd name="f95" fmla="+- 0 0 f94"/>
              <a:gd name="f96" fmla="*/ f95 f0 1"/>
              <a:gd name="f97" fmla="*/ f96 1 f7"/>
              <a:gd name="f98" fmla="+- f97 0 f1"/>
              <a:gd name="f99" fmla="cos 1 f98"/>
              <a:gd name="f100" fmla="+- 0 0 f99"/>
              <a:gd name="f101" fmla="+- 0 0 f100"/>
              <a:gd name="f102" fmla="val f101"/>
              <a:gd name="f103" fmla="+- 0 0 f102"/>
              <a:gd name="f104" fmla="*/ f9 f103 1"/>
              <a:gd name="f105" fmla="*/ f104 3163 1"/>
              <a:gd name="f106" fmla="*/ f105 1 7636"/>
              <a:gd name="f107" fmla="+- f6 f106 0"/>
              <a:gd name="f108" fmla="+- f44 0 f106"/>
              <a:gd name="f109" fmla="+- f45 0 f106"/>
              <a:gd name="f110" fmla="*/ f107 f37 1"/>
              <a:gd name="f111" fmla="*/ f108 f37 1"/>
              <a:gd name="f112" fmla="*/ f109 f3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10" t="f110" r="f111" b="f112"/>
            <a:pathLst>
              <a:path>
                <a:moveTo>
                  <a:pt x="f48" y="f49"/>
                </a:moveTo>
                <a:arcTo wR="f50" hR="f51" stAng="f47" swAng="f43"/>
                <a:lnTo>
                  <a:pt x="f49" y="f62"/>
                </a:lnTo>
                <a:arcTo wR="f51" hR="f88" stAng="f92" swAng="f67"/>
                <a:lnTo>
                  <a:pt x="f63" y="f55"/>
                </a:lnTo>
                <a:arcTo wR="f89" hR="f90" stAng="f93" swAng="f84"/>
                <a:lnTo>
                  <a:pt x="f56" y="f48"/>
                </a:lnTo>
                <a:arcTo wR="f91" hR="f50" stAng="f85" swAng="f86"/>
                <a:close/>
              </a:path>
            </a:pathLst>
          </a:custGeom>
          <a:solidFill>
            <a:srgbClr val="0B1220"/>
          </a:solidFill>
          <a:ln w="9528" cap="flat">
            <a:solidFill>
              <a:srgbClr val="1E293B"/>
            </a:solidFill>
            <a:prstDash val="solid"/>
            <a:miter/>
          </a:ln>
          <a:effectLst>
            <a:outerShdw dist="19046" dir="5400000" algn="tl">
              <a:srgbClr val="000000">
                <a:alpha val="63000"/>
              </a:srgbClr>
            </a:outerShdw>
          </a:effectLst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000000"/>
              </a:solidFill>
              <a:uFillTx/>
              <a:latin typeface="Aptos Display"/>
            </a:endParaRPr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D4E59042-D47C-5CE5-F0F9-CCBEEDCFDE6D}"/>
              </a:ext>
            </a:extLst>
          </p:cNvPr>
          <p:cNvSpPr/>
          <p:nvPr/>
        </p:nvSpPr>
        <p:spPr>
          <a:xfrm>
            <a:off x="703621" y="2846280"/>
            <a:ext cx="4991096" cy="1496571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1200" b="0" i="0" u="none" strike="noStrike" kern="1200" cap="none" spc="0" baseline="0">
                <a:solidFill>
                  <a:srgbClr val="FFFFFF"/>
                </a:solidFill>
                <a:uFillTx/>
                <a:latin typeface="Consolas" pitchFamily="49"/>
              </a:rPr>
              <a:t>{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1200" b="0" i="0" u="none" strike="noStrike" kern="1200" cap="none" spc="0" baseline="0">
                <a:solidFill>
                  <a:srgbClr val="FFFFFF"/>
                </a:solidFill>
                <a:highlight>
                  <a:srgbClr val="808080"/>
                </a:highlight>
                <a:uFillTx/>
                <a:latin typeface="Consolas" pitchFamily="49"/>
              </a:rPr>
              <a:t>      "Name": "shipbuilder",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1200" b="0" i="0" u="none" strike="noStrike" kern="1200" cap="none" spc="0" baseline="0">
                <a:solidFill>
                  <a:srgbClr val="FFFFFF"/>
                </a:solidFill>
                <a:highlight>
                  <a:srgbClr val="800000"/>
                </a:highlight>
                <a:uFillTx/>
                <a:latin typeface="Consolas" pitchFamily="49"/>
              </a:rPr>
              <a:t>      "Link": "../raw_DATA/ALMI ATLAS.pdf",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1200" b="0" i="0" u="none" strike="noStrike" kern="0" cap="none" spc="0" baseline="0">
                <a:solidFill>
                  <a:srgbClr val="FFFFFF"/>
                </a:solidFill>
                <a:highlight>
                  <a:srgbClr val="008000"/>
                </a:highlight>
                <a:uFillTx/>
                <a:latin typeface="Consolas" pitchFamily="49"/>
              </a:rPr>
              <a:t>      </a:t>
            </a:r>
            <a:r>
              <a:rPr lang="fr-FR" sz="1200" b="0" i="0" u="none" strike="noStrike" kern="1200" cap="none" spc="0" baseline="0">
                <a:solidFill>
                  <a:srgbClr val="FFFFFF"/>
                </a:solidFill>
                <a:highlight>
                  <a:srgbClr val="008000"/>
                </a:highlight>
                <a:uFillTx/>
                <a:latin typeface="Consolas" pitchFamily="49"/>
              </a:rPr>
              <a:t>"DNV_path": "/dnv-v2/vis-3-10a/800a/860/861/861.2/861.21/G52/G52.1",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1200" b="0" i="0" u="none" strike="noStrike" kern="0" cap="none" spc="0" baseline="0">
                <a:solidFill>
                  <a:srgbClr val="FFFFFF"/>
                </a:solidFill>
                <a:highlight>
                  <a:srgbClr val="800080"/>
                </a:highlight>
                <a:uFillTx/>
                <a:latin typeface="Consolas" pitchFamily="49"/>
              </a:rPr>
              <a:t>      </a:t>
            </a:r>
            <a:r>
              <a:rPr lang="fr-FR" sz="1200" b="0" i="0" u="none" strike="noStrike" kern="1200" cap="none" spc="0" baseline="0">
                <a:solidFill>
                  <a:srgbClr val="FFFFFF"/>
                </a:solidFill>
                <a:highlight>
                  <a:srgbClr val="800080"/>
                </a:highlight>
                <a:uFillTx/>
                <a:latin typeface="Consolas" pitchFamily="49"/>
              </a:rPr>
              <a:t>"Value": "Hyundai Samho Heavy Industries Co. Ltd",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1200" b="0" i="0" u="none" strike="noStrike" kern="0" cap="none" spc="0" baseline="0">
                <a:solidFill>
                  <a:srgbClr val="FFFFFF"/>
                </a:solidFill>
                <a:highlight>
                  <a:srgbClr val="808000"/>
                </a:highlight>
                <a:uFillTx/>
                <a:latin typeface="Consolas" pitchFamily="49"/>
              </a:rPr>
              <a:t>      </a:t>
            </a:r>
            <a:r>
              <a:rPr lang="fr-FR" sz="1200" b="0" i="0" u="none" strike="noStrike" kern="1200" cap="none" spc="0" baseline="0">
                <a:solidFill>
                  <a:srgbClr val="FFFFFF"/>
                </a:solidFill>
                <a:highlight>
                  <a:srgbClr val="808000"/>
                </a:highlight>
                <a:uFillTx/>
                <a:latin typeface="Consolas" pitchFamily="49"/>
              </a:rPr>
              <a:t>"location": "hull"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1200" b="0" i="0" u="none" strike="noStrike" kern="1200" cap="none" spc="0" baseline="0">
                <a:solidFill>
                  <a:srgbClr val="FFFFFF"/>
                </a:solidFill>
                <a:uFillTx/>
                <a:latin typeface="Consolas" pitchFamily="49"/>
              </a:rPr>
              <a:t>    }</a:t>
            </a:r>
            <a:endParaRPr lang="fr-FR" sz="1200" b="0" i="0" u="none" strike="noStrike" kern="1200" cap="none" spc="0" baseline="0">
              <a:solidFill>
                <a:srgbClr val="FFFFFF"/>
              </a:solidFill>
              <a:uFillTx/>
              <a:latin typeface="Consolas" pitchFamily="49"/>
              <a:ea typeface="Consolas"/>
              <a:cs typeface="Consolas"/>
            </a:endParaRPr>
          </a:p>
        </p:txBody>
      </p:sp>
      <p:sp>
        <p:nvSpPr>
          <p:cNvPr id="8" name="Rectangle : coins arrondis 10">
            <a:extLst>
              <a:ext uri="{FF2B5EF4-FFF2-40B4-BE49-F238E27FC236}">
                <a16:creationId xmlns:a16="http://schemas.microsoft.com/office/drawing/2014/main" id="{E52B3B7D-DF51-4113-42DF-C27EA359ADBB}"/>
              </a:ext>
            </a:extLst>
          </p:cNvPr>
          <p:cNvSpPr/>
          <p:nvPr/>
        </p:nvSpPr>
        <p:spPr>
          <a:xfrm>
            <a:off x="6096003" y="1085091"/>
            <a:ext cx="5333996" cy="5203950"/>
          </a:xfrm>
          <a:custGeom>
            <a:avLst/>
            <a:gdLst>
              <a:gd name="f0" fmla="val 10800000"/>
              <a:gd name="f1" fmla="val 5400000"/>
              <a:gd name="f2" fmla="val 16200000"/>
              <a:gd name="f3" fmla="val w"/>
              <a:gd name="f4" fmla="val h"/>
              <a:gd name="f5" fmla="val ss"/>
              <a:gd name="f6" fmla="val 0"/>
              <a:gd name="f7" fmla="*/ 5419351 1 1725033"/>
              <a:gd name="f8" fmla="val 45"/>
              <a:gd name="f9" fmla="val 2979"/>
              <a:gd name="f10" fmla="abs f3"/>
              <a:gd name="f11" fmla="abs f4"/>
              <a:gd name="f12" fmla="abs f5"/>
              <a:gd name="f13" fmla="*/ f7 1 180"/>
              <a:gd name="f14" fmla="+- 0 0 f1"/>
              <a:gd name="f15" fmla="+- f6 f9 0"/>
              <a:gd name="f16" fmla="?: f10 f3 1"/>
              <a:gd name="f17" fmla="?: f11 f4 1"/>
              <a:gd name="f18" fmla="?: f12 f5 1"/>
              <a:gd name="f19" fmla="*/ f8 f13 1"/>
              <a:gd name="f20" fmla="+- f6 0 f15"/>
              <a:gd name="f21" fmla="+- f15 0 f6"/>
              <a:gd name="f22" fmla="*/ f16 1 21600"/>
              <a:gd name="f23" fmla="*/ f17 1 21600"/>
              <a:gd name="f24" fmla="*/ 21600 f16 1"/>
              <a:gd name="f25" fmla="*/ 21600 f17 1"/>
              <a:gd name="f26" fmla="+- 0 0 f19"/>
              <a:gd name="f27" fmla="abs f20"/>
              <a:gd name="f28" fmla="abs f21"/>
              <a:gd name="f29" fmla="?: f20 f14 f1"/>
              <a:gd name="f30" fmla="?: f20 f1 f14"/>
              <a:gd name="f31" fmla="?: f20 f2 f1"/>
              <a:gd name="f32" fmla="?: f20 f1 f2"/>
              <a:gd name="f33" fmla="?: f21 f14 f1"/>
              <a:gd name="f34" fmla="?: f21 f1 f14"/>
              <a:gd name="f35" fmla="?: f20 0 f0"/>
              <a:gd name="f36" fmla="?: f20 f0 0"/>
              <a:gd name="f37" fmla="min f23 f22"/>
              <a:gd name="f38" fmla="*/ f24 1 f18"/>
              <a:gd name="f39" fmla="*/ f25 1 f18"/>
              <a:gd name="f40" fmla="*/ f26 f0 1"/>
              <a:gd name="f41" fmla="?: f20 f32 f31"/>
              <a:gd name="f42" fmla="?: f20 f31 f32"/>
              <a:gd name="f43" fmla="?: f21 f30 f29"/>
              <a:gd name="f44" fmla="val f38"/>
              <a:gd name="f45" fmla="val f39"/>
              <a:gd name="f46" fmla="*/ f40 1 f7"/>
              <a:gd name="f47" fmla="?: f21 f42 f41"/>
              <a:gd name="f48" fmla="*/ f15 f37 1"/>
              <a:gd name="f49" fmla="*/ f6 f37 1"/>
              <a:gd name="f50" fmla="*/ f27 f37 1"/>
              <a:gd name="f51" fmla="*/ f28 f37 1"/>
              <a:gd name="f52" fmla="+- f45 0 f9"/>
              <a:gd name="f53" fmla="+- f44 0 f9"/>
              <a:gd name="f54" fmla="+- f46 0 f1"/>
              <a:gd name="f55" fmla="*/ f45 f37 1"/>
              <a:gd name="f56" fmla="*/ f44 f37 1"/>
              <a:gd name="f57" fmla="+- f45 0 f52"/>
              <a:gd name="f58" fmla="+- f44 0 f53"/>
              <a:gd name="f59" fmla="+- f52 0 f45"/>
              <a:gd name="f60" fmla="+- f53 0 f44"/>
              <a:gd name="f61" fmla="+- f54 f1 0"/>
              <a:gd name="f62" fmla="*/ f52 f37 1"/>
              <a:gd name="f63" fmla="*/ f53 f37 1"/>
              <a:gd name="f64" fmla="abs f57"/>
              <a:gd name="f65" fmla="?: f57 0 f0"/>
              <a:gd name="f66" fmla="?: f57 f0 0"/>
              <a:gd name="f67" fmla="?: f57 f33 f34"/>
              <a:gd name="f68" fmla="abs f58"/>
              <a:gd name="f69" fmla="abs f59"/>
              <a:gd name="f70" fmla="?: f58 f14 f1"/>
              <a:gd name="f71" fmla="?: f58 f1 f14"/>
              <a:gd name="f72" fmla="?: f58 f2 f1"/>
              <a:gd name="f73" fmla="?: f58 f1 f2"/>
              <a:gd name="f74" fmla="abs f60"/>
              <a:gd name="f75" fmla="?: f60 f14 f1"/>
              <a:gd name="f76" fmla="?: f60 f1 f14"/>
              <a:gd name="f77" fmla="?: f60 f36 f35"/>
              <a:gd name="f78" fmla="?: f60 f35 f36"/>
              <a:gd name="f79" fmla="*/ f61 f7 1"/>
              <a:gd name="f80" fmla="?: f21 f66 f65"/>
              <a:gd name="f81" fmla="?: f21 f65 f66"/>
              <a:gd name="f82" fmla="?: f58 f73 f72"/>
              <a:gd name="f83" fmla="?: f58 f72 f73"/>
              <a:gd name="f84" fmla="?: f59 f71 f70"/>
              <a:gd name="f85" fmla="?: f20 f77 f78"/>
              <a:gd name="f86" fmla="?: f20 f75 f76"/>
              <a:gd name="f87" fmla="*/ f79 1 f0"/>
              <a:gd name="f88" fmla="*/ f64 f37 1"/>
              <a:gd name="f89" fmla="*/ f68 f37 1"/>
              <a:gd name="f90" fmla="*/ f69 f37 1"/>
              <a:gd name="f91" fmla="*/ f74 f37 1"/>
              <a:gd name="f92" fmla="?: f57 f80 f81"/>
              <a:gd name="f93" fmla="?: f59 f83 f82"/>
              <a:gd name="f94" fmla="+- 0 0 f87"/>
              <a:gd name="f95" fmla="+- 0 0 f94"/>
              <a:gd name="f96" fmla="*/ f95 f0 1"/>
              <a:gd name="f97" fmla="*/ f96 1 f7"/>
              <a:gd name="f98" fmla="+- f97 0 f1"/>
              <a:gd name="f99" fmla="cos 1 f98"/>
              <a:gd name="f100" fmla="+- 0 0 f99"/>
              <a:gd name="f101" fmla="+- 0 0 f100"/>
              <a:gd name="f102" fmla="val f101"/>
              <a:gd name="f103" fmla="+- 0 0 f102"/>
              <a:gd name="f104" fmla="*/ f9 f103 1"/>
              <a:gd name="f105" fmla="*/ f104 3163 1"/>
              <a:gd name="f106" fmla="*/ f105 1 7636"/>
              <a:gd name="f107" fmla="+- f6 f106 0"/>
              <a:gd name="f108" fmla="+- f44 0 f106"/>
              <a:gd name="f109" fmla="+- f45 0 f106"/>
              <a:gd name="f110" fmla="*/ f107 f37 1"/>
              <a:gd name="f111" fmla="*/ f108 f37 1"/>
              <a:gd name="f112" fmla="*/ f109 f3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10" t="f110" r="f111" b="f112"/>
            <a:pathLst>
              <a:path>
                <a:moveTo>
                  <a:pt x="f48" y="f49"/>
                </a:moveTo>
                <a:arcTo wR="f50" hR="f51" stAng="f47" swAng="f43"/>
                <a:lnTo>
                  <a:pt x="f49" y="f62"/>
                </a:lnTo>
                <a:arcTo wR="f51" hR="f88" stAng="f92" swAng="f67"/>
                <a:lnTo>
                  <a:pt x="f63" y="f55"/>
                </a:lnTo>
                <a:arcTo wR="f89" hR="f90" stAng="f93" swAng="f84"/>
                <a:lnTo>
                  <a:pt x="f56" y="f48"/>
                </a:lnTo>
                <a:arcTo wR="f91" hR="f50" stAng="f85" swAng="f86"/>
                <a:close/>
              </a:path>
            </a:pathLst>
          </a:custGeom>
          <a:solidFill>
            <a:srgbClr val="FFFFFF"/>
          </a:solidFill>
          <a:ln w="9528" cap="flat">
            <a:solidFill>
              <a:srgbClr val="E2E8F0"/>
            </a:solidFill>
            <a:prstDash val="solid"/>
            <a:miter/>
          </a:ln>
          <a:effectLst>
            <a:outerShdw dist="19046" dir="5400000" algn="tl">
              <a:srgbClr val="000000">
                <a:alpha val="63000"/>
              </a:srgbClr>
            </a:outerShdw>
          </a:effectLst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000000"/>
              </a:solidFill>
              <a:uFillTx/>
              <a:latin typeface="Aptos Display"/>
            </a:endParaRPr>
          </a:p>
        </p:txBody>
      </p:sp>
      <p:sp>
        <p:nvSpPr>
          <p:cNvPr id="9" name="Rectangle 13">
            <a:extLst>
              <a:ext uri="{FF2B5EF4-FFF2-40B4-BE49-F238E27FC236}">
                <a16:creationId xmlns:a16="http://schemas.microsoft.com/office/drawing/2014/main" id="{BD514A1C-33AC-1675-D4B0-74921DFDCBE9}"/>
              </a:ext>
            </a:extLst>
          </p:cNvPr>
          <p:cNvSpPr/>
          <p:nvPr/>
        </p:nvSpPr>
        <p:spPr>
          <a:xfrm>
            <a:off x="6248396" y="1698113"/>
            <a:ext cx="5029200" cy="42048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t" anchorCtr="0" compatLnSpc="1">
            <a:norm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 b="0" i="0" u="none" strike="noStrike" kern="0" cap="none" spc="0" baseline="0">
                <a:solidFill>
                  <a:srgbClr val="334155"/>
                </a:solidFill>
                <a:uFillTx/>
              </a:defRPr>
            </a:pPr>
            <a:r>
              <a:rPr lang="en-US" sz="1200" b="0" i="0" u="none" strike="noStrike" kern="1200" cap="none" spc="0" baseline="0">
                <a:solidFill>
                  <a:srgbClr val="334155"/>
                </a:solidFill>
                <a:uFillTx/>
                <a:latin typeface="Aptos"/>
              </a:rPr>
              <a:t>This is the representation of a data.</a:t>
            </a:r>
            <a:r>
              <a:rPr lang="en-US" sz="1200" b="0" i="0" u="none" strike="noStrike" kern="0" cap="none" spc="0" baseline="0">
                <a:solidFill>
                  <a:srgbClr val="334155"/>
                </a:solidFill>
                <a:uFillTx/>
                <a:latin typeface="Aptos"/>
              </a:rPr>
              <a:t> </a:t>
            </a:r>
            <a:r>
              <a:rPr lang="en-US" sz="1200" b="0" i="0" u="none" strike="noStrike" kern="1200" cap="none" spc="0" baseline="0">
                <a:solidFill>
                  <a:srgbClr val="334155"/>
                </a:solidFill>
                <a:uFillTx/>
                <a:latin typeface="Aptos"/>
              </a:rPr>
              <a:t>We can recognize 5 main blocks :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 b="0" i="0" u="none" strike="noStrike" kern="0" cap="none" spc="0" baseline="0">
                <a:solidFill>
                  <a:srgbClr val="334155"/>
                </a:solidFill>
                <a:uFillTx/>
              </a:defRPr>
            </a:pPr>
            <a:r>
              <a:rPr lang="en-US" sz="1200" b="0" i="0" u="none" strike="noStrike" kern="1200" cap="none" spc="0" baseline="0">
                <a:solidFill>
                  <a:srgbClr val="334155"/>
                </a:solidFill>
                <a:uFillTx/>
                <a:latin typeface="Aptos"/>
              </a:rPr>
              <a:t> </a:t>
            </a:r>
            <a:br>
              <a:rPr lang="en-US" sz="1200" b="0" i="0" u="none" strike="noStrike" kern="1200" cap="none" spc="0" baseline="0">
                <a:solidFill>
                  <a:srgbClr val="334155"/>
                </a:solidFill>
                <a:uFillTx/>
                <a:latin typeface="Aptos"/>
              </a:rPr>
            </a:br>
            <a:r>
              <a:rPr lang="en-US" sz="1200" b="0" i="0" u="none" strike="noStrike" kern="1200" cap="none" spc="0" baseline="0">
                <a:solidFill>
                  <a:srgbClr val="FFFFFF"/>
                </a:solidFill>
                <a:highlight>
                  <a:srgbClr val="808080"/>
                </a:highlight>
                <a:uFillTx/>
                <a:latin typeface="Consolas" pitchFamily="49"/>
              </a:rPr>
              <a:t>Name</a:t>
            </a:r>
            <a:r>
              <a:rPr lang="en-US" sz="1200" b="0" i="0" u="none" strike="noStrike" kern="1200" cap="none" spc="0" baseline="0">
                <a:solidFill>
                  <a:srgbClr val="334155"/>
                </a:solidFill>
                <a:uFillTx/>
                <a:latin typeface="Aptos"/>
              </a:rPr>
              <a:t> : is the label shown to the user 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 b="0" i="0" u="none" strike="noStrike" kern="0" cap="none" spc="0" baseline="0">
                <a:solidFill>
                  <a:srgbClr val="334155"/>
                </a:solidFill>
                <a:uFillTx/>
              </a:defRPr>
            </a:pPr>
            <a:br>
              <a:rPr lang="en-US" sz="1200" b="0" i="0" u="none" strike="noStrike" kern="1200" cap="none" spc="0" baseline="0">
                <a:solidFill>
                  <a:srgbClr val="334155"/>
                </a:solidFill>
                <a:uFillTx/>
                <a:latin typeface="Aptos"/>
              </a:rPr>
            </a:br>
            <a:r>
              <a:rPr lang="en-US" sz="1200" b="0" i="0" u="none" strike="noStrike" kern="1200" cap="none" spc="0" baseline="0">
                <a:solidFill>
                  <a:srgbClr val="FFFFFF"/>
                </a:solidFill>
                <a:highlight>
                  <a:srgbClr val="800000"/>
                </a:highlight>
                <a:uFillTx/>
                <a:latin typeface="Consolas" pitchFamily="49"/>
              </a:rPr>
              <a:t>Link</a:t>
            </a:r>
            <a:r>
              <a:rPr lang="en-US" sz="1200" b="0" i="0" u="none" strike="noStrike" kern="1200" cap="none" spc="0" baseline="0">
                <a:solidFill>
                  <a:srgbClr val="334155"/>
                </a:solidFill>
                <a:uFillTx/>
                <a:latin typeface="Aptos"/>
              </a:rPr>
              <a:t> : points to the raw source file stored in the project so the user can open or download it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 b="0" i="0" u="none" strike="noStrike" kern="0" cap="none" spc="0" baseline="0">
                <a:solidFill>
                  <a:srgbClr val="334155"/>
                </a:solidFill>
                <a:uFillTx/>
              </a:defRPr>
            </a:pPr>
            <a:br>
              <a:rPr lang="en-US" sz="1200" b="0" i="0" u="none" strike="noStrike" kern="1200" cap="none" spc="0" baseline="0">
                <a:solidFill>
                  <a:srgbClr val="334155"/>
                </a:solidFill>
                <a:uFillTx/>
                <a:latin typeface="Aptos"/>
              </a:rPr>
            </a:br>
            <a:r>
              <a:rPr lang="en-US" sz="1200" b="0" i="0" u="none" strike="noStrike" kern="1200" cap="none" spc="0" baseline="0">
                <a:solidFill>
                  <a:srgbClr val="FFFFFF"/>
                </a:solidFill>
                <a:highlight>
                  <a:srgbClr val="008000"/>
                </a:highlight>
                <a:uFillTx/>
                <a:latin typeface="Consolas" pitchFamily="49"/>
              </a:rPr>
              <a:t>DNV_path</a:t>
            </a:r>
            <a:r>
              <a:rPr lang="en-US" sz="1200" b="0" i="0" u="none" strike="noStrike" kern="1200" cap="none" spc="0" baseline="0">
                <a:solidFill>
                  <a:srgbClr val="334155"/>
                </a:solidFill>
                <a:uFillTx/>
                <a:latin typeface="Aptos"/>
              </a:rPr>
              <a:t> : places the same information in the DNV tree on the right if the path is valid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 b="0" i="0" u="none" strike="noStrike" kern="0" cap="none" spc="0" baseline="0">
                <a:solidFill>
                  <a:srgbClr val="334155"/>
                </a:solidFill>
                <a:uFillTx/>
              </a:defRPr>
            </a:pPr>
            <a:endParaRPr lang="en-US" sz="1200" b="0" i="0" u="none" strike="noStrike" kern="1200" cap="none" spc="0" baseline="0">
              <a:solidFill>
                <a:srgbClr val="334155"/>
              </a:solidFill>
              <a:uFillTx/>
              <a:latin typeface="Aptos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 b="0" i="0" u="none" strike="noStrike" kern="0" cap="none" spc="0" baseline="0">
                <a:solidFill>
                  <a:srgbClr val="334155"/>
                </a:solidFill>
                <a:uFillTx/>
              </a:defRPr>
            </a:pPr>
            <a:r>
              <a:rPr lang="en-US" sz="1200" b="0" i="0" u="none" strike="noStrike" kern="1200" cap="none" spc="0" baseline="0">
                <a:solidFill>
                  <a:srgbClr val="FFFFFF"/>
                </a:solidFill>
                <a:highlight>
                  <a:srgbClr val="800080"/>
                </a:highlight>
                <a:uFillTx/>
                <a:latin typeface="Consolas" pitchFamily="49"/>
              </a:rPr>
              <a:t>Value</a:t>
            </a:r>
            <a:r>
              <a:rPr lang="en-US" sz="1200" b="0" i="0" u="none" strike="noStrike" kern="1200" cap="none" spc="0" baseline="0">
                <a:solidFill>
                  <a:srgbClr val="334155"/>
                </a:solidFill>
                <a:uFillTx/>
                <a:latin typeface="Aptos"/>
              </a:rPr>
              <a:t> :is the visible content on the dashboard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 b="0" i="0" u="none" strike="noStrike" kern="0" cap="none" spc="0" baseline="0">
                <a:solidFill>
                  <a:srgbClr val="334155"/>
                </a:solidFill>
                <a:uFillTx/>
              </a:defRPr>
            </a:pPr>
            <a:endParaRPr lang="en-US" sz="1200" b="0" i="0" u="none" strike="noStrike" kern="1200" cap="none" spc="0" baseline="0">
              <a:solidFill>
                <a:srgbClr val="334155"/>
              </a:solidFill>
              <a:uFillTx/>
              <a:latin typeface="Aptos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 b="0" i="0" u="none" strike="noStrike" kern="0" cap="none" spc="0" baseline="0">
                <a:solidFill>
                  <a:srgbClr val="334155"/>
                </a:solidFill>
                <a:uFillTx/>
              </a:defRPr>
            </a:pPr>
            <a:r>
              <a:rPr lang="en-US" sz="1200" b="0" i="0" u="none" strike="noStrike" kern="1200" cap="none" spc="0" baseline="0">
                <a:solidFill>
                  <a:srgbClr val="FFFFFF"/>
                </a:solidFill>
                <a:highlight>
                  <a:srgbClr val="808000"/>
                </a:highlight>
                <a:uFillTx/>
                <a:latin typeface="Consolas" pitchFamily="49"/>
              </a:rPr>
              <a:t>location</a:t>
            </a:r>
            <a:r>
              <a:rPr lang="en-US" sz="1200" b="0" i="0" u="none" strike="noStrike" kern="1200" cap="none" spc="0" baseline="0">
                <a:solidFill>
                  <a:srgbClr val="334155"/>
                </a:solidFill>
                <a:uFillTx/>
                <a:latin typeface="Aptos"/>
              </a:rPr>
              <a:t> : decides in which left-side section or accordion the information appears </a:t>
            </a:r>
            <a:br>
              <a:rPr lang="en-US" sz="1200" b="0" i="0" u="none" strike="noStrike" kern="1200" cap="none" spc="0" baseline="0">
                <a:solidFill>
                  <a:srgbClr val="334155"/>
                </a:solidFill>
                <a:uFillTx/>
                <a:latin typeface="Aptos"/>
              </a:rPr>
            </a:br>
            <a:br>
              <a:rPr lang="en-US" sz="1200" b="0" i="0" u="none" strike="noStrike" kern="1200" cap="none" spc="0" baseline="0">
                <a:solidFill>
                  <a:srgbClr val="334155"/>
                </a:solidFill>
                <a:uFillTx/>
                <a:latin typeface="Aptos"/>
              </a:rPr>
            </a:br>
            <a:endParaRPr lang="en-US" sz="1200" b="0" i="0" u="none" strike="noStrike" kern="1200" cap="none" spc="0" baseline="0">
              <a:solidFill>
                <a:srgbClr val="334155"/>
              </a:solidFill>
              <a:uFillTx/>
              <a:latin typeface="Aptos"/>
            </a:endParaRPr>
          </a:p>
        </p:txBody>
      </p:sp>
      <p:sp>
        <p:nvSpPr>
          <p:cNvPr id="10" name="Rectangle 18">
            <a:extLst>
              <a:ext uri="{FF2B5EF4-FFF2-40B4-BE49-F238E27FC236}">
                <a16:creationId xmlns:a16="http://schemas.microsoft.com/office/drawing/2014/main" id="{D52BBAD4-78AC-6B72-9F31-B8DFB8D2B853}"/>
              </a:ext>
            </a:extLst>
          </p:cNvPr>
          <p:cNvSpPr/>
          <p:nvPr/>
        </p:nvSpPr>
        <p:spPr>
          <a:xfrm>
            <a:off x="571500" y="6534146"/>
            <a:ext cx="3047996" cy="19049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t" anchorCtr="0" compatLnSpc="1">
            <a:norm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825" b="0" i="0" u="none" strike="noStrike" kern="0" cap="none" spc="0" baseline="0">
                <a:solidFill>
                  <a:srgbClr val="64748B"/>
                </a:solidFill>
                <a:uFillTx/>
              </a:defRPr>
            </a:pPr>
            <a:r>
              <a:rPr lang="en-US" sz="825" b="0" i="0" u="none" strike="noStrike" kern="1200" cap="none" spc="0" baseline="0">
                <a:solidFill>
                  <a:srgbClr val="64748B"/>
                </a:solidFill>
                <a:uFillTx/>
                <a:latin typeface="Aptos"/>
              </a:rPr>
              <a:t>Data Hub guide - new vessel workflow</a:t>
            </a:r>
          </a:p>
        </p:txBody>
      </p:sp>
      <p:sp>
        <p:nvSpPr>
          <p:cNvPr id="11" name="Rectangle 19">
            <a:extLst>
              <a:ext uri="{FF2B5EF4-FFF2-40B4-BE49-F238E27FC236}">
                <a16:creationId xmlns:a16="http://schemas.microsoft.com/office/drawing/2014/main" id="{EB21A432-6FC4-C43D-A9F5-D94DD8D1C86A}"/>
              </a:ext>
            </a:extLst>
          </p:cNvPr>
          <p:cNvSpPr/>
          <p:nvPr/>
        </p:nvSpPr>
        <p:spPr>
          <a:xfrm>
            <a:off x="11144250" y="6496053"/>
            <a:ext cx="381003" cy="22860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t" anchorCtr="0" compatLnSpc="1">
            <a:norm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900" b="1" i="0" u="none" strike="noStrike" kern="0" cap="none" spc="0" baseline="0">
                <a:solidFill>
                  <a:srgbClr val="64748B"/>
                </a:solidFill>
                <a:uFillTx/>
              </a:defRPr>
            </a:pPr>
            <a:r>
              <a:rPr lang="fr-FR" sz="900" b="1" dirty="0">
                <a:solidFill>
                  <a:srgbClr val="64748B"/>
                </a:solidFill>
                <a:latin typeface="Aptos"/>
              </a:rPr>
              <a:t>7</a:t>
            </a:r>
            <a:endParaRPr lang="fr-FR" sz="900" b="1" i="0" u="none" strike="noStrike" kern="1200" cap="none" spc="0" baseline="0" dirty="0">
              <a:solidFill>
                <a:srgbClr val="64748B"/>
              </a:solidFill>
              <a:uFillTx/>
              <a:latin typeface="Apto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 : coins arrondis 20">
            <a:extLst>
              <a:ext uri="{FF2B5EF4-FFF2-40B4-BE49-F238E27FC236}">
                <a16:creationId xmlns:a16="http://schemas.microsoft.com/office/drawing/2014/main" id="{2B78C87E-7BCD-64C8-839F-AD25B5B65CD2}"/>
              </a:ext>
            </a:extLst>
          </p:cNvPr>
          <p:cNvSpPr/>
          <p:nvPr/>
        </p:nvSpPr>
        <p:spPr>
          <a:xfrm>
            <a:off x="571500" y="361946"/>
            <a:ext cx="1619246" cy="285750"/>
          </a:xfrm>
          <a:custGeom>
            <a:avLst/>
            <a:gdLst>
              <a:gd name="f0" fmla="val 10800000"/>
              <a:gd name="f1" fmla="val 5400000"/>
              <a:gd name="f2" fmla="val 16200000"/>
              <a:gd name="f3" fmla="val w"/>
              <a:gd name="f4" fmla="val h"/>
              <a:gd name="f5" fmla="val ss"/>
              <a:gd name="f6" fmla="val 0"/>
              <a:gd name="f7" fmla="*/ 5419351 1 1725033"/>
              <a:gd name="f8" fmla="val 45"/>
              <a:gd name="f9" fmla="val 10800"/>
              <a:gd name="f10" fmla="abs f3"/>
              <a:gd name="f11" fmla="abs f4"/>
              <a:gd name="f12" fmla="abs f5"/>
              <a:gd name="f13" fmla="*/ f7 1 180"/>
              <a:gd name="f14" fmla="+- 0 0 f1"/>
              <a:gd name="f15" fmla="+- f6 f9 0"/>
              <a:gd name="f16" fmla="?: f10 f3 1"/>
              <a:gd name="f17" fmla="?: f11 f4 1"/>
              <a:gd name="f18" fmla="?: f12 f5 1"/>
              <a:gd name="f19" fmla="*/ f8 f13 1"/>
              <a:gd name="f20" fmla="+- f6 0 f15"/>
              <a:gd name="f21" fmla="+- f15 0 f6"/>
              <a:gd name="f22" fmla="*/ f16 1 21600"/>
              <a:gd name="f23" fmla="*/ f17 1 21600"/>
              <a:gd name="f24" fmla="*/ 21600 f16 1"/>
              <a:gd name="f25" fmla="*/ 21600 f17 1"/>
              <a:gd name="f26" fmla="+- 0 0 f19"/>
              <a:gd name="f27" fmla="abs f20"/>
              <a:gd name="f28" fmla="abs f21"/>
              <a:gd name="f29" fmla="?: f20 f14 f1"/>
              <a:gd name="f30" fmla="?: f20 f1 f14"/>
              <a:gd name="f31" fmla="?: f20 f2 f1"/>
              <a:gd name="f32" fmla="?: f20 f1 f2"/>
              <a:gd name="f33" fmla="?: f21 f14 f1"/>
              <a:gd name="f34" fmla="?: f21 f1 f14"/>
              <a:gd name="f35" fmla="?: f20 0 f0"/>
              <a:gd name="f36" fmla="?: f20 f0 0"/>
              <a:gd name="f37" fmla="min f23 f22"/>
              <a:gd name="f38" fmla="*/ f24 1 f18"/>
              <a:gd name="f39" fmla="*/ f25 1 f18"/>
              <a:gd name="f40" fmla="*/ f26 f0 1"/>
              <a:gd name="f41" fmla="?: f20 f32 f31"/>
              <a:gd name="f42" fmla="?: f20 f31 f32"/>
              <a:gd name="f43" fmla="?: f21 f30 f29"/>
              <a:gd name="f44" fmla="val f38"/>
              <a:gd name="f45" fmla="val f39"/>
              <a:gd name="f46" fmla="*/ f40 1 f7"/>
              <a:gd name="f47" fmla="?: f21 f42 f41"/>
              <a:gd name="f48" fmla="*/ f15 f37 1"/>
              <a:gd name="f49" fmla="*/ f6 f37 1"/>
              <a:gd name="f50" fmla="*/ f27 f37 1"/>
              <a:gd name="f51" fmla="*/ f28 f37 1"/>
              <a:gd name="f52" fmla="+- f45 0 f9"/>
              <a:gd name="f53" fmla="+- f44 0 f9"/>
              <a:gd name="f54" fmla="+- f46 0 f1"/>
              <a:gd name="f55" fmla="*/ f45 f37 1"/>
              <a:gd name="f56" fmla="*/ f44 f37 1"/>
              <a:gd name="f57" fmla="+- f45 0 f52"/>
              <a:gd name="f58" fmla="+- f44 0 f53"/>
              <a:gd name="f59" fmla="+- f52 0 f45"/>
              <a:gd name="f60" fmla="+- f53 0 f44"/>
              <a:gd name="f61" fmla="+- f54 f1 0"/>
              <a:gd name="f62" fmla="*/ f52 f37 1"/>
              <a:gd name="f63" fmla="*/ f53 f37 1"/>
              <a:gd name="f64" fmla="abs f57"/>
              <a:gd name="f65" fmla="?: f57 0 f0"/>
              <a:gd name="f66" fmla="?: f57 f0 0"/>
              <a:gd name="f67" fmla="?: f57 f33 f34"/>
              <a:gd name="f68" fmla="abs f58"/>
              <a:gd name="f69" fmla="abs f59"/>
              <a:gd name="f70" fmla="?: f58 f14 f1"/>
              <a:gd name="f71" fmla="?: f58 f1 f14"/>
              <a:gd name="f72" fmla="?: f58 f2 f1"/>
              <a:gd name="f73" fmla="?: f58 f1 f2"/>
              <a:gd name="f74" fmla="abs f60"/>
              <a:gd name="f75" fmla="?: f60 f14 f1"/>
              <a:gd name="f76" fmla="?: f60 f1 f14"/>
              <a:gd name="f77" fmla="?: f60 f36 f35"/>
              <a:gd name="f78" fmla="?: f60 f35 f36"/>
              <a:gd name="f79" fmla="*/ f61 f7 1"/>
              <a:gd name="f80" fmla="?: f21 f66 f65"/>
              <a:gd name="f81" fmla="?: f21 f65 f66"/>
              <a:gd name="f82" fmla="?: f58 f73 f72"/>
              <a:gd name="f83" fmla="?: f58 f72 f73"/>
              <a:gd name="f84" fmla="?: f59 f71 f70"/>
              <a:gd name="f85" fmla="?: f20 f77 f78"/>
              <a:gd name="f86" fmla="?: f20 f75 f76"/>
              <a:gd name="f87" fmla="*/ f79 1 f0"/>
              <a:gd name="f88" fmla="*/ f64 f37 1"/>
              <a:gd name="f89" fmla="*/ f68 f37 1"/>
              <a:gd name="f90" fmla="*/ f69 f37 1"/>
              <a:gd name="f91" fmla="*/ f74 f37 1"/>
              <a:gd name="f92" fmla="?: f57 f80 f81"/>
              <a:gd name="f93" fmla="?: f59 f83 f82"/>
              <a:gd name="f94" fmla="+- 0 0 f87"/>
              <a:gd name="f95" fmla="+- 0 0 f94"/>
              <a:gd name="f96" fmla="*/ f95 f0 1"/>
              <a:gd name="f97" fmla="*/ f96 1 f7"/>
              <a:gd name="f98" fmla="+- f97 0 f1"/>
              <a:gd name="f99" fmla="cos 1 f98"/>
              <a:gd name="f100" fmla="+- 0 0 f99"/>
              <a:gd name="f101" fmla="+- 0 0 f100"/>
              <a:gd name="f102" fmla="val f101"/>
              <a:gd name="f103" fmla="+- 0 0 f102"/>
              <a:gd name="f104" fmla="*/ f9 f103 1"/>
              <a:gd name="f105" fmla="*/ f104 3163 1"/>
              <a:gd name="f106" fmla="*/ f105 1 7636"/>
              <a:gd name="f107" fmla="+- f6 f106 0"/>
              <a:gd name="f108" fmla="+- f44 0 f106"/>
              <a:gd name="f109" fmla="+- f45 0 f106"/>
              <a:gd name="f110" fmla="*/ f107 f37 1"/>
              <a:gd name="f111" fmla="*/ f108 f37 1"/>
              <a:gd name="f112" fmla="*/ f109 f3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10" t="f110" r="f111" b="f112"/>
            <a:pathLst>
              <a:path>
                <a:moveTo>
                  <a:pt x="f48" y="f49"/>
                </a:moveTo>
                <a:arcTo wR="f50" hR="f51" stAng="f47" swAng="f43"/>
                <a:lnTo>
                  <a:pt x="f49" y="f62"/>
                </a:lnTo>
                <a:arcTo wR="f51" hR="f88" stAng="f92" swAng="f67"/>
                <a:lnTo>
                  <a:pt x="f63" y="f55"/>
                </a:lnTo>
                <a:arcTo wR="f89" hR="f90" stAng="f93" swAng="f84"/>
                <a:lnTo>
                  <a:pt x="f56" y="f48"/>
                </a:lnTo>
                <a:arcTo wR="f91" hR="f50" stAng="f85" swAng="f86"/>
                <a:close/>
              </a:path>
            </a:pathLst>
          </a:custGeom>
          <a:solidFill>
            <a:srgbClr val="2553D6"/>
          </a:solidFill>
          <a:ln w="0" cap="flat">
            <a:solidFill>
              <a:srgbClr val="2553D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 dirty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1DD4140D-0546-EEEB-B461-866CC900FFFE}"/>
              </a:ext>
            </a:extLst>
          </p:cNvPr>
          <p:cNvSpPr/>
          <p:nvPr/>
        </p:nvSpPr>
        <p:spPr>
          <a:xfrm>
            <a:off x="571500" y="361946"/>
            <a:ext cx="1619246" cy="28575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76196" tIns="76196" rIns="76196" bIns="76196" anchor="ctr" anchorCtr="1" compatLnSpc="1">
            <a:normAutofit/>
          </a:bodyPr>
          <a:lstStyle/>
          <a:p>
            <a:pPr marL="0" marR="0" lvl="0" indent="0" algn="ctr" defTabSz="914400" rtl="0" fontAlgn="auto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000" b="1" i="0" u="none" strike="noStrike" kern="0" cap="none" spc="0" baseline="0">
                <a:solidFill>
                  <a:srgbClr val="FFFFFF"/>
                </a:solidFill>
                <a:uFillTx/>
              </a:defRPr>
            </a:pPr>
            <a:r>
              <a:rPr lang="fr-FR" sz="1000" b="1" i="0" u="none" strike="noStrike" kern="1200" cap="none" spc="0" baseline="0" dirty="0">
                <a:solidFill>
                  <a:srgbClr val="FFFFFF"/>
                </a:solidFill>
                <a:uFillTx/>
                <a:latin typeface="Aptos"/>
              </a:rPr>
              <a:t>BUILD STEP 3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3DE92AC3-88D8-FB90-B4C6-90E949417731}"/>
              </a:ext>
            </a:extLst>
          </p:cNvPr>
          <p:cNvSpPr/>
          <p:nvPr/>
        </p:nvSpPr>
        <p:spPr>
          <a:xfrm>
            <a:off x="571500" y="713990"/>
            <a:ext cx="11048996" cy="47624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t" anchorCtr="0" compatLnSpc="1">
            <a:norm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3000" b="1" i="0" u="none" strike="noStrike" kern="0" cap="none" spc="0" baseline="0">
                <a:solidFill>
                  <a:srgbClr val="0F172A"/>
                </a:solidFill>
                <a:uFillTx/>
              </a:defRPr>
            </a:pPr>
            <a:r>
              <a:rPr lang="en-US" sz="3000" b="1" i="0" u="none" strike="noStrike" kern="1200" cap="none" spc="0" baseline="0">
                <a:solidFill>
                  <a:srgbClr val="0F172A"/>
                </a:solidFill>
                <a:uFillTx/>
                <a:latin typeface="Aptos"/>
              </a:rPr>
              <a:t>Representation of </a:t>
            </a:r>
            <a:r>
              <a:rPr lang="fr-FR" sz="3000" b="1" i="0" u="none" strike="noStrike" kern="1200" cap="none" spc="0" baseline="0">
                <a:solidFill>
                  <a:srgbClr val="0F172A"/>
                </a:solidFill>
                <a:uFillTx/>
                <a:latin typeface="Aptos"/>
              </a:rPr>
              <a:t>Link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3000" b="1" i="0" u="none" strike="noStrike" kern="0" cap="none" spc="0" baseline="0">
                <a:solidFill>
                  <a:srgbClr val="0F172A"/>
                </a:solidFill>
                <a:uFillTx/>
              </a:defRPr>
            </a:pPr>
            <a:endParaRPr lang="en-US" sz="3000" b="1" i="0" u="none" strike="noStrike" kern="1200" cap="none" spc="0" baseline="0">
              <a:solidFill>
                <a:srgbClr val="0F172A"/>
              </a:solidFill>
              <a:uFillTx/>
              <a:latin typeface="Aptos"/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0E43A88C-9A01-CEC3-6377-32D9651710CC}"/>
              </a:ext>
            </a:extLst>
          </p:cNvPr>
          <p:cNvSpPr/>
          <p:nvPr/>
        </p:nvSpPr>
        <p:spPr>
          <a:xfrm>
            <a:off x="571500" y="1554745"/>
            <a:ext cx="11048996" cy="32385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t" anchorCtr="0" compatLnSpc="1">
            <a:norm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350" b="0" i="0" u="none" strike="noStrike" kern="0" cap="none" spc="0" baseline="0">
                <a:solidFill>
                  <a:srgbClr val="475569"/>
                </a:solidFill>
                <a:uFillTx/>
              </a:defRPr>
            </a:pPr>
            <a:endParaRPr lang="fr-FR" sz="1350" b="0" i="0" u="none" strike="noStrike" kern="1200" cap="none" spc="0" baseline="0">
              <a:solidFill>
                <a:srgbClr val="475569"/>
              </a:solidFill>
              <a:uFillTx/>
              <a:latin typeface="Aptos"/>
            </a:endParaRPr>
          </a:p>
        </p:txBody>
      </p:sp>
      <p:sp>
        <p:nvSpPr>
          <p:cNvPr id="6" name="Rectangle : coins arrondis 10">
            <a:extLst>
              <a:ext uri="{FF2B5EF4-FFF2-40B4-BE49-F238E27FC236}">
                <a16:creationId xmlns:a16="http://schemas.microsoft.com/office/drawing/2014/main" id="{77351BC7-4905-CEA3-60E7-9D8CB3DEA992}"/>
              </a:ext>
            </a:extLst>
          </p:cNvPr>
          <p:cNvSpPr/>
          <p:nvPr/>
        </p:nvSpPr>
        <p:spPr>
          <a:xfrm>
            <a:off x="914400" y="1643524"/>
            <a:ext cx="10515600" cy="695702"/>
          </a:xfrm>
          <a:custGeom>
            <a:avLst/>
            <a:gdLst>
              <a:gd name="f0" fmla="val 10800000"/>
              <a:gd name="f1" fmla="val 5400000"/>
              <a:gd name="f2" fmla="val 16200000"/>
              <a:gd name="f3" fmla="val w"/>
              <a:gd name="f4" fmla="val h"/>
              <a:gd name="f5" fmla="val ss"/>
              <a:gd name="f6" fmla="val 0"/>
              <a:gd name="f7" fmla="*/ 5419351 1 1725033"/>
              <a:gd name="f8" fmla="val 45"/>
              <a:gd name="f9" fmla="val 2979"/>
              <a:gd name="f10" fmla="abs f3"/>
              <a:gd name="f11" fmla="abs f4"/>
              <a:gd name="f12" fmla="abs f5"/>
              <a:gd name="f13" fmla="*/ f7 1 180"/>
              <a:gd name="f14" fmla="+- 0 0 f1"/>
              <a:gd name="f15" fmla="+- f6 f9 0"/>
              <a:gd name="f16" fmla="?: f10 f3 1"/>
              <a:gd name="f17" fmla="?: f11 f4 1"/>
              <a:gd name="f18" fmla="?: f12 f5 1"/>
              <a:gd name="f19" fmla="*/ f8 f13 1"/>
              <a:gd name="f20" fmla="+- f6 0 f15"/>
              <a:gd name="f21" fmla="+- f15 0 f6"/>
              <a:gd name="f22" fmla="*/ f16 1 21600"/>
              <a:gd name="f23" fmla="*/ f17 1 21600"/>
              <a:gd name="f24" fmla="*/ 21600 f16 1"/>
              <a:gd name="f25" fmla="*/ 21600 f17 1"/>
              <a:gd name="f26" fmla="+- 0 0 f19"/>
              <a:gd name="f27" fmla="abs f20"/>
              <a:gd name="f28" fmla="abs f21"/>
              <a:gd name="f29" fmla="?: f20 f14 f1"/>
              <a:gd name="f30" fmla="?: f20 f1 f14"/>
              <a:gd name="f31" fmla="?: f20 f2 f1"/>
              <a:gd name="f32" fmla="?: f20 f1 f2"/>
              <a:gd name="f33" fmla="?: f21 f14 f1"/>
              <a:gd name="f34" fmla="?: f21 f1 f14"/>
              <a:gd name="f35" fmla="?: f20 0 f0"/>
              <a:gd name="f36" fmla="?: f20 f0 0"/>
              <a:gd name="f37" fmla="min f23 f22"/>
              <a:gd name="f38" fmla="*/ f24 1 f18"/>
              <a:gd name="f39" fmla="*/ f25 1 f18"/>
              <a:gd name="f40" fmla="*/ f26 f0 1"/>
              <a:gd name="f41" fmla="?: f20 f32 f31"/>
              <a:gd name="f42" fmla="?: f20 f31 f32"/>
              <a:gd name="f43" fmla="?: f21 f30 f29"/>
              <a:gd name="f44" fmla="val f38"/>
              <a:gd name="f45" fmla="val f39"/>
              <a:gd name="f46" fmla="*/ f40 1 f7"/>
              <a:gd name="f47" fmla="?: f21 f42 f41"/>
              <a:gd name="f48" fmla="*/ f15 f37 1"/>
              <a:gd name="f49" fmla="*/ f6 f37 1"/>
              <a:gd name="f50" fmla="*/ f27 f37 1"/>
              <a:gd name="f51" fmla="*/ f28 f37 1"/>
              <a:gd name="f52" fmla="+- f45 0 f9"/>
              <a:gd name="f53" fmla="+- f44 0 f9"/>
              <a:gd name="f54" fmla="+- f46 0 f1"/>
              <a:gd name="f55" fmla="*/ f45 f37 1"/>
              <a:gd name="f56" fmla="*/ f44 f37 1"/>
              <a:gd name="f57" fmla="+- f45 0 f52"/>
              <a:gd name="f58" fmla="+- f44 0 f53"/>
              <a:gd name="f59" fmla="+- f52 0 f45"/>
              <a:gd name="f60" fmla="+- f53 0 f44"/>
              <a:gd name="f61" fmla="+- f54 f1 0"/>
              <a:gd name="f62" fmla="*/ f52 f37 1"/>
              <a:gd name="f63" fmla="*/ f53 f37 1"/>
              <a:gd name="f64" fmla="abs f57"/>
              <a:gd name="f65" fmla="?: f57 0 f0"/>
              <a:gd name="f66" fmla="?: f57 f0 0"/>
              <a:gd name="f67" fmla="?: f57 f33 f34"/>
              <a:gd name="f68" fmla="abs f58"/>
              <a:gd name="f69" fmla="abs f59"/>
              <a:gd name="f70" fmla="?: f58 f14 f1"/>
              <a:gd name="f71" fmla="?: f58 f1 f14"/>
              <a:gd name="f72" fmla="?: f58 f2 f1"/>
              <a:gd name="f73" fmla="?: f58 f1 f2"/>
              <a:gd name="f74" fmla="abs f60"/>
              <a:gd name="f75" fmla="?: f60 f14 f1"/>
              <a:gd name="f76" fmla="?: f60 f1 f14"/>
              <a:gd name="f77" fmla="?: f60 f36 f35"/>
              <a:gd name="f78" fmla="?: f60 f35 f36"/>
              <a:gd name="f79" fmla="*/ f61 f7 1"/>
              <a:gd name="f80" fmla="?: f21 f66 f65"/>
              <a:gd name="f81" fmla="?: f21 f65 f66"/>
              <a:gd name="f82" fmla="?: f58 f73 f72"/>
              <a:gd name="f83" fmla="?: f58 f72 f73"/>
              <a:gd name="f84" fmla="?: f59 f71 f70"/>
              <a:gd name="f85" fmla="?: f20 f77 f78"/>
              <a:gd name="f86" fmla="?: f20 f75 f76"/>
              <a:gd name="f87" fmla="*/ f79 1 f0"/>
              <a:gd name="f88" fmla="*/ f64 f37 1"/>
              <a:gd name="f89" fmla="*/ f68 f37 1"/>
              <a:gd name="f90" fmla="*/ f69 f37 1"/>
              <a:gd name="f91" fmla="*/ f74 f37 1"/>
              <a:gd name="f92" fmla="?: f57 f80 f81"/>
              <a:gd name="f93" fmla="?: f59 f83 f82"/>
              <a:gd name="f94" fmla="+- 0 0 f87"/>
              <a:gd name="f95" fmla="+- 0 0 f94"/>
              <a:gd name="f96" fmla="*/ f95 f0 1"/>
              <a:gd name="f97" fmla="*/ f96 1 f7"/>
              <a:gd name="f98" fmla="+- f97 0 f1"/>
              <a:gd name="f99" fmla="cos 1 f98"/>
              <a:gd name="f100" fmla="+- 0 0 f99"/>
              <a:gd name="f101" fmla="+- 0 0 f100"/>
              <a:gd name="f102" fmla="val f101"/>
              <a:gd name="f103" fmla="+- 0 0 f102"/>
              <a:gd name="f104" fmla="*/ f9 f103 1"/>
              <a:gd name="f105" fmla="*/ f104 3163 1"/>
              <a:gd name="f106" fmla="*/ f105 1 7636"/>
              <a:gd name="f107" fmla="+- f6 f106 0"/>
              <a:gd name="f108" fmla="+- f44 0 f106"/>
              <a:gd name="f109" fmla="+- f45 0 f106"/>
              <a:gd name="f110" fmla="*/ f107 f37 1"/>
              <a:gd name="f111" fmla="*/ f108 f37 1"/>
              <a:gd name="f112" fmla="*/ f109 f3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10" t="f110" r="f111" b="f112"/>
            <a:pathLst>
              <a:path>
                <a:moveTo>
                  <a:pt x="f48" y="f49"/>
                </a:moveTo>
                <a:arcTo wR="f50" hR="f51" stAng="f47" swAng="f43"/>
                <a:lnTo>
                  <a:pt x="f49" y="f62"/>
                </a:lnTo>
                <a:arcTo wR="f51" hR="f88" stAng="f92" swAng="f67"/>
                <a:lnTo>
                  <a:pt x="f63" y="f55"/>
                </a:lnTo>
                <a:arcTo wR="f89" hR="f90" stAng="f93" swAng="f84"/>
                <a:lnTo>
                  <a:pt x="f56" y="f48"/>
                </a:lnTo>
                <a:arcTo wR="f91" hR="f50" stAng="f85" swAng="f86"/>
                <a:close/>
              </a:path>
            </a:pathLst>
          </a:custGeom>
          <a:solidFill>
            <a:srgbClr val="FFFFFF"/>
          </a:solidFill>
          <a:ln w="9528" cap="flat">
            <a:solidFill>
              <a:srgbClr val="E2E8F0"/>
            </a:solidFill>
            <a:prstDash val="solid"/>
            <a:miter/>
          </a:ln>
          <a:effectLst>
            <a:outerShdw dist="19046" dir="5400000" algn="tl">
              <a:srgbClr val="000000">
                <a:alpha val="63000"/>
              </a:srgbClr>
            </a:outerShdw>
          </a:effectLst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000000"/>
              </a:solidFill>
              <a:uFillTx/>
              <a:latin typeface="Aptos Display"/>
            </a:endParaRPr>
          </a:p>
        </p:txBody>
      </p:sp>
      <p:sp>
        <p:nvSpPr>
          <p:cNvPr id="7" name="Rectangle 13">
            <a:extLst>
              <a:ext uri="{FF2B5EF4-FFF2-40B4-BE49-F238E27FC236}">
                <a16:creationId xmlns:a16="http://schemas.microsoft.com/office/drawing/2014/main" id="{E5231685-942B-03AE-D2C4-51EF5BB7476D}"/>
              </a:ext>
            </a:extLst>
          </p:cNvPr>
          <p:cNvSpPr/>
          <p:nvPr/>
        </p:nvSpPr>
        <p:spPr>
          <a:xfrm>
            <a:off x="1143000" y="1802401"/>
            <a:ext cx="10134596" cy="69570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t" anchorCtr="0" compatLnSpc="1">
            <a:norm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 b="0" i="0" u="none" strike="noStrike" kern="0" cap="none" spc="0" baseline="0">
                <a:solidFill>
                  <a:srgbClr val="334155"/>
                </a:solidFill>
                <a:uFillTx/>
              </a:defRPr>
            </a:pPr>
            <a:r>
              <a:rPr lang="fr-FR" sz="1200" b="0" i="0" u="none" strike="noStrike" kern="0" cap="none" spc="0" baseline="0">
                <a:solidFill>
                  <a:srgbClr val="334155"/>
                </a:solidFill>
                <a:uFillTx/>
                <a:latin typeface="Aptos"/>
              </a:rPr>
              <a:t>Due to the fact that data can come from different documents, a value can be connected to different paths.</a:t>
            </a:r>
            <a:endParaRPr lang="en-US" sz="1200" b="0" i="0" u="none" strike="noStrike" kern="1200" cap="none" spc="0" baseline="0">
              <a:solidFill>
                <a:srgbClr val="334155"/>
              </a:solidFill>
              <a:uFillTx/>
              <a:latin typeface="Aptos"/>
            </a:endParaRPr>
          </a:p>
        </p:txBody>
      </p:sp>
      <p:sp>
        <p:nvSpPr>
          <p:cNvPr id="8" name="Rectangle 18">
            <a:extLst>
              <a:ext uri="{FF2B5EF4-FFF2-40B4-BE49-F238E27FC236}">
                <a16:creationId xmlns:a16="http://schemas.microsoft.com/office/drawing/2014/main" id="{04A561D8-D4A5-8A70-7FCA-84896DE3A8D2}"/>
              </a:ext>
            </a:extLst>
          </p:cNvPr>
          <p:cNvSpPr/>
          <p:nvPr/>
        </p:nvSpPr>
        <p:spPr>
          <a:xfrm>
            <a:off x="571500" y="6534146"/>
            <a:ext cx="3047996" cy="19049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t" anchorCtr="0" compatLnSpc="1">
            <a:norm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825" b="0" i="0" u="none" strike="noStrike" kern="0" cap="none" spc="0" baseline="0">
                <a:solidFill>
                  <a:srgbClr val="64748B"/>
                </a:solidFill>
                <a:uFillTx/>
              </a:defRPr>
            </a:pPr>
            <a:r>
              <a:rPr lang="en-US" sz="825" b="0" i="0" u="none" strike="noStrike" kern="1200" cap="none" spc="0" baseline="0">
                <a:solidFill>
                  <a:srgbClr val="64748B"/>
                </a:solidFill>
                <a:uFillTx/>
                <a:latin typeface="Aptos"/>
              </a:rPr>
              <a:t>Data Hub guide - new vessel workflow</a:t>
            </a:r>
          </a:p>
        </p:txBody>
      </p:sp>
      <p:sp>
        <p:nvSpPr>
          <p:cNvPr id="9" name="Rectangle 19">
            <a:extLst>
              <a:ext uri="{FF2B5EF4-FFF2-40B4-BE49-F238E27FC236}">
                <a16:creationId xmlns:a16="http://schemas.microsoft.com/office/drawing/2014/main" id="{38F8AB01-C8D8-0178-DC2B-2F1C1F8679D8}"/>
              </a:ext>
            </a:extLst>
          </p:cNvPr>
          <p:cNvSpPr/>
          <p:nvPr/>
        </p:nvSpPr>
        <p:spPr>
          <a:xfrm>
            <a:off x="11144250" y="6496053"/>
            <a:ext cx="381003" cy="22860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t" anchorCtr="0" compatLnSpc="1">
            <a:norm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900" b="1" i="0" u="none" strike="noStrike" kern="0" cap="none" spc="0" baseline="0">
                <a:solidFill>
                  <a:srgbClr val="64748B"/>
                </a:solidFill>
                <a:uFillTx/>
              </a:defRPr>
            </a:pPr>
            <a:r>
              <a:rPr lang="fr-FR" sz="900" b="1" dirty="0">
                <a:solidFill>
                  <a:srgbClr val="64748B"/>
                </a:solidFill>
                <a:latin typeface="Aptos"/>
              </a:rPr>
              <a:t>8</a:t>
            </a:r>
            <a:endParaRPr lang="fr-FR" sz="900" b="1" i="0" u="none" strike="noStrike" kern="1200" cap="none" spc="0" baseline="0" dirty="0">
              <a:solidFill>
                <a:srgbClr val="64748B"/>
              </a:solidFill>
              <a:uFillTx/>
              <a:latin typeface="Aptos"/>
            </a:endParaRPr>
          </a:p>
        </p:txBody>
      </p:sp>
      <p:sp>
        <p:nvSpPr>
          <p:cNvPr id="10" name="Rectangle : coins arrondis 32">
            <a:extLst>
              <a:ext uri="{FF2B5EF4-FFF2-40B4-BE49-F238E27FC236}">
                <a16:creationId xmlns:a16="http://schemas.microsoft.com/office/drawing/2014/main" id="{F87027A0-D490-2E55-E493-7BBDA3D47BC8}"/>
              </a:ext>
            </a:extLst>
          </p:cNvPr>
          <p:cNvSpPr/>
          <p:nvPr/>
        </p:nvSpPr>
        <p:spPr>
          <a:xfrm>
            <a:off x="1034415" y="2736908"/>
            <a:ext cx="4555485" cy="2470215"/>
          </a:xfrm>
          <a:custGeom>
            <a:avLst/>
            <a:gdLst>
              <a:gd name="f0" fmla="val 10800000"/>
              <a:gd name="f1" fmla="val 5400000"/>
              <a:gd name="f2" fmla="val 16200000"/>
              <a:gd name="f3" fmla="val w"/>
              <a:gd name="f4" fmla="val h"/>
              <a:gd name="f5" fmla="val ss"/>
              <a:gd name="f6" fmla="val 0"/>
              <a:gd name="f7" fmla="*/ 5419351 1 1725033"/>
              <a:gd name="f8" fmla="val 45"/>
              <a:gd name="f9" fmla="val 2979"/>
              <a:gd name="f10" fmla="abs f3"/>
              <a:gd name="f11" fmla="abs f4"/>
              <a:gd name="f12" fmla="abs f5"/>
              <a:gd name="f13" fmla="*/ f7 1 180"/>
              <a:gd name="f14" fmla="+- 0 0 f1"/>
              <a:gd name="f15" fmla="+- f6 f9 0"/>
              <a:gd name="f16" fmla="?: f10 f3 1"/>
              <a:gd name="f17" fmla="?: f11 f4 1"/>
              <a:gd name="f18" fmla="?: f12 f5 1"/>
              <a:gd name="f19" fmla="*/ f8 f13 1"/>
              <a:gd name="f20" fmla="+- f6 0 f15"/>
              <a:gd name="f21" fmla="+- f15 0 f6"/>
              <a:gd name="f22" fmla="*/ f16 1 21600"/>
              <a:gd name="f23" fmla="*/ f17 1 21600"/>
              <a:gd name="f24" fmla="*/ 21600 f16 1"/>
              <a:gd name="f25" fmla="*/ 21600 f17 1"/>
              <a:gd name="f26" fmla="+- 0 0 f19"/>
              <a:gd name="f27" fmla="abs f20"/>
              <a:gd name="f28" fmla="abs f21"/>
              <a:gd name="f29" fmla="?: f20 f14 f1"/>
              <a:gd name="f30" fmla="?: f20 f1 f14"/>
              <a:gd name="f31" fmla="?: f20 f2 f1"/>
              <a:gd name="f32" fmla="?: f20 f1 f2"/>
              <a:gd name="f33" fmla="?: f21 f14 f1"/>
              <a:gd name="f34" fmla="?: f21 f1 f14"/>
              <a:gd name="f35" fmla="?: f20 0 f0"/>
              <a:gd name="f36" fmla="?: f20 f0 0"/>
              <a:gd name="f37" fmla="min f23 f22"/>
              <a:gd name="f38" fmla="*/ f24 1 f18"/>
              <a:gd name="f39" fmla="*/ f25 1 f18"/>
              <a:gd name="f40" fmla="*/ f26 f0 1"/>
              <a:gd name="f41" fmla="?: f20 f32 f31"/>
              <a:gd name="f42" fmla="?: f20 f31 f32"/>
              <a:gd name="f43" fmla="?: f21 f30 f29"/>
              <a:gd name="f44" fmla="val f38"/>
              <a:gd name="f45" fmla="val f39"/>
              <a:gd name="f46" fmla="*/ f40 1 f7"/>
              <a:gd name="f47" fmla="?: f21 f42 f41"/>
              <a:gd name="f48" fmla="*/ f15 f37 1"/>
              <a:gd name="f49" fmla="*/ f6 f37 1"/>
              <a:gd name="f50" fmla="*/ f27 f37 1"/>
              <a:gd name="f51" fmla="*/ f28 f37 1"/>
              <a:gd name="f52" fmla="+- f45 0 f9"/>
              <a:gd name="f53" fmla="+- f44 0 f9"/>
              <a:gd name="f54" fmla="+- f46 0 f1"/>
              <a:gd name="f55" fmla="*/ f45 f37 1"/>
              <a:gd name="f56" fmla="*/ f44 f37 1"/>
              <a:gd name="f57" fmla="+- f45 0 f52"/>
              <a:gd name="f58" fmla="+- f44 0 f53"/>
              <a:gd name="f59" fmla="+- f52 0 f45"/>
              <a:gd name="f60" fmla="+- f53 0 f44"/>
              <a:gd name="f61" fmla="+- f54 f1 0"/>
              <a:gd name="f62" fmla="*/ f52 f37 1"/>
              <a:gd name="f63" fmla="*/ f53 f37 1"/>
              <a:gd name="f64" fmla="abs f57"/>
              <a:gd name="f65" fmla="?: f57 0 f0"/>
              <a:gd name="f66" fmla="?: f57 f0 0"/>
              <a:gd name="f67" fmla="?: f57 f33 f34"/>
              <a:gd name="f68" fmla="abs f58"/>
              <a:gd name="f69" fmla="abs f59"/>
              <a:gd name="f70" fmla="?: f58 f14 f1"/>
              <a:gd name="f71" fmla="?: f58 f1 f14"/>
              <a:gd name="f72" fmla="?: f58 f2 f1"/>
              <a:gd name="f73" fmla="?: f58 f1 f2"/>
              <a:gd name="f74" fmla="abs f60"/>
              <a:gd name="f75" fmla="?: f60 f14 f1"/>
              <a:gd name="f76" fmla="?: f60 f1 f14"/>
              <a:gd name="f77" fmla="?: f60 f36 f35"/>
              <a:gd name="f78" fmla="?: f60 f35 f36"/>
              <a:gd name="f79" fmla="*/ f61 f7 1"/>
              <a:gd name="f80" fmla="?: f21 f66 f65"/>
              <a:gd name="f81" fmla="?: f21 f65 f66"/>
              <a:gd name="f82" fmla="?: f58 f73 f72"/>
              <a:gd name="f83" fmla="?: f58 f72 f73"/>
              <a:gd name="f84" fmla="?: f59 f71 f70"/>
              <a:gd name="f85" fmla="?: f20 f77 f78"/>
              <a:gd name="f86" fmla="?: f20 f75 f76"/>
              <a:gd name="f87" fmla="*/ f79 1 f0"/>
              <a:gd name="f88" fmla="*/ f64 f37 1"/>
              <a:gd name="f89" fmla="*/ f68 f37 1"/>
              <a:gd name="f90" fmla="*/ f69 f37 1"/>
              <a:gd name="f91" fmla="*/ f74 f37 1"/>
              <a:gd name="f92" fmla="?: f57 f80 f81"/>
              <a:gd name="f93" fmla="?: f59 f83 f82"/>
              <a:gd name="f94" fmla="+- 0 0 f87"/>
              <a:gd name="f95" fmla="+- 0 0 f94"/>
              <a:gd name="f96" fmla="*/ f95 f0 1"/>
              <a:gd name="f97" fmla="*/ f96 1 f7"/>
              <a:gd name="f98" fmla="+- f97 0 f1"/>
              <a:gd name="f99" fmla="cos 1 f98"/>
              <a:gd name="f100" fmla="+- 0 0 f99"/>
              <a:gd name="f101" fmla="+- 0 0 f100"/>
              <a:gd name="f102" fmla="val f101"/>
              <a:gd name="f103" fmla="+- 0 0 f102"/>
              <a:gd name="f104" fmla="*/ f9 f103 1"/>
              <a:gd name="f105" fmla="*/ f104 3163 1"/>
              <a:gd name="f106" fmla="*/ f105 1 7636"/>
              <a:gd name="f107" fmla="+- f6 f106 0"/>
              <a:gd name="f108" fmla="+- f44 0 f106"/>
              <a:gd name="f109" fmla="+- f45 0 f106"/>
              <a:gd name="f110" fmla="*/ f107 f37 1"/>
              <a:gd name="f111" fmla="*/ f108 f37 1"/>
              <a:gd name="f112" fmla="*/ f109 f3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10" t="f110" r="f111" b="f112"/>
            <a:pathLst>
              <a:path>
                <a:moveTo>
                  <a:pt x="f48" y="f49"/>
                </a:moveTo>
                <a:arcTo wR="f50" hR="f51" stAng="f47" swAng="f43"/>
                <a:lnTo>
                  <a:pt x="f49" y="f62"/>
                </a:lnTo>
                <a:arcTo wR="f51" hR="f88" stAng="f92" swAng="f67"/>
                <a:lnTo>
                  <a:pt x="f63" y="f55"/>
                </a:lnTo>
                <a:arcTo wR="f89" hR="f90" stAng="f93" swAng="f84"/>
                <a:lnTo>
                  <a:pt x="f56" y="f48"/>
                </a:lnTo>
                <a:arcTo wR="f91" hR="f50" stAng="f85" swAng="f86"/>
                <a:close/>
              </a:path>
            </a:pathLst>
          </a:custGeom>
          <a:solidFill>
            <a:srgbClr val="FFFFFF"/>
          </a:solidFill>
          <a:ln w="9528" cap="flat">
            <a:solidFill>
              <a:srgbClr val="E2E8F0"/>
            </a:solidFill>
            <a:prstDash val="solid"/>
            <a:miter/>
          </a:ln>
          <a:effectLst>
            <a:outerShdw dist="19046" dir="5400000" algn="tl">
              <a:srgbClr val="000000">
                <a:alpha val="63000"/>
              </a:srgbClr>
            </a:outerShdw>
          </a:effectLst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000000"/>
              </a:solidFill>
              <a:uFillTx/>
              <a:latin typeface="Aptos Display"/>
            </a:endParaRPr>
          </a:p>
        </p:txBody>
      </p:sp>
      <p:sp>
        <p:nvSpPr>
          <p:cNvPr id="11" name="Rectangle 36">
            <a:extLst>
              <a:ext uri="{FF2B5EF4-FFF2-40B4-BE49-F238E27FC236}">
                <a16:creationId xmlns:a16="http://schemas.microsoft.com/office/drawing/2014/main" id="{8A3ECE60-FED4-EC18-F817-1BB681C964E3}"/>
              </a:ext>
            </a:extLst>
          </p:cNvPr>
          <p:cNvSpPr/>
          <p:nvPr/>
        </p:nvSpPr>
        <p:spPr>
          <a:xfrm>
            <a:off x="1200150" y="3000375"/>
            <a:ext cx="4295174" cy="358140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t" anchorCtr="0" compatLnSpc="1">
            <a:norm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 b="0" i="0" u="none" strike="noStrike" kern="0" cap="none" spc="0" baseline="0">
                <a:solidFill>
                  <a:srgbClr val="334155"/>
                </a:solidFill>
                <a:uFillTx/>
              </a:defRPr>
            </a:pPr>
            <a:r>
              <a:rPr lang="en-US" sz="1200" b="0" i="0" u="none" strike="noStrike" kern="1200" cap="none" spc="0" baseline="0">
                <a:solidFill>
                  <a:srgbClr val="334155"/>
                </a:solidFill>
                <a:uFillTx/>
                <a:latin typeface="Aptos"/>
              </a:rPr>
              <a:t>Case 1 : Only one path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 b="0" i="0" u="none" strike="noStrike" kern="0" cap="none" spc="0" baseline="0">
                <a:solidFill>
                  <a:srgbClr val="334155"/>
                </a:solidFill>
                <a:uFillTx/>
              </a:defRPr>
            </a:pPr>
            <a:endParaRPr lang="en-US" sz="1200" b="0" i="0" u="none" strike="noStrike" kern="1200" cap="none" spc="0" baseline="0">
              <a:solidFill>
                <a:srgbClr val="334155"/>
              </a:solidFill>
              <a:uFillTx/>
              <a:latin typeface="Aptos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 b="0" i="0" u="none" strike="noStrike" kern="0" cap="none" spc="0" baseline="0">
                <a:solidFill>
                  <a:srgbClr val="334155"/>
                </a:solidFill>
                <a:uFillTx/>
              </a:defRPr>
            </a:pPr>
            <a:endParaRPr lang="en-US" sz="1200" b="0" i="0" u="none" strike="noStrike" kern="1200" cap="none" spc="0" baseline="0">
              <a:solidFill>
                <a:srgbClr val="334155"/>
              </a:solidFill>
              <a:uFillTx/>
              <a:latin typeface="Aptos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 b="0" i="0" u="none" strike="noStrike" kern="0" cap="none" spc="0" baseline="0">
                <a:solidFill>
                  <a:srgbClr val="334155"/>
                </a:solidFill>
                <a:uFillTx/>
              </a:defRPr>
            </a:pPr>
            <a:endParaRPr lang="en-US" sz="1200" b="0" i="0" u="none" strike="noStrike" kern="1200" cap="none" spc="0" baseline="0">
              <a:solidFill>
                <a:srgbClr val="334155"/>
              </a:solidFill>
              <a:uFillTx/>
              <a:latin typeface="Aptos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 b="0" i="0" u="none" strike="noStrike" kern="0" cap="none" spc="0" baseline="0">
                <a:solidFill>
                  <a:srgbClr val="334155"/>
                </a:solidFill>
                <a:uFillTx/>
              </a:defRPr>
            </a:pPr>
            <a:endParaRPr lang="en-US" sz="1200" b="0" i="0" u="none" strike="noStrike" kern="1200" cap="none" spc="0" baseline="0">
              <a:solidFill>
                <a:srgbClr val="334155"/>
              </a:solidFill>
              <a:uFillTx/>
              <a:latin typeface="Aptos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 b="0" i="0" u="none" strike="noStrike" kern="0" cap="none" spc="0" baseline="0">
                <a:solidFill>
                  <a:srgbClr val="334155"/>
                </a:solidFill>
                <a:uFillTx/>
              </a:defRPr>
            </a:pPr>
            <a:endParaRPr lang="en-US" sz="1200" b="0" i="0" u="none" strike="noStrike" kern="1200" cap="none" spc="0" baseline="0">
              <a:solidFill>
                <a:srgbClr val="334155"/>
              </a:solidFill>
              <a:uFillTx/>
              <a:latin typeface="Aptos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 b="0" i="0" u="none" strike="noStrike" kern="0" cap="none" spc="0" baseline="0">
                <a:solidFill>
                  <a:srgbClr val="334155"/>
                </a:solidFill>
                <a:uFillTx/>
              </a:defRPr>
            </a:pPr>
            <a:endParaRPr lang="en-US" sz="1200" b="0" i="0" u="none" strike="noStrike" kern="1200" cap="none" spc="0" baseline="0">
              <a:solidFill>
                <a:srgbClr val="334155"/>
              </a:solidFill>
              <a:uFillTx/>
              <a:latin typeface="Aptos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 b="0" i="0" u="none" strike="noStrike" kern="0" cap="none" spc="0" baseline="0">
                <a:solidFill>
                  <a:srgbClr val="334155"/>
                </a:solidFill>
                <a:uFillTx/>
              </a:defRPr>
            </a:pPr>
            <a:endParaRPr lang="en-US" sz="1200" b="0" i="0" u="none" strike="noStrike" kern="1200" cap="none" spc="0" baseline="0">
              <a:solidFill>
                <a:srgbClr val="334155"/>
              </a:solidFill>
              <a:uFillTx/>
              <a:latin typeface="Aptos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 b="0" i="0" u="none" strike="noStrike" kern="0" cap="none" spc="0" baseline="0">
                <a:solidFill>
                  <a:srgbClr val="334155"/>
                </a:solidFill>
                <a:uFillTx/>
              </a:defRPr>
            </a:pPr>
            <a:endParaRPr lang="en-US" sz="1200" b="0" i="0" u="none" strike="noStrike" kern="1200" cap="none" spc="0" baseline="0">
              <a:solidFill>
                <a:srgbClr val="334155"/>
              </a:solidFill>
              <a:uFillTx/>
              <a:latin typeface="Aptos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 b="0" i="0" u="none" strike="noStrike" kern="0" cap="none" spc="0" baseline="0">
                <a:solidFill>
                  <a:srgbClr val="334155"/>
                </a:solidFill>
                <a:uFillTx/>
              </a:defRPr>
            </a:pPr>
            <a:r>
              <a:rPr lang="fr-FR" sz="1200" b="0" i="0" u="none" strike="noStrike" kern="0" cap="none" spc="0" baseline="0">
                <a:solidFill>
                  <a:srgbClr val="334155"/>
                </a:solidFill>
                <a:uFillTx/>
                <a:latin typeface="Aptos"/>
              </a:rPr>
              <a:t>We can write it this way and move to the next key, “DNV_path”.</a:t>
            </a:r>
            <a:endParaRPr lang="en-US" sz="1200" b="0" i="0" u="none" strike="noStrike" kern="1200" cap="none" spc="0" baseline="0">
              <a:solidFill>
                <a:srgbClr val="334155"/>
              </a:solidFill>
              <a:uFillTx/>
              <a:latin typeface="Aptos"/>
            </a:endParaRPr>
          </a:p>
        </p:txBody>
      </p:sp>
      <p:sp>
        <p:nvSpPr>
          <p:cNvPr id="12" name="Rectangle : coins arrondis 64">
            <a:extLst>
              <a:ext uri="{FF2B5EF4-FFF2-40B4-BE49-F238E27FC236}">
                <a16:creationId xmlns:a16="http://schemas.microsoft.com/office/drawing/2014/main" id="{B6705413-68A7-547A-CA71-69ED3F0E8847}"/>
              </a:ext>
            </a:extLst>
          </p:cNvPr>
          <p:cNvSpPr/>
          <p:nvPr/>
        </p:nvSpPr>
        <p:spPr>
          <a:xfrm>
            <a:off x="1089022" y="3431130"/>
            <a:ext cx="4453292" cy="807223"/>
          </a:xfrm>
          <a:custGeom>
            <a:avLst/>
            <a:gdLst>
              <a:gd name="f0" fmla="val 10800000"/>
              <a:gd name="f1" fmla="val 5400000"/>
              <a:gd name="f2" fmla="val 16200000"/>
              <a:gd name="f3" fmla="val w"/>
              <a:gd name="f4" fmla="val h"/>
              <a:gd name="f5" fmla="val ss"/>
              <a:gd name="f6" fmla="val 0"/>
              <a:gd name="f7" fmla="*/ 5419351 1 1725033"/>
              <a:gd name="f8" fmla="val 45"/>
              <a:gd name="f9" fmla="val 868"/>
              <a:gd name="f10" fmla="abs f3"/>
              <a:gd name="f11" fmla="abs f4"/>
              <a:gd name="f12" fmla="abs f5"/>
              <a:gd name="f13" fmla="*/ f7 1 180"/>
              <a:gd name="f14" fmla="+- 0 0 f1"/>
              <a:gd name="f15" fmla="+- f6 f9 0"/>
              <a:gd name="f16" fmla="?: f10 f3 1"/>
              <a:gd name="f17" fmla="?: f11 f4 1"/>
              <a:gd name="f18" fmla="?: f12 f5 1"/>
              <a:gd name="f19" fmla="*/ f8 f13 1"/>
              <a:gd name="f20" fmla="+- f6 0 f15"/>
              <a:gd name="f21" fmla="+- f15 0 f6"/>
              <a:gd name="f22" fmla="*/ f16 1 21600"/>
              <a:gd name="f23" fmla="*/ f17 1 21600"/>
              <a:gd name="f24" fmla="*/ 21600 f16 1"/>
              <a:gd name="f25" fmla="*/ 21600 f17 1"/>
              <a:gd name="f26" fmla="+- 0 0 f19"/>
              <a:gd name="f27" fmla="abs f20"/>
              <a:gd name="f28" fmla="abs f21"/>
              <a:gd name="f29" fmla="?: f20 f14 f1"/>
              <a:gd name="f30" fmla="?: f20 f1 f14"/>
              <a:gd name="f31" fmla="?: f20 f2 f1"/>
              <a:gd name="f32" fmla="?: f20 f1 f2"/>
              <a:gd name="f33" fmla="?: f21 f14 f1"/>
              <a:gd name="f34" fmla="?: f21 f1 f14"/>
              <a:gd name="f35" fmla="?: f20 0 f0"/>
              <a:gd name="f36" fmla="?: f20 f0 0"/>
              <a:gd name="f37" fmla="min f23 f22"/>
              <a:gd name="f38" fmla="*/ f24 1 f18"/>
              <a:gd name="f39" fmla="*/ f25 1 f18"/>
              <a:gd name="f40" fmla="*/ f26 f0 1"/>
              <a:gd name="f41" fmla="?: f20 f32 f31"/>
              <a:gd name="f42" fmla="?: f20 f31 f32"/>
              <a:gd name="f43" fmla="?: f21 f30 f29"/>
              <a:gd name="f44" fmla="val f38"/>
              <a:gd name="f45" fmla="val f39"/>
              <a:gd name="f46" fmla="*/ f40 1 f7"/>
              <a:gd name="f47" fmla="?: f21 f42 f41"/>
              <a:gd name="f48" fmla="*/ f15 f37 1"/>
              <a:gd name="f49" fmla="*/ f6 f37 1"/>
              <a:gd name="f50" fmla="*/ f27 f37 1"/>
              <a:gd name="f51" fmla="*/ f28 f37 1"/>
              <a:gd name="f52" fmla="+- f45 0 f9"/>
              <a:gd name="f53" fmla="+- f44 0 f9"/>
              <a:gd name="f54" fmla="+- f46 0 f1"/>
              <a:gd name="f55" fmla="*/ f45 f37 1"/>
              <a:gd name="f56" fmla="*/ f44 f37 1"/>
              <a:gd name="f57" fmla="+- f45 0 f52"/>
              <a:gd name="f58" fmla="+- f44 0 f53"/>
              <a:gd name="f59" fmla="+- f52 0 f45"/>
              <a:gd name="f60" fmla="+- f53 0 f44"/>
              <a:gd name="f61" fmla="+- f54 f1 0"/>
              <a:gd name="f62" fmla="*/ f52 f37 1"/>
              <a:gd name="f63" fmla="*/ f53 f37 1"/>
              <a:gd name="f64" fmla="abs f57"/>
              <a:gd name="f65" fmla="?: f57 0 f0"/>
              <a:gd name="f66" fmla="?: f57 f0 0"/>
              <a:gd name="f67" fmla="?: f57 f33 f34"/>
              <a:gd name="f68" fmla="abs f58"/>
              <a:gd name="f69" fmla="abs f59"/>
              <a:gd name="f70" fmla="?: f58 f14 f1"/>
              <a:gd name="f71" fmla="?: f58 f1 f14"/>
              <a:gd name="f72" fmla="?: f58 f2 f1"/>
              <a:gd name="f73" fmla="?: f58 f1 f2"/>
              <a:gd name="f74" fmla="abs f60"/>
              <a:gd name="f75" fmla="?: f60 f14 f1"/>
              <a:gd name="f76" fmla="?: f60 f1 f14"/>
              <a:gd name="f77" fmla="?: f60 f36 f35"/>
              <a:gd name="f78" fmla="?: f60 f35 f36"/>
              <a:gd name="f79" fmla="*/ f61 f7 1"/>
              <a:gd name="f80" fmla="?: f21 f66 f65"/>
              <a:gd name="f81" fmla="?: f21 f65 f66"/>
              <a:gd name="f82" fmla="?: f58 f73 f72"/>
              <a:gd name="f83" fmla="?: f58 f72 f73"/>
              <a:gd name="f84" fmla="?: f59 f71 f70"/>
              <a:gd name="f85" fmla="?: f20 f77 f78"/>
              <a:gd name="f86" fmla="?: f20 f75 f76"/>
              <a:gd name="f87" fmla="*/ f79 1 f0"/>
              <a:gd name="f88" fmla="*/ f64 f37 1"/>
              <a:gd name="f89" fmla="*/ f68 f37 1"/>
              <a:gd name="f90" fmla="*/ f69 f37 1"/>
              <a:gd name="f91" fmla="*/ f74 f37 1"/>
              <a:gd name="f92" fmla="?: f57 f80 f81"/>
              <a:gd name="f93" fmla="?: f59 f83 f82"/>
              <a:gd name="f94" fmla="+- 0 0 f87"/>
              <a:gd name="f95" fmla="+- 0 0 f94"/>
              <a:gd name="f96" fmla="*/ f95 f0 1"/>
              <a:gd name="f97" fmla="*/ f96 1 f7"/>
              <a:gd name="f98" fmla="+- f97 0 f1"/>
              <a:gd name="f99" fmla="cos 1 f98"/>
              <a:gd name="f100" fmla="+- 0 0 f99"/>
              <a:gd name="f101" fmla="+- 0 0 f100"/>
              <a:gd name="f102" fmla="val f101"/>
              <a:gd name="f103" fmla="+- 0 0 f102"/>
              <a:gd name="f104" fmla="*/ f9 f103 1"/>
              <a:gd name="f105" fmla="*/ f104 3163 1"/>
              <a:gd name="f106" fmla="*/ f105 1 7636"/>
              <a:gd name="f107" fmla="+- f6 f106 0"/>
              <a:gd name="f108" fmla="+- f44 0 f106"/>
              <a:gd name="f109" fmla="+- f45 0 f106"/>
              <a:gd name="f110" fmla="*/ f107 f37 1"/>
              <a:gd name="f111" fmla="*/ f108 f37 1"/>
              <a:gd name="f112" fmla="*/ f109 f3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10" t="f110" r="f111" b="f112"/>
            <a:pathLst>
              <a:path>
                <a:moveTo>
                  <a:pt x="f48" y="f49"/>
                </a:moveTo>
                <a:arcTo wR="f50" hR="f51" stAng="f47" swAng="f43"/>
                <a:lnTo>
                  <a:pt x="f49" y="f62"/>
                </a:lnTo>
                <a:arcTo wR="f51" hR="f88" stAng="f92" swAng="f67"/>
                <a:lnTo>
                  <a:pt x="f63" y="f55"/>
                </a:lnTo>
                <a:arcTo wR="f89" hR="f90" stAng="f93" swAng="f84"/>
                <a:lnTo>
                  <a:pt x="f56" y="f48"/>
                </a:lnTo>
                <a:arcTo wR="f91" hR="f50" stAng="f85" swAng="f86"/>
                <a:close/>
              </a:path>
            </a:pathLst>
          </a:custGeom>
          <a:solidFill>
            <a:srgbClr val="0B1220"/>
          </a:solidFill>
          <a:ln w="9528" cap="flat">
            <a:solidFill>
              <a:srgbClr val="1E293B"/>
            </a:solidFill>
            <a:prstDash val="solid"/>
            <a:miter/>
          </a:ln>
          <a:effectLst>
            <a:outerShdw dist="19046" dir="5400000" algn="tl">
              <a:srgbClr val="000000">
                <a:alpha val="63000"/>
              </a:srgbClr>
            </a:outerShdw>
          </a:effectLst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000000"/>
              </a:solidFill>
              <a:uFillTx/>
              <a:latin typeface="Aptos Display"/>
            </a:endParaRPr>
          </a:p>
        </p:txBody>
      </p:sp>
      <p:sp>
        <p:nvSpPr>
          <p:cNvPr id="13" name="Rectangle 66">
            <a:extLst>
              <a:ext uri="{FF2B5EF4-FFF2-40B4-BE49-F238E27FC236}">
                <a16:creationId xmlns:a16="http://schemas.microsoft.com/office/drawing/2014/main" id="{9A267041-62AA-4EF6-2758-E289464FE132}"/>
              </a:ext>
            </a:extLst>
          </p:cNvPr>
          <p:cNvSpPr/>
          <p:nvPr/>
        </p:nvSpPr>
        <p:spPr>
          <a:xfrm>
            <a:off x="1089022" y="3538307"/>
            <a:ext cx="4991096" cy="80722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000" b="0" i="0" u="none" strike="noStrike" kern="1200" cap="none" spc="0" baseline="0">
              <a:solidFill>
                <a:srgbClr val="FFFFFF"/>
              </a:solidFill>
              <a:uFillTx/>
              <a:latin typeface="Consolas" pitchFamily="49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1000" b="0" i="0" u="none" strike="noStrike" kern="1200" cap="none" spc="0" baseline="0">
                <a:solidFill>
                  <a:srgbClr val="FFFFFF"/>
                </a:solidFill>
                <a:uFillTx/>
                <a:latin typeface="Consolas" pitchFamily="49"/>
              </a:rPr>
              <a:t>"Link": "../raw_DATA/ALMI ATLAS.pdf",</a:t>
            </a:r>
            <a:endParaRPr lang="fr-FR" sz="1000" b="0" i="0" u="none" strike="noStrike" kern="1200" cap="none" spc="0" baseline="0">
              <a:solidFill>
                <a:srgbClr val="FFFFFF"/>
              </a:solidFill>
              <a:uFillTx/>
              <a:latin typeface="Consolas" pitchFamily="49"/>
              <a:ea typeface="Consolas"/>
              <a:cs typeface="Consolas"/>
            </a:endParaRPr>
          </a:p>
        </p:txBody>
      </p:sp>
      <p:sp>
        <p:nvSpPr>
          <p:cNvPr id="14" name="Rectangle : coins arrondis 68">
            <a:extLst>
              <a:ext uri="{FF2B5EF4-FFF2-40B4-BE49-F238E27FC236}">
                <a16:creationId xmlns:a16="http://schemas.microsoft.com/office/drawing/2014/main" id="{60EAB118-C5B1-434B-97F2-68B0EC6C3668}"/>
              </a:ext>
            </a:extLst>
          </p:cNvPr>
          <p:cNvSpPr/>
          <p:nvPr/>
        </p:nvSpPr>
        <p:spPr>
          <a:xfrm>
            <a:off x="6384285" y="2736908"/>
            <a:ext cx="4555485" cy="2470215"/>
          </a:xfrm>
          <a:custGeom>
            <a:avLst/>
            <a:gdLst>
              <a:gd name="f0" fmla="val 10800000"/>
              <a:gd name="f1" fmla="val 5400000"/>
              <a:gd name="f2" fmla="val 16200000"/>
              <a:gd name="f3" fmla="val w"/>
              <a:gd name="f4" fmla="val h"/>
              <a:gd name="f5" fmla="val ss"/>
              <a:gd name="f6" fmla="val 0"/>
              <a:gd name="f7" fmla="*/ 5419351 1 1725033"/>
              <a:gd name="f8" fmla="val 45"/>
              <a:gd name="f9" fmla="val 2979"/>
              <a:gd name="f10" fmla="abs f3"/>
              <a:gd name="f11" fmla="abs f4"/>
              <a:gd name="f12" fmla="abs f5"/>
              <a:gd name="f13" fmla="*/ f7 1 180"/>
              <a:gd name="f14" fmla="+- 0 0 f1"/>
              <a:gd name="f15" fmla="+- f6 f9 0"/>
              <a:gd name="f16" fmla="?: f10 f3 1"/>
              <a:gd name="f17" fmla="?: f11 f4 1"/>
              <a:gd name="f18" fmla="?: f12 f5 1"/>
              <a:gd name="f19" fmla="*/ f8 f13 1"/>
              <a:gd name="f20" fmla="+- f6 0 f15"/>
              <a:gd name="f21" fmla="+- f15 0 f6"/>
              <a:gd name="f22" fmla="*/ f16 1 21600"/>
              <a:gd name="f23" fmla="*/ f17 1 21600"/>
              <a:gd name="f24" fmla="*/ 21600 f16 1"/>
              <a:gd name="f25" fmla="*/ 21600 f17 1"/>
              <a:gd name="f26" fmla="+- 0 0 f19"/>
              <a:gd name="f27" fmla="abs f20"/>
              <a:gd name="f28" fmla="abs f21"/>
              <a:gd name="f29" fmla="?: f20 f14 f1"/>
              <a:gd name="f30" fmla="?: f20 f1 f14"/>
              <a:gd name="f31" fmla="?: f20 f2 f1"/>
              <a:gd name="f32" fmla="?: f20 f1 f2"/>
              <a:gd name="f33" fmla="?: f21 f14 f1"/>
              <a:gd name="f34" fmla="?: f21 f1 f14"/>
              <a:gd name="f35" fmla="?: f20 0 f0"/>
              <a:gd name="f36" fmla="?: f20 f0 0"/>
              <a:gd name="f37" fmla="min f23 f22"/>
              <a:gd name="f38" fmla="*/ f24 1 f18"/>
              <a:gd name="f39" fmla="*/ f25 1 f18"/>
              <a:gd name="f40" fmla="*/ f26 f0 1"/>
              <a:gd name="f41" fmla="?: f20 f32 f31"/>
              <a:gd name="f42" fmla="?: f20 f31 f32"/>
              <a:gd name="f43" fmla="?: f21 f30 f29"/>
              <a:gd name="f44" fmla="val f38"/>
              <a:gd name="f45" fmla="val f39"/>
              <a:gd name="f46" fmla="*/ f40 1 f7"/>
              <a:gd name="f47" fmla="?: f21 f42 f41"/>
              <a:gd name="f48" fmla="*/ f15 f37 1"/>
              <a:gd name="f49" fmla="*/ f6 f37 1"/>
              <a:gd name="f50" fmla="*/ f27 f37 1"/>
              <a:gd name="f51" fmla="*/ f28 f37 1"/>
              <a:gd name="f52" fmla="+- f45 0 f9"/>
              <a:gd name="f53" fmla="+- f44 0 f9"/>
              <a:gd name="f54" fmla="+- f46 0 f1"/>
              <a:gd name="f55" fmla="*/ f45 f37 1"/>
              <a:gd name="f56" fmla="*/ f44 f37 1"/>
              <a:gd name="f57" fmla="+- f45 0 f52"/>
              <a:gd name="f58" fmla="+- f44 0 f53"/>
              <a:gd name="f59" fmla="+- f52 0 f45"/>
              <a:gd name="f60" fmla="+- f53 0 f44"/>
              <a:gd name="f61" fmla="+- f54 f1 0"/>
              <a:gd name="f62" fmla="*/ f52 f37 1"/>
              <a:gd name="f63" fmla="*/ f53 f37 1"/>
              <a:gd name="f64" fmla="abs f57"/>
              <a:gd name="f65" fmla="?: f57 0 f0"/>
              <a:gd name="f66" fmla="?: f57 f0 0"/>
              <a:gd name="f67" fmla="?: f57 f33 f34"/>
              <a:gd name="f68" fmla="abs f58"/>
              <a:gd name="f69" fmla="abs f59"/>
              <a:gd name="f70" fmla="?: f58 f14 f1"/>
              <a:gd name="f71" fmla="?: f58 f1 f14"/>
              <a:gd name="f72" fmla="?: f58 f2 f1"/>
              <a:gd name="f73" fmla="?: f58 f1 f2"/>
              <a:gd name="f74" fmla="abs f60"/>
              <a:gd name="f75" fmla="?: f60 f14 f1"/>
              <a:gd name="f76" fmla="?: f60 f1 f14"/>
              <a:gd name="f77" fmla="?: f60 f36 f35"/>
              <a:gd name="f78" fmla="?: f60 f35 f36"/>
              <a:gd name="f79" fmla="*/ f61 f7 1"/>
              <a:gd name="f80" fmla="?: f21 f66 f65"/>
              <a:gd name="f81" fmla="?: f21 f65 f66"/>
              <a:gd name="f82" fmla="?: f58 f73 f72"/>
              <a:gd name="f83" fmla="?: f58 f72 f73"/>
              <a:gd name="f84" fmla="?: f59 f71 f70"/>
              <a:gd name="f85" fmla="?: f20 f77 f78"/>
              <a:gd name="f86" fmla="?: f20 f75 f76"/>
              <a:gd name="f87" fmla="*/ f79 1 f0"/>
              <a:gd name="f88" fmla="*/ f64 f37 1"/>
              <a:gd name="f89" fmla="*/ f68 f37 1"/>
              <a:gd name="f90" fmla="*/ f69 f37 1"/>
              <a:gd name="f91" fmla="*/ f74 f37 1"/>
              <a:gd name="f92" fmla="?: f57 f80 f81"/>
              <a:gd name="f93" fmla="?: f59 f83 f82"/>
              <a:gd name="f94" fmla="+- 0 0 f87"/>
              <a:gd name="f95" fmla="+- 0 0 f94"/>
              <a:gd name="f96" fmla="*/ f95 f0 1"/>
              <a:gd name="f97" fmla="*/ f96 1 f7"/>
              <a:gd name="f98" fmla="+- f97 0 f1"/>
              <a:gd name="f99" fmla="cos 1 f98"/>
              <a:gd name="f100" fmla="+- 0 0 f99"/>
              <a:gd name="f101" fmla="+- 0 0 f100"/>
              <a:gd name="f102" fmla="val f101"/>
              <a:gd name="f103" fmla="+- 0 0 f102"/>
              <a:gd name="f104" fmla="*/ f9 f103 1"/>
              <a:gd name="f105" fmla="*/ f104 3163 1"/>
              <a:gd name="f106" fmla="*/ f105 1 7636"/>
              <a:gd name="f107" fmla="+- f6 f106 0"/>
              <a:gd name="f108" fmla="+- f44 0 f106"/>
              <a:gd name="f109" fmla="+- f45 0 f106"/>
              <a:gd name="f110" fmla="*/ f107 f37 1"/>
              <a:gd name="f111" fmla="*/ f108 f37 1"/>
              <a:gd name="f112" fmla="*/ f109 f3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10" t="f110" r="f111" b="f112"/>
            <a:pathLst>
              <a:path>
                <a:moveTo>
                  <a:pt x="f48" y="f49"/>
                </a:moveTo>
                <a:arcTo wR="f50" hR="f51" stAng="f47" swAng="f43"/>
                <a:lnTo>
                  <a:pt x="f49" y="f62"/>
                </a:lnTo>
                <a:arcTo wR="f51" hR="f88" stAng="f92" swAng="f67"/>
                <a:lnTo>
                  <a:pt x="f63" y="f55"/>
                </a:lnTo>
                <a:arcTo wR="f89" hR="f90" stAng="f93" swAng="f84"/>
                <a:lnTo>
                  <a:pt x="f56" y="f48"/>
                </a:lnTo>
                <a:arcTo wR="f91" hR="f50" stAng="f85" swAng="f86"/>
                <a:close/>
              </a:path>
            </a:pathLst>
          </a:custGeom>
          <a:solidFill>
            <a:srgbClr val="FFFFFF"/>
          </a:solidFill>
          <a:ln w="9528" cap="flat">
            <a:solidFill>
              <a:srgbClr val="E2E8F0"/>
            </a:solidFill>
            <a:prstDash val="solid"/>
            <a:miter/>
          </a:ln>
          <a:effectLst>
            <a:outerShdw dist="19046" dir="5400000" algn="tl">
              <a:srgbClr val="000000">
                <a:alpha val="63000"/>
              </a:srgbClr>
            </a:outerShdw>
          </a:effectLst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000000"/>
              </a:solidFill>
              <a:uFillTx/>
              <a:latin typeface="Aptos Display"/>
            </a:endParaRPr>
          </a:p>
        </p:txBody>
      </p:sp>
      <p:sp>
        <p:nvSpPr>
          <p:cNvPr id="15" name="Rectangle 70">
            <a:extLst>
              <a:ext uri="{FF2B5EF4-FFF2-40B4-BE49-F238E27FC236}">
                <a16:creationId xmlns:a16="http://schemas.microsoft.com/office/drawing/2014/main" id="{4E030E0F-646F-ED2A-F14E-3C2B8C7AD0B8}"/>
              </a:ext>
            </a:extLst>
          </p:cNvPr>
          <p:cNvSpPr/>
          <p:nvPr/>
        </p:nvSpPr>
        <p:spPr>
          <a:xfrm>
            <a:off x="6536688" y="3036630"/>
            <a:ext cx="4295174" cy="358140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t" anchorCtr="0" compatLnSpc="1">
            <a:norm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 b="0" i="0" u="none" strike="noStrike" kern="0" cap="none" spc="0" baseline="0">
                <a:solidFill>
                  <a:srgbClr val="334155"/>
                </a:solidFill>
                <a:uFillTx/>
              </a:defRPr>
            </a:pPr>
            <a:r>
              <a:rPr lang="en-US" sz="1200" b="0" i="0" u="none" strike="noStrike" kern="1200" cap="none" spc="0" baseline="0">
                <a:solidFill>
                  <a:srgbClr val="334155"/>
                </a:solidFill>
                <a:uFillTx/>
                <a:latin typeface="Aptos"/>
              </a:rPr>
              <a:t>Case 2 : Multiple paths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 b="0" i="0" u="none" strike="noStrike" kern="0" cap="none" spc="0" baseline="0">
                <a:solidFill>
                  <a:srgbClr val="334155"/>
                </a:solidFill>
                <a:uFillTx/>
              </a:defRPr>
            </a:pPr>
            <a:endParaRPr lang="en-US" sz="1200" b="0" i="0" u="none" strike="noStrike" kern="1200" cap="none" spc="0" baseline="0">
              <a:solidFill>
                <a:srgbClr val="334155"/>
              </a:solidFill>
              <a:uFillTx/>
              <a:latin typeface="Aptos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 b="0" i="0" u="none" strike="noStrike" kern="0" cap="none" spc="0" baseline="0">
                <a:solidFill>
                  <a:srgbClr val="334155"/>
                </a:solidFill>
                <a:uFillTx/>
              </a:defRPr>
            </a:pPr>
            <a:endParaRPr lang="en-US" sz="1200" b="0" i="0" u="none" strike="noStrike" kern="1200" cap="none" spc="0" baseline="0">
              <a:solidFill>
                <a:srgbClr val="334155"/>
              </a:solidFill>
              <a:uFillTx/>
              <a:latin typeface="Aptos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 b="0" i="0" u="none" strike="noStrike" kern="0" cap="none" spc="0" baseline="0">
                <a:solidFill>
                  <a:srgbClr val="334155"/>
                </a:solidFill>
                <a:uFillTx/>
              </a:defRPr>
            </a:pPr>
            <a:endParaRPr lang="en-US" sz="1200" b="0" i="0" u="none" strike="noStrike" kern="1200" cap="none" spc="0" baseline="0">
              <a:solidFill>
                <a:srgbClr val="334155"/>
              </a:solidFill>
              <a:uFillTx/>
              <a:latin typeface="Aptos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 b="0" i="0" u="none" strike="noStrike" kern="0" cap="none" spc="0" baseline="0">
                <a:solidFill>
                  <a:srgbClr val="334155"/>
                </a:solidFill>
                <a:uFillTx/>
              </a:defRPr>
            </a:pPr>
            <a:endParaRPr lang="en-US" sz="1200" b="0" i="0" u="none" strike="noStrike" kern="1200" cap="none" spc="0" baseline="0">
              <a:solidFill>
                <a:srgbClr val="334155"/>
              </a:solidFill>
              <a:uFillTx/>
              <a:latin typeface="Aptos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 b="0" i="0" u="none" strike="noStrike" kern="0" cap="none" spc="0" baseline="0">
                <a:solidFill>
                  <a:srgbClr val="334155"/>
                </a:solidFill>
                <a:uFillTx/>
              </a:defRPr>
            </a:pPr>
            <a:endParaRPr lang="en-US" sz="1200" b="0" i="0" u="none" strike="noStrike" kern="1200" cap="none" spc="0" baseline="0">
              <a:solidFill>
                <a:srgbClr val="334155"/>
              </a:solidFill>
              <a:uFillTx/>
              <a:latin typeface="Aptos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 b="0" i="0" u="none" strike="noStrike" kern="0" cap="none" spc="0" baseline="0">
                <a:solidFill>
                  <a:srgbClr val="334155"/>
                </a:solidFill>
                <a:uFillTx/>
              </a:defRPr>
            </a:pPr>
            <a:endParaRPr lang="en-US" sz="1200" b="0" i="0" u="none" strike="noStrike" kern="1200" cap="none" spc="0" baseline="0">
              <a:solidFill>
                <a:srgbClr val="334155"/>
              </a:solidFill>
              <a:uFillTx/>
              <a:latin typeface="Aptos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 b="0" i="0" u="none" strike="noStrike" kern="0" cap="none" spc="0" baseline="0">
                <a:solidFill>
                  <a:srgbClr val="334155"/>
                </a:solidFill>
                <a:uFillTx/>
              </a:defRPr>
            </a:pPr>
            <a:endParaRPr lang="en-US" sz="1200" b="0" i="0" u="none" strike="noStrike" kern="1200" cap="none" spc="0" baseline="0">
              <a:solidFill>
                <a:srgbClr val="334155"/>
              </a:solidFill>
              <a:uFillTx/>
              <a:latin typeface="Aptos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 b="0" i="0" u="none" strike="noStrike" kern="0" cap="none" spc="0" baseline="0">
                <a:solidFill>
                  <a:srgbClr val="334155"/>
                </a:solidFill>
                <a:uFillTx/>
              </a:defRPr>
            </a:pPr>
            <a:endParaRPr lang="en-US" sz="1200" b="0" i="0" u="none" strike="noStrike" kern="1200" cap="none" spc="0" baseline="0">
              <a:solidFill>
                <a:srgbClr val="334155"/>
              </a:solidFill>
              <a:uFillTx/>
              <a:latin typeface="Aptos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 b="0" i="0" u="none" strike="noStrike" kern="0" cap="none" spc="0" baseline="0">
                <a:solidFill>
                  <a:srgbClr val="334155"/>
                </a:solidFill>
                <a:uFillTx/>
              </a:defRPr>
            </a:pPr>
            <a:r>
              <a:rPr lang="fr-FR" sz="1200" b="0" i="0" u="none" strike="noStrike" kern="0" cap="none" spc="0" baseline="0">
                <a:solidFill>
                  <a:srgbClr val="334155"/>
                </a:solidFill>
                <a:uFillTx/>
                <a:latin typeface="Aptos"/>
              </a:rPr>
              <a:t>We can add the other paths separated by a semicolon “;” and then move to the next key, “DNV_path”.</a:t>
            </a:r>
            <a:endParaRPr lang="en-US" sz="1200" b="0" i="0" u="none" strike="noStrike" kern="1200" cap="none" spc="0" baseline="0">
              <a:solidFill>
                <a:srgbClr val="334155"/>
              </a:solidFill>
              <a:uFillTx/>
              <a:latin typeface="Aptos"/>
            </a:endParaRPr>
          </a:p>
        </p:txBody>
      </p:sp>
      <p:sp>
        <p:nvSpPr>
          <p:cNvPr id="16" name="Rectangle : coins arrondis 72">
            <a:extLst>
              <a:ext uri="{FF2B5EF4-FFF2-40B4-BE49-F238E27FC236}">
                <a16:creationId xmlns:a16="http://schemas.microsoft.com/office/drawing/2014/main" id="{4DE9542F-8B4C-014E-CBFE-636505FD696F}"/>
              </a:ext>
            </a:extLst>
          </p:cNvPr>
          <p:cNvSpPr/>
          <p:nvPr/>
        </p:nvSpPr>
        <p:spPr>
          <a:xfrm>
            <a:off x="6379211" y="3431130"/>
            <a:ext cx="4453292" cy="807223"/>
          </a:xfrm>
          <a:custGeom>
            <a:avLst/>
            <a:gdLst>
              <a:gd name="f0" fmla="val 10800000"/>
              <a:gd name="f1" fmla="val 5400000"/>
              <a:gd name="f2" fmla="val 16200000"/>
              <a:gd name="f3" fmla="val w"/>
              <a:gd name="f4" fmla="val h"/>
              <a:gd name="f5" fmla="val ss"/>
              <a:gd name="f6" fmla="val 0"/>
              <a:gd name="f7" fmla="*/ 5419351 1 1725033"/>
              <a:gd name="f8" fmla="val 45"/>
              <a:gd name="f9" fmla="val 868"/>
              <a:gd name="f10" fmla="abs f3"/>
              <a:gd name="f11" fmla="abs f4"/>
              <a:gd name="f12" fmla="abs f5"/>
              <a:gd name="f13" fmla="*/ f7 1 180"/>
              <a:gd name="f14" fmla="+- 0 0 f1"/>
              <a:gd name="f15" fmla="+- f6 f9 0"/>
              <a:gd name="f16" fmla="?: f10 f3 1"/>
              <a:gd name="f17" fmla="?: f11 f4 1"/>
              <a:gd name="f18" fmla="?: f12 f5 1"/>
              <a:gd name="f19" fmla="*/ f8 f13 1"/>
              <a:gd name="f20" fmla="+- f6 0 f15"/>
              <a:gd name="f21" fmla="+- f15 0 f6"/>
              <a:gd name="f22" fmla="*/ f16 1 21600"/>
              <a:gd name="f23" fmla="*/ f17 1 21600"/>
              <a:gd name="f24" fmla="*/ 21600 f16 1"/>
              <a:gd name="f25" fmla="*/ 21600 f17 1"/>
              <a:gd name="f26" fmla="+- 0 0 f19"/>
              <a:gd name="f27" fmla="abs f20"/>
              <a:gd name="f28" fmla="abs f21"/>
              <a:gd name="f29" fmla="?: f20 f14 f1"/>
              <a:gd name="f30" fmla="?: f20 f1 f14"/>
              <a:gd name="f31" fmla="?: f20 f2 f1"/>
              <a:gd name="f32" fmla="?: f20 f1 f2"/>
              <a:gd name="f33" fmla="?: f21 f14 f1"/>
              <a:gd name="f34" fmla="?: f21 f1 f14"/>
              <a:gd name="f35" fmla="?: f20 0 f0"/>
              <a:gd name="f36" fmla="?: f20 f0 0"/>
              <a:gd name="f37" fmla="min f23 f22"/>
              <a:gd name="f38" fmla="*/ f24 1 f18"/>
              <a:gd name="f39" fmla="*/ f25 1 f18"/>
              <a:gd name="f40" fmla="*/ f26 f0 1"/>
              <a:gd name="f41" fmla="?: f20 f32 f31"/>
              <a:gd name="f42" fmla="?: f20 f31 f32"/>
              <a:gd name="f43" fmla="?: f21 f30 f29"/>
              <a:gd name="f44" fmla="val f38"/>
              <a:gd name="f45" fmla="val f39"/>
              <a:gd name="f46" fmla="*/ f40 1 f7"/>
              <a:gd name="f47" fmla="?: f21 f42 f41"/>
              <a:gd name="f48" fmla="*/ f15 f37 1"/>
              <a:gd name="f49" fmla="*/ f6 f37 1"/>
              <a:gd name="f50" fmla="*/ f27 f37 1"/>
              <a:gd name="f51" fmla="*/ f28 f37 1"/>
              <a:gd name="f52" fmla="+- f45 0 f9"/>
              <a:gd name="f53" fmla="+- f44 0 f9"/>
              <a:gd name="f54" fmla="+- f46 0 f1"/>
              <a:gd name="f55" fmla="*/ f45 f37 1"/>
              <a:gd name="f56" fmla="*/ f44 f37 1"/>
              <a:gd name="f57" fmla="+- f45 0 f52"/>
              <a:gd name="f58" fmla="+- f44 0 f53"/>
              <a:gd name="f59" fmla="+- f52 0 f45"/>
              <a:gd name="f60" fmla="+- f53 0 f44"/>
              <a:gd name="f61" fmla="+- f54 f1 0"/>
              <a:gd name="f62" fmla="*/ f52 f37 1"/>
              <a:gd name="f63" fmla="*/ f53 f37 1"/>
              <a:gd name="f64" fmla="abs f57"/>
              <a:gd name="f65" fmla="?: f57 0 f0"/>
              <a:gd name="f66" fmla="?: f57 f0 0"/>
              <a:gd name="f67" fmla="?: f57 f33 f34"/>
              <a:gd name="f68" fmla="abs f58"/>
              <a:gd name="f69" fmla="abs f59"/>
              <a:gd name="f70" fmla="?: f58 f14 f1"/>
              <a:gd name="f71" fmla="?: f58 f1 f14"/>
              <a:gd name="f72" fmla="?: f58 f2 f1"/>
              <a:gd name="f73" fmla="?: f58 f1 f2"/>
              <a:gd name="f74" fmla="abs f60"/>
              <a:gd name="f75" fmla="?: f60 f14 f1"/>
              <a:gd name="f76" fmla="?: f60 f1 f14"/>
              <a:gd name="f77" fmla="?: f60 f36 f35"/>
              <a:gd name="f78" fmla="?: f60 f35 f36"/>
              <a:gd name="f79" fmla="*/ f61 f7 1"/>
              <a:gd name="f80" fmla="?: f21 f66 f65"/>
              <a:gd name="f81" fmla="?: f21 f65 f66"/>
              <a:gd name="f82" fmla="?: f58 f73 f72"/>
              <a:gd name="f83" fmla="?: f58 f72 f73"/>
              <a:gd name="f84" fmla="?: f59 f71 f70"/>
              <a:gd name="f85" fmla="?: f20 f77 f78"/>
              <a:gd name="f86" fmla="?: f20 f75 f76"/>
              <a:gd name="f87" fmla="*/ f79 1 f0"/>
              <a:gd name="f88" fmla="*/ f64 f37 1"/>
              <a:gd name="f89" fmla="*/ f68 f37 1"/>
              <a:gd name="f90" fmla="*/ f69 f37 1"/>
              <a:gd name="f91" fmla="*/ f74 f37 1"/>
              <a:gd name="f92" fmla="?: f57 f80 f81"/>
              <a:gd name="f93" fmla="?: f59 f83 f82"/>
              <a:gd name="f94" fmla="+- 0 0 f87"/>
              <a:gd name="f95" fmla="+- 0 0 f94"/>
              <a:gd name="f96" fmla="*/ f95 f0 1"/>
              <a:gd name="f97" fmla="*/ f96 1 f7"/>
              <a:gd name="f98" fmla="+- f97 0 f1"/>
              <a:gd name="f99" fmla="cos 1 f98"/>
              <a:gd name="f100" fmla="+- 0 0 f99"/>
              <a:gd name="f101" fmla="+- 0 0 f100"/>
              <a:gd name="f102" fmla="val f101"/>
              <a:gd name="f103" fmla="+- 0 0 f102"/>
              <a:gd name="f104" fmla="*/ f9 f103 1"/>
              <a:gd name="f105" fmla="*/ f104 3163 1"/>
              <a:gd name="f106" fmla="*/ f105 1 7636"/>
              <a:gd name="f107" fmla="+- f6 f106 0"/>
              <a:gd name="f108" fmla="+- f44 0 f106"/>
              <a:gd name="f109" fmla="+- f45 0 f106"/>
              <a:gd name="f110" fmla="*/ f107 f37 1"/>
              <a:gd name="f111" fmla="*/ f108 f37 1"/>
              <a:gd name="f112" fmla="*/ f109 f3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10" t="f110" r="f111" b="f112"/>
            <a:pathLst>
              <a:path>
                <a:moveTo>
                  <a:pt x="f48" y="f49"/>
                </a:moveTo>
                <a:arcTo wR="f50" hR="f51" stAng="f47" swAng="f43"/>
                <a:lnTo>
                  <a:pt x="f49" y="f62"/>
                </a:lnTo>
                <a:arcTo wR="f51" hR="f88" stAng="f92" swAng="f67"/>
                <a:lnTo>
                  <a:pt x="f63" y="f55"/>
                </a:lnTo>
                <a:arcTo wR="f89" hR="f90" stAng="f93" swAng="f84"/>
                <a:lnTo>
                  <a:pt x="f56" y="f48"/>
                </a:lnTo>
                <a:arcTo wR="f91" hR="f50" stAng="f85" swAng="f86"/>
                <a:close/>
              </a:path>
            </a:pathLst>
          </a:custGeom>
          <a:solidFill>
            <a:srgbClr val="0B1220"/>
          </a:solidFill>
          <a:ln w="9528" cap="flat">
            <a:solidFill>
              <a:srgbClr val="1E293B"/>
            </a:solidFill>
            <a:prstDash val="solid"/>
            <a:miter/>
          </a:ln>
          <a:effectLst>
            <a:outerShdw dist="19046" dir="5400000" algn="tl">
              <a:srgbClr val="000000">
                <a:alpha val="63000"/>
              </a:srgbClr>
            </a:outerShdw>
          </a:effectLst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000000"/>
              </a:solidFill>
              <a:uFillTx/>
              <a:latin typeface="Aptos Display"/>
            </a:endParaRPr>
          </a:p>
        </p:txBody>
      </p:sp>
      <p:sp>
        <p:nvSpPr>
          <p:cNvPr id="17" name="Rectangle 74">
            <a:extLst>
              <a:ext uri="{FF2B5EF4-FFF2-40B4-BE49-F238E27FC236}">
                <a16:creationId xmlns:a16="http://schemas.microsoft.com/office/drawing/2014/main" id="{8AEBB67F-79FA-BE72-6C43-0429A4CBE158}"/>
              </a:ext>
            </a:extLst>
          </p:cNvPr>
          <p:cNvSpPr/>
          <p:nvPr/>
        </p:nvSpPr>
        <p:spPr>
          <a:xfrm>
            <a:off x="6438903" y="3538307"/>
            <a:ext cx="4991096" cy="80722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000" b="0" i="0" u="none" strike="noStrike" kern="1200" cap="none" spc="0" baseline="0">
              <a:solidFill>
                <a:srgbClr val="FFFFFF"/>
              </a:solidFill>
              <a:uFillTx/>
              <a:latin typeface="Consolas" pitchFamily="49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25" b="0" i="0" u="none" strike="noStrike" kern="0" cap="none" spc="0" baseline="0">
                <a:solidFill>
                  <a:srgbClr val="E2E8F0"/>
                </a:solidFill>
                <a:uFillTx/>
                <a:latin typeface="Consolas"/>
                <a:ea typeface="Consolas"/>
                <a:cs typeface="Consolas"/>
              </a:defRPr>
            </a:pPr>
            <a:r>
              <a:rPr lang="fr-FR" sz="1000" b="0" i="0" u="none" strike="noStrike" kern="1200" cap="none" spc="0" baseline="0">
                <a:solidFill>
                  <a:srgbClr val="E2E8F0"/>
                </a:solidFill>
                <a:uFillTx/>
                <a:latin typeface="Consolas"/>
                <a:ea typeface="Consolas"/>
                <a:cs typeface="Consolas"/>
              </a:rPr>
              <a:t>"Link": "../raw_DATA/source_a.pdf ;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25" b="0" i="0" u="none" strike="noStrike" kern="0" cap="none" spc="0" baseline="0">
                <a:solidFill>
                  <a:srgbClr val="E2E8F0"/>
                </a:solidFill>
                <a:uFillTx/>
                <a:latin typeface="Consolas"/>
                <a:ea typeface="Consolas"/>
                <a:cs typeface="Consolas"/>
              </a:defRPr>
            </a:pPr>
            <a:r>
              <a:rPr lang="fr-FR" sz="1000" b="0" i="0" u="none" strike="noStrike" kern="1200" cap="none" spc="0" baseline="0">
                <a:solidFill>
                  <a:srgbClr val="E2E8F0"/>
                </a:solidFill>
                <a:uFillTx/>
                <a:latin typeface="Consolas"/>
                <a:ea typeface="Consolas"/>
                <a:cs typeface="Consolas"/>
              </a:rPr>
              <a:t>         ../raw_DATA/source_b.json ;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25" b="0" i="0" u="none" strike="noStrike" kern="0" cap="none" spc="0" baseline="0">
                <a:solidFill>
                  <a:srgbClr val="E2E8F0"/>
                </a:solidFill>
                <a:uFillTx/>
                <a:latin typeface="Consolas"/>
                <a:ea typeface="Consolas"/>
                <a:cs typeface="Consolas"/>
              </a:defRPr>
            </a:pPr>
            <a:r>
              <a:rPr lang="fr-FR" sz="1000" b="0" i="0" u="none" strike="noStrike" kern="1200" cap="none" spc="0" baseline="0">
                <a:solidFill>
                  <a:srgbClr val="E2E8F0"/>
                </a:solidFill>
                <a:uFillTx/>
                <a:latin typeface="Consolas"/>
                <a:ea typeface="Consolas"/>
                <a:cs typeface="Consolas"/>
              </a:rPr>
              <a:t>         ../raw_DATA/source_c.csv"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 : coins arrondis 32">
            <a:extLst>
              <a:ext uri="{FF2B5EF4-FFF2-40B4-BE49-F238E27FC236}">
                <a16:creationId xmlns:a16="http://schemas.microsoft.com/office/drawing/2014/main" id="{C282679E-D6E3-4F3C-8AD5-CC8D1FBA7A57}"/>
              </a:ext>
            </a:extLst>
          </p:cNvPr>
          <p:cNvSpPr>
            <a:spLocks noGrp="1"/>
          </p:cNvSpPr>
          <p:nvPr/>
        </p:nvSpPr>
        <p:spPr>
          <a:xfrm>
            <a:off x="571500" y="425958"/>
            <a:ext cx="1619250" cy="285750"/>
          </a:xfrm>
          <a:prstGeom prst="roundRect">
            <a:avLst>
              <a:gd name="adj" fmla="val 50000"/>
            </a:avLst>
          </a:prstGeom>
          <a:solidFill>
            <a:srgbClr val="2553D6"/>
          </a:solidFill>
          <a:ln w="0">
            <a:solidFill>
              <a:srgbClr val="2553D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2692C5F-7834-44D9-AB53-E31D041B1143}"/>
              </a:ext>
            </a:extLst>
          </p:cNvPr>
          <p:cNvSpPr>
            <a:spLocks noGrp="1"/>
          </p:cNvSpPr>
          <p:nvPr/>
        </p:nvSpPr>
        <p:spPr>
          <a:xfrm>
            <a:off x="571500" y="444246"/>
            <a:ext cx="161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rmAutofit fontScale="90833" lnSpcReduction="20000"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 dirty="0">
                <a:solidFill>
                  <a:srgbClr val="FFFFFF"/>
                </a:solidFill>
              </a:rPr>
              <a:t>BUILD STEP </a:t>
            </a:r>
            <a:r>
              <a:rPr lang="fr-FR" sz="1050" b="1" dirty="0">
                <a:solidFill>
                  <a:srgbClr val="FFFFFF"/>
                </a:solidFill>
              </a:rPr>
              <a:t>4</a:t>
            </a:r>
            <a:endParaRPr sz="1050" b="1" dirty="0">
              <a:solidFill>
                <a:srgbClr val="FFFFFF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0BC87C7-DDBC-44A5-89FD-D5A9E2F1357F}"/>
              </a:ext>
            </a:extLst>
          </p:cNvPr>
          <p:cNvSpPr>
            <a:spLocks noGrp="1"/>
          </p:cNvSpPr>
          <p:nvPr/>
        </p:nvSpPr>
        <p:spPr>
          <a:xfrm>
            <a:off x="571500" y="862584"/>
            <a:ext cx="11049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000" b="1">
                <a:solidFill>
                  <a:srgbClr val="0F172A"/>
                </a:solidFill>
              </a:defRPr>
            </a:pPr>
            <a:r>
              <a:rPr sz="3000" b="1" dirty="0">
                <a:solidFill>
                  <a:srgbClr val="0F172A"/>
                </a:solidFill>
              </a:rPr>
              <a:t>Register the project once in project-config.js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A759C8F-6AFF-4C64-BBB1-7A250DF5D613}"/>
              </a:ext>
            </a:extLst>
          </p:cNvPr>
          <p:cNvSpPr>
            <a:spLocks noGrp="1"/>
          </p:cNvSpPr>
          <p:nvPr/>
        </p:nvSpPr>
        <p:spPr>
          <a:xfrm>
            <a:off x="571500" y="1400556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475569"/>
                </a:solidFill>
              </a:defRPr>
            </a:pPr>
            <a:r>
              <a:rPr sz="1350" b="0" dirty="0">
                <a:solidFill>
                  <a:srgbClr val="475569"/>
                </a:solidFill>
              </a:rPr>
              <a:t>This is the bridge between the dashboard block, the page URL, and the main JSON file.</a:t>
            </a: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C197C6ED-5835-4687-A6B0-FD7DF04B089A}"/>
              </a:ext>
            </a:extLst>
          </p:cNvPr>
          <p:cNvSpPr>
            <a:spLocks noGrp="1"/>
          </p:cNvSpPr>
          <p:nvPr/>
        </p:nvSpPr>
        <p:spPr>
          <a:xfrm>
            <a:off x="571500" y="2258568"/>
            <a:ext cx="4476750" cy="3086100"/>
          </a:xfrm>
          <a:prstGeom prst="roundRect">
            <a:avLst>
              <a:gd name="adj" fmla="val 493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022F649-5821-44FA-95DA-2AEB10DB7F39}"/>
              </a:ext>
            </a:extLst>
          </p:cNvPr>
          <p:cNvSpPr>
            <a:spLocks noGrp="1"/>
          </p:cNvSpPr>
          <p:nvPr/>
        </p:nvSpPr>
        <p:spPr>
          <a:xfrm>
            <a:off x="742950" y="2410968"/>
            <a:ext cx="4133850" cy="2781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50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500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{</a:t>
            </a:r>
          </a:p>
          <a:p>
            <a:pPr algn="l">
              <a:defRPr sz="150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500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id: "</a:t>
            </a:r>
            <a:r>
              <a:rPr lang="fr-FR" sz="1500" b="0" dirty="0" err="1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example_name</a:t>
            </a:r>
            <a:r>
              <a:rPr sz="1500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",</a:t>
            </a:r>
          </a:p>
          <a:p>
            <a:pPr algn="l">
              <a:defRPr sz="150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500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name: "</a:t>
            </a:r>
            <a:r>
              <a:rPr lang="fr-FR" sz="1500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VESSEL_NAME</a:t>
            </a:r>
            <a:r>
              <a:rPr sz="1500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",</a:t>
            </a:r>
          </a:p>
          <a:p>
            <a:pPr algn="l">
              <a:defRPr sz="150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500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500" b="0" dirty="0" err="1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dashboardListId</a:t>
            </a:r>
            <a:r>
              <a:rPr sz="1500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: </a:t>
            </a:r>
            <a:r>
              <a:rPr sz="1500" b="0" dirty="0">
                <a:solidFill>
                  <a:srgbClr val="E2E8F0"/>
                </a:solidFill>
                <a:highlight>
                  <a:srgbClr val="FF0000"/>
                </a:highlight>
                <a:latin typeface="Consolas"/>
                <a:ea typeface="Consolas"/>
                <a:cs typeface="Consolas"/>
              </a:rPr>
              <a:t>"</a:t>
            </a:r>
            <a:r>
              <a:rPr lang="fr-FR" sz="1500" dirty="0" err="1">
                <a:solidFill>
                  <a:srgbClr val="E2E8F0"/>
                </a:solidFill>
                <a:highlight>
                  <a:srgbClr val="FF0000"/>
                </a:highlight>
                <a:latin typeface="Consolas"/>
                <a:ea typeface="Consolas"/>
                <a:cs typeface="Consolas"/>
              </a:rPr>
              <a:t>example</a:t>
            </a:r>
            <a:r>
              <a:rPr sz="1500" b="0" dirty="0">
                <a:solidFill>
                  <a:srgbClr val="E2E8F0"/>
                </a:solidFill>
                <a:highlight>
                  <a:srgbClr val="FF0000"/>
                </a:highlight>
                <a:latin typeface="Consolas"/>
                <a:ea typeface="Consolas"/>
                <a:cs typeface="Consolas"/>
              </a:rPr>
              <a:t>-vessel-links"</a:t>
            </a:r>
            <a:r>
              <a:rPr sz="1500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,</a:t>
            </a:r>
          </a:p>
          <a:p>
            <a:pPr algn="l">
              <a:defRPr sz="150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500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500" b="0" dirty="0" err="1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jsonPath</a:t>
            </a:r>
            <a:r>
              <a:rPr sz="1500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: "Projects/</a:t>
            </a:r>
            <a:r>
              <a:rPr lang="fr-FR" sz="1500" dirty="0" err="1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project_Name</a:t>
            </a:r>
            <a:r>
              <a:rPr sz="1500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/</a:t>
            </a:r>
            <a:r>
              <a:rPr lang="fr-FR" sz="1500" b="0" dirty="0" err="1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vessel_Name</a:t>
            </a:r>
            <a:r>
              <a:rPr sz="1500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/JSON/</a:t>
            </a:r>
            <a:r>
              <a:rPr lang="fr-FR" sz="1500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EXAMPLE</a:t>
            </a:r>
            <a:r>
              <a:rPr sz="1500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500" b="0" dirty="0" err="1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json</a:t>
            </a:r>
            <a:r>
              <a:rPr sz="1500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"</a:t>
            </a:r>
          </a:p>
          <a:p>
            <a:pPr algn="l">
              <a:defRPr sz="150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500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49BE4D16-99C1-481C-B09F-F5784EF8BB16}"/>
              </a:ext>
            </a:extLst>
          </p:cNvPr>
          <p:cNvSpPr>
            <a:spLocks noGrp="1"/>
          </p:cNvSpPr>
          <p:nvPr/>
        </p:nvSpPr>
        <p:spPr>
          <a:xfrm>
            <a:off x="5391150" y="2258568"/>
            <a:ext cx="2724150" cy="11430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BB2DA3EF-D615-4FA4-8711-FE6CAB004134}"/>
              </a:ext>
            </a:extLst>
          </p:cNvPr>
          <p:cNvSpPr>
            <a:spLocks noGrp="1"/>
          </p:cNvSpPr>
          <p:nvPr/>
        </p:nvSpPr>
        <p:spPr>
          <a:xfrm>
            <a:off x="5543550" y="2410968"/>
            <a:ext cx="1162050" cy="247650"/>
          </a:xfrm>
          <a:prstGeom prst="roundRect">
            <a:avLst>
              <a:gd name="adj" fmla="val 50000"/>
            </a:avLst>
          </a:prstGeom>
          <a:solidFill>
            <a:srgbClr val="2553D6"/>
          </a:solidFill>
          <a:ln w="0">
            <a:solidFill>
              <a:srgbClr val="2553D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52142E5-B6BA-4933-B827-BE38B048D188}"/>
              </a:ext>
            </a:extLst>
          </p:cNvPr>
          <p:cNvSpPr>
            <a:spLocks noGrp="1"/>
          </p:cNvSpPr>
          <p:nvPr/>
        </p:nvSpPr>
        <p:spPr>
          <a:xfrm>
            <a:off x="5543550" y="2410968"/>
            <a:ext cx="1162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200" b="1" dirty="0">
                <a:solidFill>
                  <a:srgbClr val="FFFFFF"/>
                </a:solidFill>
              </a:rPr>
              <a:t>id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F1652FE-DB40-45C2-B368-225D58FF8046}"/>
              </a:ext>
            </a:extLst>
          </p:cNvPr>
          <p:cNvSpPr>
            <a:spLocks noGrp="1"/>
          </p:cNvSpPr>
          <p:nvPr/>
        </p:nvSpPr>
        <p:spPr>
          <a:xfrm>
            <a:off x="5543550" y="2772918"/>
            <a:ext cx="24193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 dirty="0">
                <a:solidFill>
                  <a:srgbClr val="334155"/>
                </a:solidFill>
              </a:rPr>
              <a:t>Unique key used in the URL.</a:t>
            </a:r>
          </a:p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 dirty="0">
                <a:solidFill>
                  <a:srgbClr val="334155"/>
                </a:solidFill>
              </a:rPr>
              <a:t>Example: project=atlas</a:t>
            </a: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575B6E37-095D-4C9B-ABF6-53B06A9290BE}"/>
              </a:ext>
            </a:extLst>
          </p:cNvPr>
          <p:cNvSpPr>
            <a:spLocks noGrp="1"/>
          </p:cNvSpPr>
          <p:nvPr/>
        </p:nvSpPr>
        <p:spPr>
          <a:xfrm>
            <a:off x="8420100" y="2258568"/>
            <a:ext cx="3105150" cy="11430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12" name="Rectangle : coins arrondis 11">
            <a:extLst>
              <a:ext uri="{FF2B5EF4-FFF2-40B4-BE49-F238E27FC236}">
                <a16:creationId xmlns:a16="http://schemas.microsoft.com/office/drawing/2014/main" id="{01B5D687-48AB-4D74-966D-2815FC55ECFD}"/>
              </a:ext>
            </a:extLst>
          </p:cNvPr>
          <p:cNvSpPr>
            <a:spLocks noGrp="1"/>
          </p:cNvSpPr>
          <p:nvPr/>
        </p:nvSpPr>
        <p:spPr>
          <a:xfrm>
            <a:off x="8572500" y="2410968"/>
            <a:ext cx="1162050" cy="2476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 w="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039E889-660D-4CF8-898D-EE7ACDE9BB41}"/>
              </a:ext>
            </a:extLst>
          </p:cNvPr>
          <p:cNvSpPr>
            <a:spLocks noGrp="1"/>
          </p:cNvSpPr>
          <p:nvPr/>
        </p:nvSpPr>
        <p:spPr>
          <a:xfrm>
            <a:off x="8572500" y="2410968"/>
            <a:ext cx="1162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200" b="1" dirty="0">
                <a:solidFill>
                  <a:srgbClr val="FFFFFF"/>
                </a:solidFill>
              </a:rPr>
              <a:t>name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C050138-AAC8-46B8-9A90-FBFA7284F043}"/>
              </a:ext>
            </a:extLst>
          </p:cNvPr>
          <p:cNvSpPr>
            <a:spLocks noGrp="1"/>
          </p:cNvSpPr>
          <p:nvPr/>
        </p:nvSpPr>
        <p:spPr>
          <a:xfrm>
            <a:off x="8572500" y="2772918"/>
            <a:ext cx="28003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Visible name shown in the dashboard and in the details page header.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6B02FE4E-1A81-4988-AED8-C7B93572FF47}"/>
              </a:ext>
            </a:extLst>
          </p:cNvPr>
          <p:cNvSpPr>
            <a:spLocks noGrp="1"/>
          </p:cNvSpPr>
          <p:nvPr/>
        </p:nvSpPr>
        <p:spPr>
          <a:xfrm>
            <a:off x="5391150" y="4177284"/>
            <a:ext cx="2724150" cy="11430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BECEBF19-FB5E-4A33-9301-6F340CB25B35}"/>
              </a:ext>
            </a:extLst>
          </p:cNvPr>
          <p:cNvSpPr>
            <a:spLocks noGrp="1"/>
          </p:cNvSpPr>
          <p:nvPr/>
        </p:nvSpPr>
        <p:spPr>
          <a:xfrm>
            <a:off x="5543550" y="4329684"/>
            <a:ext cx="1238250" cy="247650"/>
          </a:xfrm>
          <a:prstGeom prst="roundRect">
            <a:avLst>
              <a:gd name="adj" fmla="val 50000"/>
            </a:avLst>
          </a:prstGeom>
          <a:solidFill>
            <a:srgbClr val="16803C"/>
          </a:solidFill>
          <a:ln w="0">
            <a:solidFill>
              <a:srgbClr val="1680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FCC21A4-047B-4FF0-8E9C-0A7E64E21499}"/>
              </a:ext>
            </a:extLst>
          </p:cNvPr>
          <p:cNvSpPr>
            <a:spLocks noGrp="1"/>
          </p:cNvSpPr>
          <p:nvPr/>
        </p:nvSpPr>
        <p:spPr>
          <a:xfrm>
            <a:off x="5543550" y="4329684"/>
            <a:ext cx="1238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200" b="1" dirty="0" err="1">
                <a:solidFill>
                  <a:srgbClr val="FFFFFF"/>
                </a:solidFill>
              </a:rPr>
              <a:t>dashboardListId</a:t>
            </a:r>
            <a:endParaRPr sz="1200" b="1" dirty="0">
              <a:solidFill>
                <a:srgbClr val="FFFFFF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BC423AF-FEB6-4CE1-B234-25AFF543E89E}"/>
              </a:ext>
            </a:extLst>
          </p:cNvPr>
          <p:cNvSpPr>
            <a:spLocks noGrp="1"/>
          </p:cNvSpPr>
          <p:nvPr/>
        </p:nvSpPr>
        <p:spPr>
          <a:xfrm>
            <a:off x="5543550" y="4691634"/>
            <a:ext cx="24193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 dirty="0">
                <a:solidFill>
                  <a:srgbClr val="334155"/>
                </a:solidFill>
              </a:rPr>
              <a:t>Must match the empty list container id inside the dashboard block.</a:t>
            </a:r>
          </a:p>
        </p:txBody>
      </p:sp>
      <p:sp>
        <p:nvSpPr>
          <p:cNvPr id="19" name="Rectangle : coins arrondis 18">
            <a:extLst>
              <a:ext uri="{FF2B5EF4-FFF2-40B4-BE49-F238E27FC236}">
                <a16:creationId xmlns:a16="http://schemas.microsoft.com/office/drawing/2014/main" id="{76ECA61B-8C67-4A40-97F3-30625F914414}"/>
              </a:ext>
            </a:extLst>
          </p:cNvPr>
          <p:cNvSpPr>
            <a:spLocks noGrp="1"/>
          </p:cNvSpPr>
          <p:nvPr/>
        </p:nvSpPr>
        <p:spPr>
          <a:xfrm>
            <a:off x="8420100" y="4177284"/>
            <a:ext cx="3105150" cy="11430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20" name="Rectangle : coins arrondis 19">
            <a:extLst>
              <a:ext uri="{FF2B5EF4-FFF2-40B4-BE49-F238E27FC236}">
                <a16:creationId xmlns:a16="http://schemas.microsoft.com/office/drawing/2014/main" id="{0D33EF37-1F16-4DF9-9402-5627511565AB}"/>
              </a:ext>
            </a:extLst>
          </p:cNvPr>
          <p:cNvSpPr>
            <a:spLocks noGrp="1"/>
          </p:cNvSpPr>
          <p:nvPr/>
        </p:nvSpPr>
        <p:spPr>
          <a:xfrm>
            <a:off x="8572500" y="4329684"/>
            <a:ext cx="1162050" cy="24765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 w="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8A2B9FB-69AF-4A0B-843C-4E9CDE5DA358}"/>
              </a:ext>
            </a:extLst>
          </p:cNvPr>
          <p:cNvSpPr>
            <a:spLocks noGrp="1"/>
          </p:cNvSpPr>
          <p:nvPr/>
        </p:nvSpPr>
        <p:spPr>
          <a:xfrm>
            <a:off x="8572500" y="4329684"/>
            <a:ext cx="1162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200" b="1" dirty="0" err="1">
                <a:solidFill>
                  <a:srgbClr val="FFFFFF"/>
                </a:solidFill>
              </a:rPr>
              <a:t>jsonPath</a:t>
            </a:r>
            <a:endParaRPr sz="1200" b="1" dirty="0">
              <a:solidFill>
                <a:srgbClr val="FFFFFF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A26F69E-37AA-491D-8C75-FE16A0F15306}"/>
              </a:ext>
            </a:extLst>
          </p:cNvPr>
          <p:cNvSpPr>
            <a:spLocks noGrp="1"/>
          </p:cNvSpPr>
          <p:nvPr/>
        </p:nvSpPr>
        <p:spPr>
          <a:xfrm>
            <a:off x="8572500" y="4691634"/>
            <a:ext cx="28003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Path to the single main JSON file for this project.</a:t>
            </a:r>
          </a:p>
        </p:txBody>
      </p:sp>
      <p:sp>
        <p:nvSpPr>
          <p:cNvPr id="23" name="Rectangle : coins arrondis 22">
            <a:extLst>
              <a:ext uri="{FF2B5EF4-FFF2-40B4-BE49-F238E27FC236}">
                <a16:creationId xmlns:a16="http://schemas.microsoft.com/office/drawing/2014/main" id="{C56F445E-6F04-4A0F-9143-2540B8764046}"/>
              </a:ext>
            </a:extLst>
          </p:cNvPr>
          <p:cNvSpPr>
            <a:spLocks noGrp="1"/>
          </p:cNvSpPr>
          <p:nvPr/>
        </p:nvSpPr>
        <p:spPr>
          <a:xfrm>
            <a:off x="3031998" y="5971794"/>
            <a:ext cx="6305550" cy="381000"/>
          </a:xfrm>
          <a:prstGeom prst="roundRect">
            <a:avLst>
              <a:gd name="adj" fmla="val 18182"/>
            </a:avLst>
          </a:prstGeom>
          <a:solidFill>
            <a:srgbClr val="EBFBF1"/>
          </a:solidFill>
          <a:ln w="9525">
            <a:solidFill>
              <a:srgbClr val="A7F3D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BF803A6-21E9-4065-B274-D6316EEAF4FC}"/>
              </a:ext>
            </a:extLst>
          </p:cNvPr>
          <p:cNvSpPr>
            <a:spLocks noGrp="1"/>
          </p:cNvSpPr>
          <p:nvPr/>
        </p:nvSpPr>
        <p:spPr>
          <a:xfrm>
            <a:off x="3355848" y="6105144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rmAutofit fontScale="55119" lnSpcReduction="20000"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endParaRPr sz="1050" b="1" dirty="0">
              <a:solidFill>
                <a:srgbClr val="FFFFFF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5BA3CAA-7629-4200-B7E9-806124B38E43}"/>
              </a:ext>
            </a:extLst>
          </p:cNvPr>
          <p:cNvSpPr>
            <a:spLocks noGrp="1"/>
          </p:cNvSpPr>
          <p:nvPr/>
        </p:nvSpPr>
        <p:spPr>
          <a:xfrm>
            <a:off x="3143250" y="6076950"/>
            <a:ext cx="6087618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1E293B"/>
                </a:solidFill>
              </a:defRPr>
            </a:pPr>
            <a:r>
              <a:rPr sz="1200" b="0" dirty="0">
                <a:solidFill>
                  <a:srgbClr val="1E293B"/>
                </a:solidFill>
              </a:rPr>
              <a:t>When you add a new vessel or project later, this is usually the only JavaScript file you need to edit.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E5D556A-C9AC-4B59-9486-6D63B475C9D2}"/>
              </a:ext>
            </a:extLst>
          </p:cNvPr>
          <p:cNvSpPr>
            <a:spLocks noGrp="1"/>
          </p:cNvSpPr>
          <p:nvPr/>
        </p:nvSpPr>
        <p:spPr>
          <a:xfrm>
            <a:off x="571500" y="6534150"/>
            <a:ext cx="3048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Data Hub guide - new vessel workflow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4469773-1725-4EFF-A9FB-A2BF1EFABAFD}"/>
              </a:ext>
            </a:extLst>
          </p:cNvPr>
          <p:cNvSpPr>
            <a:spLocks noGrp="1"/>
          </p:cNvSpPr>
          <p:nvPr/>
        </p:nvSpPr>
        <p:spPr>
          <a:xfrm>
            <a:off x="11144250" y="6496050"/>
            <a:ext cx="38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4730213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2E3B439-DA13-C7D9-1390-6976E20D76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 : coins arrondis 32">
            <a:extLst>
              <a:ext uri="{FF2B5EF4-FFF2-40B4-BE49-F238E27FC236}">
                <a16:creationId xmlns:a16="http://schemas.microsoft.com/office/drawing/2014/main" id="{6284C0D8-9569-6B92-3C4E-1CA94E5F0531}"/>
              </a:ext>
            </a:extLst>
          </p:cNvPr>
          <p:cNvSpPr>
            <a:spLocks noGrp="1"/>
          </p:cNvSpPr>
          <p:nvPr/>
        </p:nvSpPr>
        <p:spPr>
          <a:xfrm>
            <a:off x="571500" y="425958"/>
            <a:ext cx="1619250" cy="285750"/>
          </a:xfrm>
          <a:prstGeom prst="roundRect">
            <a:avLst>
              <a:gd name="adj" fmla="val 50000"/>
            </a:avLst>
          </a:prstGeom>
          <a:solidFill>
            <a:srgbClr val="2553D6"/>
          </a:solidFill>
          <a:ln w="0">
            <a:solidFill>
              <a:srgbClr val="2553D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CE0F281-E10E-DED8-6897-CA5BCED9B344}"/>
              </a:ext>
            </a:extLst>
          </p:cNvPr>
          <p:cNvSpPr>
            <a:spLocks noGrp="1"/>
          </p:cNvSpPr>
          <p:nvPr/>
        </p:nvSpPr>
        <p:spPr>
          <a:xfrm>
            <a:off x="571500" y="444246"/>
            <a:ext cx="161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rmAutofit fontScale="90833" lnSpcReduction="20000"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 dirty="0">
                <a:solidFill>
                  <a:srgbClr val="FFFFFF"/>
                </a:solidFill>
              </a:rPr>
              <a:t>BUILD STEP </a:t>
            </a:r>
            <a:r>
              <a:rPr lang="fr-FR" sz="1050" b="1" dirty="0">
                <a:solidFill>
                  <a:srgbClr val="FFFFFF"/>
                </a:solidFill>
              </a:rPr>
              <a:t>5</a:t>
            </a:r>
            <a:endParaRPr sz="1050" b="1" dirty="0">
              <a:solidFill>
                <a:srgbClr val="FFFFFF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D90E3D4-4318-2BFB-DFAC-C426879BD41A}"/>
              </a:ext>
            </a:extLst>
          </p:cNvPr>
          <p:cNvSpPr>
            <a:spLocks noGrp="1"/>
          </p:cNvSpPr>
          <p:nvPr/>
        </p:nvSpPr>
        <p:spPr>
          <a:xfrm>
            <a:off x="571500" y="862584"/>
            <a:ext cx="11049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000" b="1">
                <a:solidFill>
                  <a:srgbClr val="0F172A"/>
                </a:solidFill>
              </a:defRPr>
            </a:pPr>
            <a:r>
              <a:rPr sz="3000" b="1" dirty="0">
                <a:solidFill>
                  <a:srgbClr val="0F172A"/>
                </a:solidFill>
              </a:rPr>
              <a:t>Register the </a:t>
            </a:r>
            <a:r>
              <a:rPr lang="fr-FR" sz="3000" b="1" dirty="0">
                <a:solidFill>
                  <a:srgbClr val="0F172A"/>
                </a:solidFill>
              </a:rPr>
              <a:t>block</a:t>
            </a:r>
            <a:r>
              <a:rPr sz="3000" b="1" dirty="0">
                <a:solidFill>
                  <a:srgbClr val="0F172A"/>
                </a:solidFill>
              </a:rPr>
              <a:t> once in </a:t>
            </a:r>
            <a:r>
              <a:rPr lang="fr-FR" sz="3000" b="1" dirty="0" err="1">
                <a:solidFill>
                  <a:srgbClr val="0F172A"/>
                </a:solidFill>
              </a:rPr>
              <a:t>dashboard-projects</a:t>
            </a:r>
            <a:r>
              <a:rPr sz="3000" b="1" dirty="0">
                <a:solidFill>
                  <a:srgbClr val="0F172A"/>
                </a:solidFill>
              </a:rPr>
              <a:t>.js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8F4CFB5-8B17-B5FF-214A-F5FBF2DA9B25}"/>
              </a:ext>
            </a:extLst>
          </p:cNvPr>
          <p:cNvSpPr>
            <a:spLocks noGrp="1"/>
          </p:cNvSpPr>
          <p:nvPr/>
        </p:nvSpPr>
        <p:spPr>
          <a:xfrm>
            <a:off x="571500" y="1400556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475569"/>
                </a:solidFill>
              </a:defRPr>
            </a:pPr>
            <a:r>
              <a:rPr sz="1350" b="0" dirty="0">
                <a:solidFill>
                  <a:srgbClr val="475569"/>
                </a:solidFill>
              </a:rPr>
              <a:t>This is</a:t>
            </a:r>
            <a:r>
              <a:rPr lang="fr-FR" sz="1350" b="0" dirty="0">
                <a:solidFill>
                  <a:srgbClr val="475569"/>
                </a:solidFill>
              </a:rPr>
              <a:t> to show the block in the main index.html</a:t>
            </a:r>
            <a:endParaRPr sz="1350" b="0" dirty="0">
              <a:solidFill>
                <a:srgbClr val="475569"/>
              </a:solidFill>
            </a:endParaRP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5077405A-F235-4C4C-D75F-D31E1D199366}"/>
              </a:ext>
            </a:extLst>
          </p:cNvPr>
          <p:cNvSpPr>
            <a:spLocks noGrp="1"/>
          </p:cNvSpPr>
          <p:nvPr/>
        </p:nvSpPr>
        <p:spPr>
          <a:xfrm>
            <a:off x="745671" y="2258568"/>
            <a:ext cx="4476750" cy="3086100"/>
          </a:xfrm>
          <a:prstGeom prst="roundRect">
            <a:avLst>
              <a:gd name="adj" fmla="val 493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D96AF3E-F8A4-3D1D-6BDE-18AA1A6D066F}"/>
              </a:ext>
            </a:extLst>
          </p:cNvPr>
          <p:cNvSpPr>
            <a:spLocks noGrp="1"/>
          </p:cNvSpPr>
          <p:nvPr/>
        </p:nvSpPr>
        <p:spPr>
          <a:xfrm>
            <a:off x="917121" y="2410968"/>
            <a:ext cx="4133850" cy="2781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r>
              <a:rPr lang="fr-FR" dirty="0">
                <a:solidFill>
                  <a:schemeClr val="bg1"/>
                </a:solidFill>
              </a:rPr>
              <a:t>(</a:t>
            </a:r>
            <a:r>
              <a:rPr lang="fr-FR" dirty="0" err="1">
                <a:solidFill>
                  <a:schemeClr val="bg1"/>
                </a:solidFill>
              </a:rPr>
              <a:t>function</a:t>
            </a:r>
            <a:r>
              <a:rPr lang="fr-FR" dirty="0">
                <a:solidFill>
                  <a:schemeClr val="bg1"/>
                </a:solidFill>
              </a:rPr>
              <a:t> () {</a:t>
            </a:r>
          </a:p>
          <a:p>
            <a:r>
              <a:rPr lang="fr-FR" dirty="0">
                <a:solidFill>
                  <a:schemeClr val="bg1"/>
                </a:solidFill>
              </a:rPr>
              <a:t>  </a:t>
            </a:r>
            <a:r>
              <a:rPr lang="fr-FR" dirty="0" err="1">
                <a:solidFill>
                  <a:schemeClr val="bg1"/>
                </a:solidFill>
              </a:rPr>
              <a:t>const</a:t>
            </a:r>
            <a:r>
              <a:rPr lang="fr-FR" dirty="0">
                <a:solidFill>
                  <a:schemeClr val="bg1"/>
                </a:solidFill>
              </a:rPr>
              <a:t> BLOCK_FILES = [</a:t>
            </a:r>
          </a:p>
          <a:p>
            <a:r>
              <a:rPr lang="fr-FR" dirty="0">
                <a:solidFill>
                  <a:schemeClr val="bg1"/>
                </a:solidFill>
              </a:rPr>
              <a:t>    "Blocs/Rina_blocs.html",</a:t>
            </a:r>
          </a:p>
          <a:p>
            <a:r>
              <a:rPr lang="fr-FR" dirty="0">
                <a:solidFill>
                  <a:schemeClr val="bg1"/>
                </a:solidFill>
              </a:rPr>
              <a:t>    "Blocs/Gunnerus_blocs.html",</a:t>
            </a:r>
          </a:p>
          <a:p>
            <a:r>
              <a:rPr lang="fr-FR" dirty="0">
                <a:solidFill>
                  <a:schemeClr val="bg1"/>
                </a:solidFill>
              </a:rPr>
              <a:t>    "Blocs/Exemple_bloc.html"</a:t>
            </a:r>
          </a:p>
          <a:p>
            <a:r>
              <a:rPr lang="fr-FR" dirty="0">
                <a:solidFill>
                  <a:schemeClr val="bg1"/>
                </a:solidFill>
              </a:rPr>
              <a:t>  ];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1C58CCD1-7ED9-B481-A54E-A7C774D9E4F3}"/>
              </a:ext>
            </a:extLst>
          </p:cNvPr>
          <p:cNvSpPr>
            <a:spLocks noGrp="1"/>
          </p:cNvSpPr>
          <p:nvPr/>
        </p:nvSpPr>
        <p:spPr>
          <a:xfrm>
            <a:off x="6465207" y="2693198"/>
            <a:ext cx="4853214" cy="2182803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8D9CE0B7-147A-4DC2-2215-608B0DE3295B}"/>
              </a:ext>
            </a:extLst>
          </p:cNvPr>
          <p:cNvSpPr>
            <a:spLocks noGrp="1"/>
          </p:cNvSpPr>
          <p:nvPr/>
        </p:nvSpPr>
        <p:spPr>
          <a:xfrm>
            <a:off x="6617606" y="2845598"/>
            <a:ext cx="2070252" cy="582381"/>
          </a:xfrm>
          <a:prstGeom prst="roundRect">
            <a:avLst>
              <a:gd name="adj" fmla="val 50000"/>
            </a:avLst>
          </a:prstGeom>
          <a:solidFill>
            <a:srgbClr val="2553D6"/>
          </a:solidFill>
          <a:ln w="0">
            <a:solidFill>
              <a:srgbClr val="2553D6"/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C71C816-6A70-9881-3DD0-3412AE988BE5}"/>
              </a:ext>
            </a:extLst>
          </p:cNvPr>
          <p:cNvSpPr>
            <a:spLocks noGrp="1"/>
          </p:cNvSpPr>
          <p:nvPr/>
        </p:nvSpPr>
        <p:spPr>
          <a:xfrm>
            <a:off x="6617606" y="2845598"/>
            <a:ext cx="2070252" cy="58238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lang="fr-FR" sz="2000" b="1" dirty="0">
                <a:solidFill>
                  <a:srgbClr val="FFFFFF"/>
                </a:solidFill>
              </a:rPr>
              <a:t>Path</a:t>
            </a:r>
            <a:r>
              <a:rPr lang="fr-FR" sz="1200" b="1" dirty="0">
                <a:solidFill>
                  <a:srgbClr val="FFFFFF"/>
                </a:solidFill>
              </a:rPr>
              <a:t> </a:t>
            </a:r>
            <a:endParaRPr sz="1200" b="1" dirty="0">
              <a:solidFill>
                <a:srgbClr val="FFFFFF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21E1B31-7947-C061-9DF6-47B3D23BBA20}"/>
              </a:ext>
            </a:extLst>
          </p:cNvPr>
          <p:cNvSpPr>
            <a:spLocks noGrp="1"/>
          </p:cNvSpPr>
          <p:nvPr/>
        </p:nvSpPr>
        <p:spPr>
          <a:xfrm>
            <a:off x="6850743" y="3516081"/>
            <a:ext cx="4310197" cy="116476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lang="fr-FR" sz="1500" b="0" dirty="0">
                <a:solidFill>
                  <a:srgbClr val="334155"/>
                </a:solidFill>
              </a:rPr>
              <a:t>Just </a:t>
            </a:r>
            <a:r>
              <a:rPr lang="fr-FR" sz="1500" b="0" dirty="0" err="1">
                <a:solidFill>
                  <a:srgbClr val="334155"/>
                </a:solidFill>
              </a:rPr>
              <a:t>add</a:t>
            </a:r>
            <a:r>
              <a:rPr lang="fr-FR" sz="1500" b="0" dirty="0">
                <a:solidFill>
                  <a:srgbClr val="334155"/>
                </a:solidFill>
              </a:rPr>
              <a:t> the </a:t>
            </a:r>
            <a:r>
              <a:rPr lang="fr-FR" sz="1500" b="0" dirty="0" err="1">
                <a:solidFill>
                  <a:srgbClr val="334155"/>
                </a:solidFill>
              </a:rPr>
              <a:t>path</a:t>
            </a:r>
            <a:r>
              <a:rPr lang="fr-FR" sz="1500" b="0" dirty="0">
                <a:solidFill>
                  <a:srgbClr val="334155"/>
                </a:solidFill>
              </a:rPr>
              <a:t> to </a:t>
            </a:r>
            <a:r>
              <a:rPr lang="fr-FR" sz="1500" b="0" dirty="0" err="1">
                <a:solidFill>
                  <a:srgbClr val="334155"/>
                </a:solidFill>
              </a:rPr>
              <a:t>you</a:t>
            </a:r>
            <a:r>
              <a:rPr lang="fr-FR" sz="1500" dirty="0" err="1">
                <a:solidFill>
                  <a:srgbClr val="334155"/>
                </a:solidFill>
              </a:rPr>
              <a:t>r</a:t>
            </a:r>
            <a:r>
              <a:rPr lang="fr-FR" sz="1500" dirty="0">
                <a:solidFill>
                  <a:srgbClr val="334155"/>
                </a:solidFill>
              </a:rPr>
              <a:t> html bloc. </a:t>
            </a:r>
            <a:endParaRPr sz="1500" b="0" dirty="0">
              <a:solidFill>
                <a:srgbClr val="334155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6089AE1-4189-9F62-146A-248AD3F93B5B}"/>
              </a:ext>
            </a:extLst>
          </p:cNvPr>
          <p:cNvSpPr>
            <a:spLocks noGrp="1"/>
          </p:cNvSpPr>
          <p:nvPr/>
        </p:nvSpPr>
        <p:spPr>
          <a:xfrm>
            <a:off x="571500" y="6534150"/>
            <a:ext cx="3048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Data Hub guide - new vessel workflow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8F6DD1F-D81D-913C-165B-6BB8D1F41D74}"/>
              </a:ext>
            </a:extLst>
          </p:cNvPr>
          <p:cNvSpPr>
            <a:spLocks noGrp="1"/>
          </p:cNvSpPr>
          <p:nvPr/>
        </p:nvSpPr>
        <p:spPr>
          <a:xfrm>
            <a:off x="11144250" y="6496050"/>
            <a:ext cx="38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5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702BEFE-8DE0-29C6-0E3F-0D4FFD1F1685}"/>
              </a:ext>
            </a:extLst>
          </p:cNvPr>
          <p:cNvSpPr/>
          <p:nvPr/>
        </p:nvSpPr>
        <p:spPr>
          <a:xfrm>
            <a:off x="898071" y="3543300"/>
            <a:ext cx="2895600" cy="241300"/>
          </a:xfrm>
          <a:prstGeom prst="rect">
            <a:avLst/>
          </a:pr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906258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8632CCF5-8DD9-45C1-B944-8E9FB7AF9785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619250" cy="285750"/>
          </a:xfrm>
          <a:prstGeom prst="roundRect">
            <a:avLst>
              <a:gd name="adj" fmla="val 50000"/>
            </a:avLst>
          </a:prstGeom>
          <a:solidFill>
            <a:srgbClr val="16803C"/>
          </a:solidFill>
          <a:ln w="0">
            <a:solidFill>
              <a:srgbClr val="1680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5596445-8715-4F87-BAA7-753D327F4124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61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rmAutofit fontScale="90833" lnSpcReduction="20000"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REFERENCE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49B2C93-F1A3-4330-93DD-98A1F4870E1C}"/>
              </a:ext>
            </a:extLst>
          </p:cNvPr>
          <p:cNvSpPr>
            <a:spLocks noGrp="1"/>
          </p:cNvSpPr>
          <p:nvPr/>
        </p:nvSpPr>
        <p:spPr>
          <a:xfrm>
            <a:off x="571500" y="762000"/>
            <a:ext cx="11049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000" b="1">
                <a:solidFill>
                  <a:srgbClr val="0F172A"/>
                </a:solidFill>
              </a:defRPr>
            </a:pPr>
            <a:r>
              <a:rPr sz="3000" b="1">
                <a:solidFill>
                  <a:srgbClr val="0F172A"/>
                </a:solidFill>
              </a:rPr>
              <a:t>DNV_path controls the right side and location controls the left side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7EAF97-FA5C-47B0-87FC-DCB7A037B1D4}"/>
              </a:ext>
            </a:extLst>
          </p:cNvPr>
          <p:cNvSpPr>
            <a:spLocks noGrp="1"/>
          </p:cNvSpPr>
          <p:nvPr/>
        </p:nvSpPr>
        <p:spPr>
          <a:xfrm>
            <a:off x="571500" y="1235964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475569"/>
                </a:solidFill>
              </a:defRPr>
            </a:pPr>
            <a:r>
              <a:rPr sz="1350" b="0" dirty="0">
                <a:solidFill>
                  <a:srgbClr val="475569"/>
                </a:solidFill>
              </a:rPr>
              <a:t>These two fields connect one JSON object to both parts of the page.</a:t>
            </a: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EA819926-948A-4865-8E6F-6DFBAD5E4688}"/>
              </a:ext>
            </a:extLst>
          </p:cNvPr>
          <p:cNvSpPr>
            <a:spLocks noGrp="1"/>
          </p:cNvSpPr>
          <p:nvPr/>
        </p:nvSpPr>
        <p:spPr>
          <a:xfrm>
            <a:off x="571500" y="1973580"/>
            <a:ext cx="7239000" cy="373380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pic>
        <p:nvPicPr>
          <p:cNvPr id="30" name="Image 29"/>
          <p:cNvPicPr>
            <a:picLocks noChangeAspect="1"/>
          </p:cNvPicPr>
          <p:nvPr/>
        </p:nvPicPr>
        <p:blipFill>
          <a:blip r:embed="rId3"/>
          <a:srcRect t="6292" b="6292"/>
          <a:stretch>
            <a:fillRect/>
          </a:stretch>
        </p:blipFill>
        <p:spPr>
          <a:xfrm>
            <a:off x="742950" y="2145030"/>
            <a:ext cx="6896100" cy="3390900"/>
          </a:xfrm>
          <a:prstGeom prst="roundRect">
            <a:avLst>
              <a:gd name="adj" fmla="val 4494"/>
            </a:avLst>
          </a:prstGeom>
        </p:spPr>
      </p:pic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97F68AD6-2AAE-4526-BDB9-7FB6824AB04A}"/>
              </a:ext>
            </a:extLst>
          </p:cNvPr>
          <p:cNvSpPr>
            <a:spLocks noGrp="1"/>
          </p:cNvSpPr>
          <p:nvPr/>
        </p:nvSpPr>
        <p:spPr>
          <a:xfrm>
            <a:off x="8096250" y="1790700"/>
            <a:ext cx="3429000" cy="895350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0E21E4F4-12E6-47C4-98DC-CEB6BEB7D4BF}"/>
              </a:ext>
            </a:extLst>
          </p:cNvPr>
          <p:cNvSpPr>
            <a:spLocks noGrp="1"/>
          </p:cNvSpPr>
          <p:nvPr/>
        </p:nvSpPr>
        <p:spPr>
          <a:xfrm>
            <a:off x="8248650" y="1943100"/>
            <a:ext cx="1162050" cy="247650"/>
          </a:xfrm>
          <a:prstGeom prst="roundRect">
            <a:avLst>
              <a:gd name="adj" fmla="val 50000"/>
            </a:avLst>
          </a:prstGeom>
          <a:solidFill>
            <a:srgbClr val="2553D6"/>
          </a:solidFill>
          <a:ln w="0">
            <a:solidFill>
              <a:srgbClr val="2553D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FE76EDB-78DB-4BA2-894B-A21024DCBF12}"/>
              </a:ext>
            </a:extLst>
          </p:cNvPr>
          <p:cNvSpPr>
            <a:spLocks noGrp="1"/>
          </p:cNvSpPr>
          <p:nvPr/>
        </p:nvSpPr>
        <p:spPr>
          <a:xfrm>
            <a:off x="8248650" y="1943100"/>
            <a:ext cx="1162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00" b="1" dirty="0">
                <a:solidFill>
                  <a:srgbClr val="FFFFFF"/>
                </a:solidFill>
              </a:rPr>
              <a:t>location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EBCBCCD-C76D-4EEF-86BE-DFC1AC4331E3}"/>
              </a:ext>
            </a:extLst>
          </p:cNvPr>
          <p:cNvSpPr>
            <a:spLocks noGrp="1"/>
          </p:cNvSpPr>
          <p:nvPr/>
        </p:nvSpPr>
        <p:spPr>
          <a:xfrm>
            <a:off x="8248650" y="2305050"/>
            <a:ext cx="31242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3734" lnSpcReduction="20000"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Groups the entry in the left accordion. Example: hull, engine, crane, wind.</a:t>
            </a: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E96E2973-D54E-428A-8F3F-237384BD90C9}"/>
              </a:ext>
            </a:extLst>
          </p:cNvPr>
          <p:cNvSpPr>
            <a:spLocks noGrp="1"/>
          </p:cNvSpPr>
          <p:nvPr/>
        </p:nvSpPr>
        <p:spPr>
          <a:xfrm>
            <a:off x="8096250" y="2857500"/>
            <a:ext cx="3429000" cy="895350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12" name="Rectangle : coins arrondis 11">
            <a:extLst>
              <a:ext uri="{FF2B5EF4-FFF2-40B4-BE49-F238E27FC236}">
                <a16:creationId xmlns:a16="http://schemas.microsoft.com/office/drawing/2014/main" id="{AFC47360-E945-4433-99B0-6F953EF34E30}"/>
              </a:ext>
            </a:extLst>
          </p:cNvPr>
          <p:cNvSpPr>
            <a:spLocks noGrp="1"/>
          </p:cNvSpPr>
          <p:nvPr/>
        </p:nvSpPr>
        <p:spPr>
          <a:xfrm>
            <a:off x="8248650" y="3009900"/>
            <a:ext cx="1162050" cy="247650"/>
          </a:xfrm>
          <a:prstGeom prst="roundRect">
            <a:avLst>
              <a:gd name="adj" fmla="val 50000"/>
            </a:avLst>
          </a:prstGeom>
          <a:solidFill>
            <a:srgbClr val="16803C"/>
          </a:solidFill>
          <a:ln w="0">
            <a:solidFill>
              <a:srgbClr val="1680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2FC4ED7-8786-415D-91A6-09E5C235F7A2}"/>
              </a:ext>
            </a:extLst>
          </p:cNvPr>
          <p:cNvSpPr>
            <a:spLocks noGrp="1"/>
          </p:cNvSpPr>
          <p:nvPr/>
        </p:nvSpPr>
        <p:spPr>
          <a:xfrm>
            <a:off x="8248650" y="3009900"/>
            <a:ext cx="1162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00" b="1" dirty="0" err="1">
                <a:solidFill>
                  <a:srgbClr val="FFFFFF"/>
                </a:solidFill>
              </a:rPr>
              <a:t>DNV_path</a:t>
            </a:r>
            <a:endParaRPr sz="1000" b="1" dirty="0">
              <a:solidFill>
                <a:srgbClr val="FFFFFF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7C1F6F8-CDAF-46E6-92BE-933D43972144}"/>
              </a:ext>
            </a:extLst>
          </p:cNvPr>
          <p:cNvSpPr>
            <a:spLocks noGrp="1"/>
          </p:cNvSpPr>
          <p:nvPr/>
        </p:nvSpPr>
        <p:spPr>
          <a:xfrm>
            <a:off x="8248650" y="3371850"/>
            <a:ext cx="31242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5216"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Places the same entry on the right if the path is valid.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C14AA3B5-5657-46B5-AC8A-E16B4DB67649}"/>
              </a:ext>
            </a:extLst>
          </p:cNvPr>
          <p:cNvSpPr>
            <a:spLocks noGrp="1"/>
          </p:cNvSpPr>
          <p:nvPr/>
        </p:nvSpPr>
        <p:spPr>
          <a:xfrm>
            <a:off x="8096250" y="3924300"/>
            <a:ext cx="3429000" cy="895350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E2DC61A9-1E1D-447B-88D0-C6011616ECCC}"/>
              </a:ext>
            </a:extLst>
          </p:cNvPr>
          <p:cNvSpPr>
            <a:spLocks noGrp="1"/>
          </p:cNvSpPr>
          <p:nvPr/>
        </p:nvSpPr>
        <p:spPr>
          <a:xfrm>
            <a:off x="8248650" y="4076700"/>
            <a:ext cx="1162050" cy="2476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 w="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F165BF1-D566-4079-BDAC-43DA080AB27E}"/>
              </a:ext>
            </a:extLst>
          </p:cNvPr>
          <p:cNvSpPr>
            <a:spLocks noGrp="1"/>
          </p:cNvSpPr>
          <p:nvPr/>
        </p:nvSpPr>
        <p:spPr>
          <a:xfrm>
            <a:off x="8248650" y="4076700"/>
            <a:ext cx="1162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00" b="1" dirty="0">
                <a:solidFill>
                  <a:srgbClr val="FFFFFF"/>
                </a:solidFill>
              </a:rPr>
              <a:t>Green tag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2DA188F-C095-4062-8E05-A1B5452A0091}"/>
              </a:ext>
            </a:extLst>
          </p:cNvPr>
          <p:cNvSpPr>
            <a:spLocks noGrp="1"/>
          </p:cNvSpPr>
          <p:nvPr/>
        </p:nvSpPr>
        <p:spPr>
          <a:xfrm>
            <a:off x="8248650" y="4438650"/>
            <a:ext cx="31242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1897" lnSpcReduction="10000"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Shows the mapped value and keeps the source clickable.</a:t>
            </a:r>
          </a:p>
        </p:txBody>
      </p:sp>
      <p:sp>
        <p:nvSpPr>
          <p:cNvPr id="19" name="Rectangle : coins arrondis 18">
            <a:extLst>
              <a:ext uri="{FF2B5EF4-FFF2-40B4-BE49-F238E27FC236}">
                <a16:creationId xmlns:a16="http://schemas.microsoft.com/office/drawing/2014/main" id="{CD093144-676C-4EE4-A7D5-C0E64958D416}"/>
              </a:ext>
            </a:extLst>
          </p:cNvPr>
          <p:cNvSpPr>
            <a:spLocks noGrp="1"/>
          </p:cNvSpPr>
          <p:nvPr/>
        </p:nvSpPr>
        <p:spPr>
          <a:xfrm>
            <a:off x="8096250" y="4991100"/>
            <a:ext cx="3429000" cy="895350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20" name="Rectangle : coins arrondis 19">
            <a:extLst>
              <a:ext uri="{FF2B5EF4-FFF2-40B4-BE49-F238E27FC236}">
                <a16:creationId xmlns:a16="http://schemas.microsoft.com/office/drawing/2014/main" id="{8668711C-3D66-4D32-8181-97BA72184FFA}"/>
              </a:ext>
            </a:extLst>
          </p:cNvPr>
          <p:cNvSpPr>
            <a:spLocks noGrp="1"/>
          </p:cNvSpPr>
          <p:nvPr/>
        </p:nvSpPr>
        <p:spPr>
          <a:xfrm>
            <a:off x="8248650" y="5143500"/>
            <a:ext cx="1162050" cy="24765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 w="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2BD0899-5269-4BCD-8D32-1A719A8CC67A}"/>
              </a:ext>
            </a:extLst>
          </p:cNvPr>
          <p:cNvSpPr>
            <a:spLocks noGrp="1"/>
          </p:cNvSpPr>
          <p:nvPr/>
        </p:nvSpPr>
        <p:spPr>
          <a:xfrm>
            <a:off x="8248650" y="5143500"/>
            <a:ext cx="1162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00" b="1" dirty="0">
                <a:solidFill>
                  <a:srgbClr val="FFFFFF"/>
                </a:solidFill>
              </a:rPr>
              <a:t>Show in DNV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D5E09B8-D770-464D-ADED-A068C0093D7D}"/>
              </a:ext>
            </a:extLst>
          </p:cNvPr>
          <p:cNvSpPr>
            <a:spLocks noGrp="1"/>
          </p:cNvSpPr>
          <p:nvPr/>
        </p:nvSpPr>
        <p:spPr>
          <a:xfrm>
            <a:off x="8248650" y="5505450"/>
            <a:ext cx="31242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1122" lnSpcReduction="20000"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Scrolls the user to the correct mapped node from the left side.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1C2A300-0428-49F0-975D-71FB989F8603}"/>
              </a:ext>
            </a:extLst>
          </p:cNvPr>
          <p:cNvSpPr>
            <a:spLocks noGrp="1"/>
          </p:cNvSpPr>
          <p:nvPr/>
        </p:nvSpPr>
        <p:spPr>
          <a:xfrm>
            <a:off x="571500" y="6534150"/>
            <a:ext cx="3048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Data Hub guide - new vessel workflow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B659BFC-BABA-42A4-ACF0-05A0112D3DBC}"/>
              </a:ext>
            </a:extLst>
          </p:cNvPr>
          <p:cNvSpPr>
            <a:spLocks noGrp="1"/>
          </p:cNvSpPr>
          <p:nvPr/>
        </p:nvSpPr>
        <p:spPr>
          <a:xfrm>
            <a:off x="11144250" y="6496050"/>
            <a:ext cx="38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1">
                <a:solidFill>
                  <a:srgbClr val="64748B"/>
                </a:solidFill>
              </a:defRPr>
            </a:pPr>
            <a:r>
              <a:rPr lang="fr-FR" sz="900" b="1" dirty="0">
                <a:solidFill>
                  <a:srgbClr val="64748B"/>
                </a:solidFill>
              </a:rPr>
              <a:t>9</a:t>
            </a:r>
            <a:endParaRPr sz="900" b="1" dirty="0">
              <a:solidFill>
                <a:srgbClr val="64748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2786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4759DB67-BE25-472F-9758-E1330E6754B2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619250" cy="2857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 w="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73E6EAF-D1CA-4D22-93B1-DC0CFE149820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61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rmAutofit fontScale="90833" lnSpcReduction="20000"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RESULT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FA3E7F9-22BD-4521-9B8D-F0980EFB7E15}"/>
              </a:ext>
            </a:extLst>
          </p:cNvPr>
          <p:cNvSpPr>
            <a:spLocks noGrp="1"/>
          </p:cNvSpPr>
          <p:nvPr/>
        </p:nvSpPr>
        <p:spPr>
          <a:xfrm>
            <a:off x="571500" y="762000"/>
            <a:ext cx="11049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000" b="1">
                <a:solidFill>
                  <a:srgbClr val="0F172A"/>
                </a:solidFill>
              </a:defRPr>
            </a:pPr>
            <a:r>
              <a:rPr sz="3000" b="1">
                <a:solidFill>
                  <a:srgbClr val="0F172A"/>
                </a:solidFill>
              </a:rPr>
              <a:t>If the JSON is clean, the page builds itself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585ED02-F122-4C42-BFEB-FBD28FF8EB59}"/>
              </a:ext>
            </a:extLst>
          </p:cNvPr>
          <p:cNvSpPr>
            <a:spLocks noGrp="1"/>
          </p:cNvSpPr>
          <p:nvPr/>
        </p:nvSpPr>
        <p:spPr>
          <a:xfrm>
            <a:off x="571500" y="122682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475569"/>
                </a:solidFill>
              </a:defRPr>
            </a:pPr>
            <a:r>
              <a:rPr sz="1350" b="0" dirty="0">
                <a:solidFill>
                  <a:srgbClr val="475569"/>
                </a:solidFill>
              </a:rPr>
              <a:t>The shared scripts are generic. The content changes, but the workflow stays the same.</a:t>
            </a: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1C45C687-74AB-493F-ADDF-1BC4EBB328EB}"/>
              </a:ext>
            </a:extLst>
          </p:cNvPr>
          <p:cNvSpPr>
            <a:spLocks noGrp="1"/>
          </p:cNvSpPr>
          <p:nvPr/>
        </p:nvSpPr>
        <p:spPr>
          <a:xfrm>
            <a:off x="571500" y="2028444"/>
            <a:ext cx="5334000" cy="3390900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pic>
        <p:nvPicPr>
          <p:cNvPr id="30" name="Image 29"/>
          <p:cNvPicPr>
            <a:picLocks noChangeAspect="1"/>
          </p:cNvPicPr>
          <p:nvPr/>
        </p:nvPicPr>
        <p:blipFill>
          <a:blip r:embed="rId3"/>
          <a:srcRect l="3945" r="3945"/>
          <a:stretch>
            <a:fillRect/>
          </a:stretch>
        </p:blipFill>
        <p:spPr>
          <a:xfrm>
            <a:off x="742950" y="2199894"/>
            <a:ext cx="4991100" cy="3048000"/>
          </a:xfrm>
          <a:prstGeom prst="roundRect">
            <a:avLst>
              <a:gd name="adj" fmla="val 5000"/>
            </a:avLst>
          </a:prstGeom>
        </p:spPr>
      </p:pic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6AEA4E6F-888F-456E-8C3C-E002EB73C3C7}"/>
              </a:ext>
            </a:extLst>
          </p:cNvPr>
          <p:cNvSpPr>
            <a:spLocks noGrp="1"/>
          </p:cNvSpPr>
          <p:nvPr/>
        </p:nvSpPr>
        <p:spPr>
          <a:xfrm>
            <a:off x="6286500" y="1790700"/>
            <a:ext cx="5238750" cy="85725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85F7761B-5659-42C2-A398-C4EB6C204AF3}"/>
              </a:ext>
            </a:extLst>
          </p:cNvPr>
          <p:cNvSpPr>
            <a:spLocks noGrp="1"/>
          </p:cNvSpPr>
          <p:nvPr/>
        </p:nvSpPr>
        <p:spPr>
          <a:xfrm>
            <a:off x="6438900" y="1943100"/>
            <a:ext cx="1162050" cy="247650"/>
          </a:xfrm>
          <a:prstGeom prst="roundRect">
            <a:avLst>
              <a:gd name="adj" fmla="val 50000"/>
            </a:avLst>
          </a:prstGeom>
          <a:solidFill>
            <a:srgbClr val="2553D6"/>
          </a:solidFill>
          <a:ln w="0">
            <a:solidFill>
              <a:srgbClr val="2553D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BC4CF27-F39E-4FC5-A3A4-DCB0EEC0686C}"/>
              </a:ext>
            </a:extLst>
          </p:cNvPr>
          <p:cNvSpPr>
            <a:spLocks noGrp="1"/>
          </p:cNvSpPr>
          <p:nvPr/>
        </p:nvSpPr>
        <p:spPr>
          <a:xfrm>
            <a:off x="6438900" y="1943100"/>
            <a:ext cx="1162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200" b="1" dirty="0">
                <a:solidFill>
                  <a:srgbClr val="FFFFFF"/>
                </a:solidFill>
              </a:rPr>
              <a:t>Left side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0883D94-B8BE-43AB-BF34-DE024CD32A49}"/>
              </a:ext>
            </a:extLst>
          </p:cNvPr>
          <p:cNvSpPr>
            <a:spLocks noGrp="1"/>
          </p:cNvSpPr>
          <p:nvPr/>
        </p:nvSpPr>
        <p:spPr>
          <a:xfrm>
            <a:off x="6438900" y="2305050"/>
            <a:ext cx="4933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summary + accordions + source-aware entries</a:t>
            </a: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7C9CB77F-5D0D-4F01-9AB8-C918DFD2BC14}"/>
              </a:ext>
            </a:extLst>
          </p:cNvPr>
          <p:cNvSpPr>
            <a:spLocks noGrp="1"/>
          </p:cNvSpPr>
          <p:nvPr/>
        </p:nvSpPr>
        <p:spPr>
          <a:xfrm>
            <a:off x="6286500" y="2800350"/>
            <a:ext cx="5238750" cy="85725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12" name="Rectangle : coins arrondis 11">
            <a:extLst>
              <a:ext uri="{FF2B5EF4-FFF2-40B4-BE49-F238E27FC236}">
                <a16:creationId xmlns:a16="http://schemas.microsoft.com/office/drawing/2014/main" id="{6981FF51-3742-478F-8FD2-98BC097D9AFD}"/>
              </a:ext>
            </a:extLst>
          </p:cNvPr>
          <p:cNvSpPr>
            <a:spLocks noGrp="1"/>
          </p:cNvSpPr>
          <p:nvPr/>
        </p:nvSpPr>
        <p:spPr>
          <a:xfrm>
            <a:off x="6438900" y="2952750"/>
            <a:ext cx="1162050" cy="247650"/>
          </a:xfrm>
          <a:prstGeom prst="roundRect">
            <a:avLst>
              <a:gd name="adj" fmla="val 50000"/>
            </a:avLst>
          </a:prstGeom>
          <a:solidFill>
            <a:srgbClr val="16803C"/>
          </a:solidFill>
          <a:ln w="0">
            <a:solidFill>
              <a:srgbClr val="1680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FE7B32A-8998-4D35-8E6F-C836625A9616}"/>
              </a:ext>
            </a:extLst>
          </p:cNvPr>
          <p:cNvSpPr>
            <a:spLocks noGrp="1"/>
          </p:cNvSpPr>
          <p:nvPr/>
        </p:nvSpPr>
        <p:spPr>
          <a:xfrm>
            <a:off x="6438900" y="2952750"/>
            <a:ext cx="1162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200" b="1" dirty="0">
                <a:solidFill>
                  <a:srgbClr val="FFFFFF"/>
                </a:solidFill>
              </a:rPr>
              <a:t>Right side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C043C35-5B63-49F8-8850-2A02C37D6DC9}"/>
              </a:ext>
            </a:extLst>
          </p:cNvPr>
          <p:cNvSpPr>
            <a:spLocks noGrp="1"/>
          </p:cNvSpPr>
          <p:nvPr/>
        </p:nvSpPr>
        <p:spPr>
          <a:xfrm>
            <a:off x="6438900" y="3314700"/>
            <a:ext cx="4933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Filtered DNV tree with only mapped values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0A24E98B-3888-42C2-94F8-A3EF200CA0EC}"/>
              </a:ext>
            </a:extLst>
          </p:cNvPr>
          <p:cNvSpPr>
            <a:spLocks noGrp="1"/>
          </p:cNvSpPr>
          <p:nvPr/>
        </p:nvSpPr>
        <p:spPr>
          <a:xfrm>
            <a:off x="6286500" y="3810000"/>
            <a:ext cx="5238750" cy="85725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D6E4958A-4817-485B-B035-9A88ABC43A7C}"/>
              </a:ext>
            </a:extLst>
          </p:cNvPr>
          <p:cNvSpPr>
            <a:spLocks noGrp="1"/>
          </p:cNvSpPr>
          <p:nvPr/>
        </p:nvSpPr>
        <p:spPr>
          <a:xfrm>
            <a:off x="6438900" y="3962400"/>
            <a:ext cx="1162050" cy="2476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 w="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EDF1123-A004-44DD-B895-41574405C121}"/>
              </a:ext>
            </a:extLst>
          </p:cNvPr>
          <p:cNvSpPr>
            <a:spLocks noGrp="1"/>
          </p:cNvSpPr>
          <p:nvPr/>
        </p:nvSpPr>
        <p:spPr>
          <a:xfrm>
            <a:off x="6438900" y="3962400"/>
            <a:ext cx="1162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200" b="1" dirty="0">
                <a:solidFill>
                  <a:srgbClr val="FFFFFF"/>
                </a:solidFill>
              </a:rPr>
              <a:t>Map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1C2AA21-4D28-4653-86F1-FA7A8CC02356}"/>
              </a:ext>
            </a:extLst>
          </p:cNvPr>
          <p:cNvSpPr>
            <a:spLocks noGrp="1"/>
          </p:cNvSpPr>
          <p:nvPr/>
        </p:nvSpPr>
        <p:spPr>
          <a:xfrm>
            <a:off x="6438900" y="4324350"/>
            <a:ext cx="4933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GPS route built from the raw file linked in Link</a:t>
            </a:r>
          </a:p>
        </p:txBody>
      </p:sp>
      <p:sp>
        <p:nvSpPr>
          <p:cNvPr id="19" name="Rectangle : coins arrondis 18">
            <a:extLst>
              <a:ext uri="{FF2B5EF4-FFF2-40B4-BE49-F238E27FC236}">
                <a16:creationId xmlns:a16="http://schemas.microsoft.com/office/drawing/2014/main" id="{413E559C-A8F1-409C-8A32-DD3D09DFB97D}"/>
              </a:ext>
            </a:extLst>
          </p:cNvPr>
          <p:cNvSpPr>
            <a:spLocks noGrp="1"/>
          </p:cNvSpPr>
          <p:nvPr/>
        </p:nvSpPr>
        <p:spPr>
          <a:xfrm>
            <a:off x="6286500" y="4819650"/>
            <a:ext cx="5238750" cy="85725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20" name="Rectangle : coins arrondis 19">
            <a:extLst>
              <a:ext uri="{FF2B5EF4-FFF2-40B4-BE49-F238E27FC236}">
                <a16:creationId xmlns:a16="http://schemas.microsoft.com/office/drawing/2014/main" id="{5453C989-08C1-4455-B4A8-4EDB985CB520}"/>
              </a:ext>
            </a:extLst>
          </p:cNvPr>
          <p:cNvSpPr>
            <a:spLocks noGrp="1"/>
          </p:cNvSpPr>
          <p:nvPr/>
        </p:nvSpPr>
        <p:spPr>
          <a:xfrm>
            <a:off x="6438900" y="4972050"/>
            <a:ext cx="1162050" cy="24765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 w="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B117C97-0D9B-4BCC-B6DB-AF3793869CD6}"/>
              </a:ext>
            </a:extLst>
          </p:cNvPr>
          <p:cNvSpPr>
            <a:spLocks noGrp="1"/>
          </p:cNvSpPr>
          <p:nvPr/>
        </p:nvSpPr>
        <p:spPr>
          <a:xfrm>
            <a:off x="6438900" y="4972050"/>
            <a:ext cx="1162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200" b="1" dirty="0">
                <a:solidFill>
                  <a:srgbClr val="FFFFFF"/>
                </a:solidFill>
              </a:rPr>
              <a:t>Get Json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8BDA9A7-FD7B-4E18-AB00-63D9BB204795}"/>
              </a:ext>
            </a:extLst>
          </p:cNvPr>
          <p:cNvSpPr>
            <a:spLocks noGrp="1"/>
          </p:cNvSpPr>
          <p:nvPr/>
        </p:nvSpPr>
        <p:spPr>
          <a:xfrm>
            <a:off x="6438900" y="5334000"/>
            <a:ext cx="4933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Downloads the main JSON file loaded for the project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C3ED2D9-7E76-47F1-8ED0-D4593CF7FC51}"/>
              </a:ext>
            </a:extLst>
          </p:cNvPr>
          <p:cNvSpPr>
            <a:spLocks noGrp="1"/>
          </p:cNvSpPr>
          <p:nvPr/>
        </p:nvSpPr>
        <p:spPr>
          <a:xfrm>
            <a:off x="571500" y="6534150"/>
            <a:ext cx="3048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Data Hub guide - new vessel workflow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225700E-8DC5-4DD3-BE69-147B384DD3FC}"/>
              </a:ext>
            </a:extLst>
          </p:cNvPr>
          <p:cNvSpPr>
            <a:spLocks noGrp="1"/>
          </p:cNvSpPr>
          <p:nvPr/>
        </p:nvSpPr>
        <p:spPr>
          <a:xfrm>
            <a:off x="11144250" y="6496050"/>
            <a:ext cx="38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1">
                <a:solidFill>
                  <a:srgbClr val="64748B"/>
                </a:solidFill>
              </a:defRPr>
            </a:pPr>
            <a:r>
              <a:rPr lang="fr-FR" sz="900" b="1" dirty="0">
                <a:solidFill>
                  <a:srgbClr val="64748B"/>
                </a:solidFill>
              </a:rPr>
              <a:t>10</a:t>
            </a:r>
            <a:endParaRPr sz="900" b="1" dirty="0">
              <a:solidFill>
                <a:srgbClr val="64748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2812888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1673</Words>
  <Application>Microsoft Office PowerPoint</Application>
  <DocSecurity>0</DocSecurity>
  <PresentationFormat>Grand écran</PresentationFormat>
  <Paragraphs>233</Paragraphs>
  <Slides>11</Slides>
  <Notes>11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Calibri</vt:lpstr>
      <vt:lpstr>Consolas</vt:lpstr>
      <vt:lpstr>ChatGPT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Anas SADIK</cp:lastModifiedBy>
  <cp:revision>13</cp:revision>
  <dcterms:created xsi:type="dcterms:W3CDTF">2026-07-07T14:59:42Z</dcterms:created>
  <dcterms:modified xsi:type="dcterms:W3CDTF">2026-07-08T09:50:17Z</dcterms:modified>
</cp:coreProperties>
</file>