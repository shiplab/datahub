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9" r:id="rId7"/>
    <p:sldId id="272" r:id="rId8"/>
    <p:sldId id="270" r:id="rId9"/>
    <p:sldId id="265" r:id="rId10"/>
    <p:sldId id="266" r:id="rId1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F4D244DB-14F6-431B-9FEE-A64B2695D85F}">
          <p14:sldIdLst>
            <p14:sldId id="256"/>
            <p14:sldId id="257"/>
            <p14:sldId id="258"/>
            <p14:sldId id="259"/>
            <p14:sldId id="260"/>
            <p14:sldId id="269"/>
            <p14:sldId id="272"/>
            <p14:sldId id="270"/>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100" d="100"/>
          <a:sy n="100" d="100"/>
        </p:scale>
        <p:origin x="990" y="1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BE6949-0591-BC9C-60AA-B266300704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9BA3C3-6B9E-B4A8-6C51-5F0925CE147F}"/>
              </a:ext>
            </a:extLst>
          </p:cNvPr>
          <p:cNvSpPr txBox="1">
            <a:spLocks noGrp="1"/>
          </p:cNvSpPr>
          <p:nvPr>
            <p:ph type="body" sz="quarter" idx="1"/>
          </p:nvPr>
        </p:nvSpPr>
        <p:spPr/>
        <p:txBody>
          <a:bodyPr/>
          <a:lstStyle/>
          <a:p>
            <a:endParaRPr lang="fr-FR"/>
          </a:p>
        </p:txBody>
      </p:sp>
      <p:sp>
        <p:nvSpPr>
          <p:cNvPr id="4" name="Slide Number Placeholder 3">
            <a:extLst>
              <a:ext uri="{FF2B5EF4-FFF2-40B4-BE49-F238E27FC236}">
                <a16:creationId xmlns:a16="http://schemas.microsoft.com/office/drawing/2014/main" id="{34228035-1159-18BF-C49E-814510CF7FFB}"/>
              </a:ext>
            </a:extLst>
          </p:cNvPr>
          <p:cNvSpPr txBox="1"/>
          <p:nvPr/>
        </p:nvSpPr>
        <p:spPr>
          <a:xfrm>
            <a:off x="3884608" y="8685208"/>
            <a:ext cx="2971800" cy="458791"/>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200" b="0" i="0" u="none" strike="noStrike" kern="1200" cap="none" spc="0" baseline="0">
              <a:solidFill>
                <a:srgbClr val="000000"/>
              </a:solidFill>
              <a:uFillTx/>
              <a:latin typeface="Apto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BEA97D-0E38-DEDE-55EE-1ABBAD75C4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80F731-70BB-6F75-9A36-79339673F1E2}"/>
              </a:ext>
            </a:extLst>
          </p:cNvPr>
          <p:cNvSpPr txBox="1">
            <a:spLocks noGrp="1"/>
          </p:cNvSpPr>
          <p:nvPr>
            <p:ph type="body" sz="quarter" idx="1"/>
          </p:nvPr>
        </p:nvSpPr>
        <p:spPr/>
        <p:txBody>
          <a:bodyPr/>
          <a:lstStyle/>
          <a:p>
            <a:endParaRPr lang="fr-FR"/>
          </a:p>
        </p:txBody>
      </p:sp>
      <p:sp>
        <p:nvSpPr>
          <p:cNvPr id="4" name="Slide Number Placeholder 3">
            <a:extLst>
              <a:ext uri="{FF2B5EF4-FFF2-40B4-BE49-F238E27FC236}">
                <a16:creationId xmlns:a16="http://schemas.microsoft.com/office/drawing/2014/main" id="{27610471-CAB9-44EE-7344-038B3423E978}"/>
              </a:ext>
            </a:extLst>
          </p:cNvPr>
          <p:cNvSpPr txBox="1"/>
          <p:nvPr/>
        </p:nvSpPr>
        <p:spPr>
          <a:xfrm>
            <a:off x="3884608" y="8685208"/>
            <a:ext cx="2971800" cy="458791"/>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200" b="0" i="0" u="none" strike="noStrike" kern="1200" cap="none" spc="0" baseline="0">
              <a:solidFill>
                <a:srgbClr val="000000"/>
              </a:solidFill>
              <a:uFillTx/>
              <a:latin typeface="Apto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3E8C3-2CDE-3FC2-7063-9B89B5A4CF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79E5A7-6464-7258-FB5A-CDDD01F3D2D9}"/>
              </a:ext>
            </a:extLst>
          </p:cNvPr>
          <p:cNvSpPr txBox="1">
            <a:spLocks noGrp="1"/>
          </p:cNvSpPr>
          <p:nvPr>
            <p:ph type="body" sz="quarter" idx="1"/>
          </p:nvPr>
        </p:nvSpPr>
        <p:spPr/>
        <p:txBody>
          <a:bodyPr/>
          <a:lstStyle/>
          <a:p>
            <a:endParaRPr lang="fr-FR"/>
          </a:p>
        </p:txBody>
      </p:sp>
      <p:sp>
        <p:nvSpPr>
          <p:cNvPr id="4" name="Slide Number Placeholder 3">
            <a:extLst>
              <a:ext uri="{FF2B5EF4-FFF2-40B4-BE49-F238E27FC236}">
                <a16:creationId xmlns:a16="http://schemas.microsoft.com/office/drawing/2014/main" id="{FFADC267-DB2B-CD49-439E-BB9B4774B878}"/>
              </a:ext>
            </a:extLst>
          </p:cNvPr>
          <p:cNvSpPr txBox="1"/>
          <p:nvPr/>
        </p:nvSpPr>
        <p:spPr>
          <a:xfrm>
            <a:off x="3884608" y="8685208"/>
            <a:ext cx="2971800" cy="458791"/>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200" b="0" i="0" u="none" strike="noStrike" kern="1200" cap="none" spc="0" baseline="0">
              <a:solidFill>
                <a:srgbClr val="000000"/>
              </a:solidFill>
              <a:uFillTx/>
              <a:latin typeface="Apto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3" name="Rectangle : coins arrondis 2">
            <a:extLst>
              <a:ext uri="{FF2B5EF4-FFF2-40B4-BE49-F238E27FC236}">
                <a16:creationId xmlns:a16="http://schemas.microsoft.com/office/drawing/2014/main" id="{7630A149-A23C-4E6E-86E0-B3791172F647}"/>
              </a:ext>
            </a:extLst>
          </p:cNvPr>
          <p:cNvSpPr>
            <a:spLocks noGrp="1"/>
          </p:cNvSpPr>
          <p:nvPr/>
        </p:nvSpPr>
        <p:spPr>
          <a:xfrm>
            <a:off x="581025" y="342900"/>
            <a:ext cx="1962150" cy="361950"/>
          </a:xfrm>
          <a:prstGeom prst="roundRect">
            <a:avLst>
              <a:gd name="adj" fmla="val 50000"/>
            </a:avLst>
          </a:prstGeom>
          <a:solidFill>
            <a:srgbClr val="E8EEFF"/>
          </a:solidFill>
          <a:ln w="0">
            <a:solidFill>
              <a:srgbClr val="E8EEFF"/>
            </a:solidFill>
            <a:prstDash val="solid"/>
          </a:ln>
        </p:spPr>
        <p:txBody>
          <a:bodyPr/>
          <a:lstStyle/>
          <a:p>
            <a:endParaRPr lang="fr-FR" dirty="0"/>
          </a:p>
        </p:txBody>
      </p:sp>
      <p:sp>
        <p:nvSpPr>
          <p:cNvPr id="4" name="Rectangle 3">
            <a:extLst>
              <a:ext uri="{FF2B5EF4-FFF2-40B4-BE49-F238E27FC236}">
                <a16:creationId xmlns:a16="http://schemas.microsoft.com/office/drawing/2014/main" id="{3B156DCD-1F7F-432E-9941-14FE4985970E}"/>
              </a:ext>
            </a:extLst>
          </p:cNvPr>
          <p:cNvSpPr>
            <a:spLocks noGrp="1"/>
          </p:cNvSpPr>
          <p:nvPr/>
        </p:nvSpPr>
        <p:spPr>
          <a:xfrm>
            <a:off x="704850" y="381000"/>
            <a:ext cx="1714500" cy="285750"/>
          </a:xfrm>
          <a:prstGeom prst="rect">
            <a:avLst/>
          </a:prstGeom>
          <a:noFill/>
          <a:ln w="0">
            <a:noFill/>
            <a:prstDash val="solid"/>
          </a:ln>
        </p:spPr>
        <p:txBody>
          <a:bodyPr wrap="square" lIns="76200" tIns="76200" rIns="76200" bIns="76200" anchor="ctr">
            <a:noAutofit/>
          </a:bodyPr>
          <a:lstStyle/>
          <a:p>
            <a:pPr algn="ctr">
              <a:defRPr sz="1050" b="1">
                <a:solidFill>
                  <a:srgbClr val="0F172A"/>
                </a:solidFill>
              </a:defRPr>
            </a:pPr>
            <a:r>
              <a:rPr sz="1600" b="1" dirty="0">
                <a:solidFill>
                  <a:srgbClr val="0F172A"/>
                </a:solidFill>
              </a:rPr>
              <a:t>DATA HUB GUIDE</a:t>
            </a:r>
          </a:p>
        </p:txBody>
      </p:sp>
      <p:sp>
        <p:nvSpPr>
          <p:cNvPr id="5" name="Rectangle 4">
            <a:extLst>
              <a:ext uri="{FF2B5EF4-FFF2-40B4-BE49-F238E27FC236}">
                <a16:creationId xmlns:a16="http://schemas.microsoft.com/office/drawing/2014/main" id="{8C792576-9DF2-4ABB-8413-8E57A2957DE1}"/>
              </a:ext>
            </a:extLst>
          </p:cNvPr>
          <p:cNvSpPr>
            <a:spLocks noGrp="1"/>
          </p:cNvSpPr>
          <p:nvPr/>
        </p:nvSpPr>
        <p:spPr>
          <a:xfrm>
            <a:off x="704850" y="914400"/>
            <a:ext cx="5334000" cy="1257300"/>
          </a:xfrm>
          <a:prstGeom prst="rect">
            <a:avLst/>
          </a:prstGeom>
          <a:noFill/>
          <a:ln w="0">
            <a:noFill/>
            <a:prstDash val="solid"/>
          </a:ln>
        </p:spPr>
        <p:txBody>
          <a:bodyPr wrap="square" lIns="0" tIns="0" rIns="0" bIns="0" anchor="t">
            <a:normAutofit/>
          </a:bodyPr>
          <a:lstStyle/>
          <a:p>
            <a:pPr algn="l">
              <a:defRPr sz="3750" b="1">
                <a:solidFill>
                  <a:srgbClr val="FFFFFF"/>
                </a:solidFill>
              </a:defRPr>
            </a:pPr>
            <a:r>
              <a:rPr sz="3750" b="1" dirty="0">
                <a:solidFill>
                  <a:srgbClr val="FFFFFF"/>
                </a:solidFill>
              </a:rPr>
              <a:t>How to add a new </a:t>
            </a:r>
            <a:r>
              <a:rPr lang="fr-FR" sz="3750" b="1" dirty="0" err="1">
                <a:solidFill>
                  <a:srgbClr val="FFFFFF"/>
                </a:solidFill>
              </a:rPr>
              <a:t>project</a:t>
            </a:r>
            <a:endParaRPr sz="3750" b="1" dirty="0">
              <a:solidFill>
                <a:srgbClr val="FFFFFF"/>
              </a:solidFill>
            </a:endParaRPr>
          </a:p>
          <a:p>
            <a:pPr algn="l">
              <a:defRPr sz="3750" b="1">
                <a:solidFill>
                  <a:srgbClr val="FFFFFF"/>
                </a:solidFill>
              </a:defRPr>
            </a:pPr>
            <a:r>
              <a:rPr sz="3750" b="1" dirty="0">
                <a:solidFill>
                  <a:srgbClr val="FFFFFF"/>
                </a:solidFill>
              </a:rPr>
              <a:t>to the </a:t>
            </a:r>
            <a:r>
              <a:rPr sz="3750" b="1" dirty="0" err="1">
                <a:solidFill>
                  <a:srgbClr val="FFFFFF"/>
                </a:solidFill>
              </a:rPr>
              <a:t>DataHub</a:t>
            </a:r>
            <a:endParaRPr sz="3750" b="1" dirty="0">
              <a:solidFill>
                <a:srgbClr val="FFFFFF"/>
              </a:solidFill>
            </a:endParaRPr>
          </a:p>
        </p:txBody>
      </p:sp>
      <p:sp>
        <p:nvSpPr>
          <p:cNvPr id="6" name="Rectangle 5">
            <a:extLst>
              <a:ext uri="{FF2B5EF4-FFF2-40B4-BE49-F238E27FC236}">
                <a16:creationId xmlns:a16="http://schemas.microsoft.com/office/drawing/2014/main" id="{34F7B673-021D-4ED4-B98A-7034D6D69E04}"/>
              </a:ext>
            </a:extLst>
          </p:cNvPr>
          <p:cNvSpPr>
            <a:spLocks noGrp="1"/>
          </p:cNvSpPr>
          <p:nvPr/>
        </p:nvSpPr>
        <p:spPr>
          <a:xfrm>
            <a:off x="752475" y="2495550"/>
            <a:ext cx="5048250" cy="781050"/>
          </a:xfrm>
          <a:prstGeom prst="rect">
            <a:avLst/>
          </a:prstGeom>
          <a:noFill/>
          <a:ln w="0">
            <a:noFill/>
            <a:prstDash val="solid"/>
          </a:ln>
        </p:spPr>
        <p:txBody>
          <a:bodyPr wrap="square" lIns="0" tIns="0" rIns="0" bIns="0" anchor="t">
            <a:normAutofit/>
          </a:bodyPr>
          <a:lstStyle/>
          <a:p>
            <a:pPr algn="l">
              <a:defRPr sz="1650" b="0">
                <a:solidFill>
                  <a:srgbClr val="D7E3F3"/>
                </a:solidFill>
              </a:defRPr>
            </a:pPr>
            <a:r>
              <a:rPr sz="1650" b="0" dirty="0">
                <a:solidFill>
                  <a:srgbClr val="D7E3F3"/>
                </a:solidFill>
              </a:rPr>
              <a:t>A direct onboarding deck for new contributors.</a:t>
            </a:r>
          </a:p>
          <a:p>
            <a:pPr algn="l">
              <a:defRPr sz="1650" b="0">
                <a:solidFill>
                  <a:srgbClr val="D7E3F3"/>
                </a:solidFill>
              </a:defRPr>
            </a:pPr>
            <a:r>
              <a:rPr sz="1650" b="0" dirty="0">
                <a:solidFill>
                  <a:srgbClr val="D7E3F3"/>
                </a:solidFill>
              </a:rPr>
              <a:t>Running example: ALMI ATLAS in the RINA block.</a:t>
            </a:r>
          </a:p>
        </p:txBody>
      </p:sp>
      <p:sp>
        <p:nvSpPr>
          <p:cNvPr id="7" name="Rectangle : coins arrondis 6">
            <a:extLst>
              <a:ext uri="{FF2B5EF4-FFF2-40B4-BE49-F238E27FC236}">
                <a16:creationId xmlns:a16="http://schemas.microsoft.com/office/drawing/2014/main" id="{F0C8205F-66CB-4474-AC7E-61DA71598139}"/>
              </a:ext>
            </a:extLst>
          </p:cNvPr>
          <p:cNvSpPr>
            <a:spLocks noGrp="1"/>
          </p:cNvSpPr>
          <p:nvPr/>
        </p:nvSpPr>
        <p:spPr>
          <a:xfrm>
            <a:off x="619125" y="3638550"/>
            <a:ext cx="1962150" cy="285750"/>
          </a:xfrm>
          <a:prstGeom prst="roundRect">
            <a:avLst>
              <a:gd name="adj" fmla="val 50000"/>
            </a:avLst>
          </a:prstGeom>
          <a:solidFill>
            <a:srgbClr val="16803C"/>
          </a:solidFill>
          <a:ln w="0">
            <a:solidFill>
              <a:srgbClr val="16803C"/>
            </a:solidFill>
            <a:prstDash val="solid"/>
          </a:ln>
        </p:spPr>
        <p:txBody>
          <a:bodyPr/>
          <a:lstStyle/>
          <a:p>
            <a:endParaRPr lang="fr-FR"/>
          </a:p>
        </p:txBody>
      </p:sp>
      <p:sp>
        <p:nvSpPr>
          <p:cNvPr id="8" name="Rectangle 7">
            <a:extLst>
              <a:ext uri="{FF2B5EF4-FFF2-40B4-BE49-F238E27FC236}">
                <a16:creationId xmlns:a16="http://schemas.microsoft.com/office/drawing/2014/main" id="{11F1E71B-2764-4982-AE7B-CF39DB05CA17}"/>
              </a:ext>
            </a:extLst>
          </p:cNvPr>
          <p:cNvSpPr>
            <a:spLocks noGrp="1"/>
          </p:cNvSpPr>
          <p:nvPr/>
        </p:nvSpPr>
        <p:spPr>
          <a:xfrm>
            <a:off x="619125" y="3638550"/>
            <a:ext cx="1962150" cy="285750"/>
          </a:xfrm>
          <a:prstGeom prst="rect">
            <a:avLst/>
          </a:prstGeom>
          <a:noFill/>
          <a:ln w="0">
            <a:noFill/>
            <a:prstDash val="solid"/>
          </a:ln>
        </p:spPr>
        <p:txBody>
          <a:bodyPr wrap="square" lIns="76200" tIns="76200" rIns="76200" bIns="76200" anchor="ctr">
            <a:normAutofit fontScale="90833" lnSpcReduction="20000"/>
          </a:bodyPr>
          <a:lstStyle/>
          <a:p>
            <a:pPr algn="ctr">
              <a:defRPr sz="1050" b="1">
                <a:solidFill>
                  <a:srgbClr val="FFFFFF"/>
                </a:solidFill>
              </a:defRPr>
            </a:pPr>
            <a:r>
              <a:rPr sz="1050" b="1">
                <a:solidFill>
                  <a:srgbClr val="FFFFFF"/>
                </a:solidFill>
              </a:rPr>
              <a:t>Running example: ATLAS</a:t>
            </a:r>
          </a:p>
        </p:txBody>
      </p:sp>
      <p:sp>
        <p:nvSpPr>
          <p:cNvPr id="9" name="Rectangle : coins arrondis 8">
            <a:extLst>
              <a:ext uri="{FF2B5EF4-FFF2-40B4-BE49-F238E27FC236}">
                <a16:creationId xmlns:a16="http://schemas.microsoft.com/office/drawing/2014/main" id="{22EEC5AA-3935-43AA-8569-16F238A2D097}"/>
              </a:ext>
            </a:extLst>
          </p:cNvPr>
          <p:cNvSpPr>
            <a:spLocks noGrp="1"/>
          </p:cNvSpPr>
          <p:nvPr/>
        </p:nvSpPr>
        <p:spPr>
          <a:xfrm>
            <a:off x="2733675" y="3638550"/>
            <a:ext cx="1390650" cy="285750"/>
          </a:xfrm>
          <a:prstGeom prst="roundRect">
            <a:avLst>
              <a:gd name="adj" fmla="val 50000"/>
            </a:avLst>
          </a:prstGeom>
          <a:solidFill>
            <a:srgbClr val="2553D6"/>
          </a:solidFill>
          <a:ln w="0">
            <a:solidFill>
              <a:srgbClr val="2553D6"/>
            </a:solidFill>
            <a:prstDash val="solid"/>
          </a:ln>
        </p:spPr>
        <p:txBody>
          <a:bodyPr/>
          <a:lstStyle/>
          <a:p>
            <a:endParaRPr lang="fr-FR"/>
          </a:p>
        </p:txBody>
      </p:sp>
      <p:sp>
        <p:nvSpPr>
          <p:cNvPr id="10" name="Rectangle 9">
            <a:extLst>
              <a:ext uri="{FF2B5EF4-FFF2-40B4-BE49-F238E27FC236}">
                <a16:creationId xmlns:a16="http://schemas.microsoft.com/office/drawing/2014/main" id="{B6A433BF-6680-4366-82E9-EE6EBD28BB8B}"/>
              </a:ext>
            </a:extLst>
          </p:cNvPr>
          <p:cNvSpPr>
            <a:spLocks noGrp="1"/>
          </p:cNvSpPr>
          <p:nvPr/>
        </p:nvSpPr>
        <p:spPr>
          <a:xfrm>
            <a:off x="2733675" y="3638550"/>
            <a:ext cx="1390650" cy="285750"/>
          </a:xfrm>
          <a:prstGeom prst="rect">
            <a:avLst/>
          </a:prstGeom>
          <a:noFill/>
          <a:ln w="0">
            <a:noFill/>
            <a:prstDash val="solid"/>
          </a:ln>
        </p:spPr>
        <p:txBody>
          <a:bodyPr wrap="square" lIns="76200" tIns="76200" rIns="76200" bIns="76200" anchor="ctr">
            <a:normAutofit fontScale="90833" lnSpcReduction="20000"/>
          </a:bodyPr>
          <a:lstStyle/>
          <a:p>
            <a:pPr algn="ctr">
              <a:defRPr sz="1050" b="1">
                <a:solidFill>
                  <a:srgbClr val="FFFFFF"/>
                </a:solidFill>
              </a:defRPr>
            </a:pPr>
            <a:r>
              <a:rPr sz="1050" b="1">
                <a:solidFill>
                  <a:srgbClr val="FFFFFF"/>
                </a:solidFill>
              </a:rPr>
              <a:t>Block: RINA</a:t>
            </a:r>
          </a:p>
        </p:txBody>
      </p:sp>
      <p:sp>
        <p:nvSpPr>
          <p:cNvPr id="11" name="Rectangle : coins arrondis 10">
            <a:extLst>
              <a:ext uri="{FF2B5EF4-FFF2-40B4-BE49-F238E27FC236}">
                <a16:creationId xmlns:a16="http://schemas.microsoft.com/office/drawing/2014/main" id="{EE22E08C-D558-4C55-9CF5-BF1D5D07B3D1}"/>
              </a:ext>
            </a:extLst>
          </p:cNvPr>
          <p:cNvSpPr>
            <a:spLocks noGrp="1"/>
          </p:cNvSpPr>
          <p:nvPr/>
        </p:nvSpPr>
        <p:spPr>
          <a:xfrm>
            <a:off x="4276725" y="3638550"/>
            <a:ext cx="1524000" cy="285750"/>
          </a:xfrm>
          <a:prstGeom prst="roundRect">
            <a:avLst>
              <a:gd name="adj" fmla="val 50000"/>
            </a:avLst>
          </a:prstGeom>
          <a:solidFill>
            <a:srgbClr val="0F766E"/>
          </a:solidFill>
          <a:ln w="0">
            <a:solidFill>
              <a:srgbClr val="0F766E"/>
            </a:solidFill>
            <a:prstDash val="solid"/>
          </a:ln>
        </p:spPr>
        <p:txBody>
          <a:bodyPr/>
          <a:lstStyle/>
          <a:p>
            <a:endParaRPr lang="fr-FR"/>
          </a:p>
        </p:txBody>
      </p:sp>
      <p:sp>
        <p:nvSpPr>
          <p:cNvPr id="12" name="Rectangle 11">
            <a:extLst>
              <a:ext uri="{FF2B5EF4-FFF2-40B4-BE49-F238E27FC236}">
                <a16:creationId xmlns:a16="http://schemas.microsoft.com/office/drawing/2014/main" id="{2CBA2D50-CCAF-4CC1-8844-AEAF216251D2}"/>
              </a:ext>
            </a:extLst>
          </p:cNvPr>
          <p:cNvSpPr>
            <a:spLocks noGrp="1"/>
          </p:cNvSpPr>
          <p:nvPr/>
        </p:nvSpPr>
        <p:spPr>
          <a:xfrm>
            <a:off x="4276725" y="3638550"/>
            <a:ext cx="1524000" cy="285750"/>
          </a:xfrm>
          <a:prstGeom prst="rect">
            <a:avLst/>
          </a:prstGeom>
          <a:noFill/>
          <a:ln w="0">
            <a:noFill/>
            <a:prstDash val="solid"/>
          </a:ln>
        </p:spPr>
        <p:txBody>
          <a:bodyPr wrap="square" lIns="76200" tIns="76200" rIns="76200" bIns="76200" anchor="ctr">
            <a:normAutofit fontScale="90833" lnSpcReduction="20000"/>
          </a:bodyPr>
          <a:lstStyle/>
          <a:p>
            <a:pPr algn="ctr">
              <a:defRPr sz="1050" b="1">
                <a:solidFill>
                  <a:srgbClr val="FFFFFF"/>
                </a:solidFill>
              </a:defRPr>
            </a:pPr>
            <a:r>
              <a:rPr sz="1050" b="1">
                <a:solidFill>
                  <a:srgbClr val="FFFFFF"/>
                </a:solidFill>
              </a:rPr>
              <a:t>Audience: new user</a:t>
            </a:r>
          </a:p>
        </p:txBody>
      </p:sp>
      <p:sp>
        <p:nvSpPr>
          <p:cNvPr id="13" name="Rectangle : coins arrondis 12">
            <a:extLst>
              <a:ext uri="{FF2B5EF4-FFF2-40B4-BE49-F238E27FC236}">
                <a16:creationId xmlns:a16="http://schemas.microsoft.com/office/drawing/2014/main" id="{CAB32B19-BB7E-4803-A20E-3428596771C1}"/>
              </a:ext>
            </a:extLst>
          </p:cNvPr>
          <p:cNvSpPr>
            <a:spLocks noGrp="1"/>
          </p:cNvSpPr>
          <p:nvPr/>
        </p:nvSpPr>
        <p:spPr>
          <a:xfrm>
            <a:off x="657225" y="4714875"/>
            <a:ext cx="5143500" cy="781050"/>
          </a:xfrm>
          <a:prstGeom prst="roundRect">
            <a:avLst>
              <a:gd name="adj" fmla="val 16667"/>
            </a:avLst>
          </a:prstGeom>
          <a:solidFill>
            <a:srgbClr val="EBFBF1"/>
          </a:solidFill>
          <a:ln w="9525">
            <a:solidFill>
              <a:srgbClr val="A7F3D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15" name="Rectangle 14">
            <a:extLst>
              <a:ext uri="{FF2B5EF4-FFF2-40B4-BE49-F238E27FC236}">
                <a16:creationId xmlns:a16="http://schemas.microsoft.com/office/drawing/2014/main" id="{AB468ADD-74CD-4FFC-8A97-86D2C6522142}"/>
              </a:ext>
            </a:extLst>
          </p:cNvPr>
          <p:cNvSpPr>
            <a:spLocks noGrp="1"/>
          </p:cNvSpPr>
          <p:nvPr/>
        </p:nvSpPr>
        <p:spPr>
          <a:xfrm>
            <a:off x="809625" y="4848225"/>
            <a:ext cx="400050" cy="228600"/>
          </a:xfrm>
          <a:prstGeom prst="rect">
            <a:avLst/>
          </a:prstGeom>
          <a:noFill/>
          <a:ln w="0">
            <a:noFill/>
            <a:prstDash val="solid"/>
          </a:ln>
        </p:spPr>
        <p:txBody>
          <a:bodyPr wrap="square" lIns="76200" tIns="76200" rIns="76200" bIns="76200" anchor="ctr">
            <a:normAutofit fontScale="55119" lnSpcReduction="20000"/>
          </a:bodyPr>
          <a:lstStyle/>
          <a:p>
            <a:pPr algn="ctr">
              <a:defRPr sz="1050" b="1">
                <a:solidFill>
                  <a:srgbClr val="FFFFFF"/>
                </a:solidFill>
              </a:defRPr>
            </a:pPr>
            <a:r>
              <a:rPr sz="1050" b="1">
                <a:solidFill>
                  <a:srgbClr val="FFFFFF"/>
                </a:solidFill>
              </a:rPr>
              <a:t>OK</a:t>
            </a:r>
          </a:p>
        </p:txBody>
      </p:sp>
      <p:sp>
        <p:nvSpPr>
          <p:cNvPr id="16" name="Rectangle 15">
            <a:extLst>
              <a:ext uri="{FF2B5EF4-FFF2-40B4-BE49-F238E27FC236}">
                <a16:creationId xmlns:a16="http://schemas.microsoft.com/office/drawing/2014/main" id="{A7B43D8C-E5BA-40DC-8021-1F16303AB701}"/>
              </a:ext>
            </a:extLst>
          </p:cNvPr>
          <p:cNvSpPr>
            <a:spLocks noGrp="1"/>
          </p:cNvSpPr>
          <p:nvPr/>
        </p:nvSpPr>
        <p:spPr>
          <a:xfrm>
            <a:off x="809625" y="4848225"/>
            <a:ext cx="4775454" cy="723900"/>
          </a:xfrm>
          <a:prstGeom prst="rect">
            <a:avLst/>
          </a:prstGeom>
          <a:noFill/>
          <a:ln w="0">
            <a:noFill/>
            <a:prstDash val="solid"/>
          </a:ln>
        </p:spPr>
        <p:txBody>
          <a:bodyPr wrap="square" lIns="0" tIns="0" rIns="0" bIns="0" anchor="t">
            <a:normAutofit/>
          </a:bodyPr>
          <a:lstStyle/>
          <a:p>
            <a:pPr algn="l">
              <a:defRPr sz="1200" b="0">
                <a:solidFill>
                  <a:srgbClr val="1E293B"/>
                </a:solidFill>
              </a:defRPr>
            </a:pPr>
            <a:r>
              <a:rPr sz="1200" b="1" u="sng" dirty="0">
                <a:solidFill>
                  <a:srgbClr val="1E293B"/>
                </a:solidFill>
              </a:rPr>
              <a:t>Goal:</a:t>
            </a:r>
            <a:r>
              <a:rPr lang="fr-FR" sz="1200" u="sng" dirty="0">
                <a:solidFill>
                  <a:srgbClr val="1E293B"/>
                </a:solidFill>
              </a:rPr>
              <a:t> </a:t>
            </a:r>
            <a:r>
              <a:rPr sz="1200" b="0" dirty="0">
                <a:solidFill>
                  <a:srgbClr val="1E293B"/>
                </a:solidFill>
              </a:rPr>
              <a:t>show which files to create, what to write in the JSON, and how the website turns that data into the left panel, source links, GPS route, and DNV tree.</a:t>
            </a:r>
          </a:p>
        </p:txBody>
      </p:sp>
      <p:sp>
        <p:nvSpPr>
          <p:cNvPr id="17" name="Rectangle 16">
            <a:extLst>
              <a:ext uri="{FF2B5EF4-FFF2-40B4-BE49-F238E27FC236}">
                <a16:creationId xmlns:a16="http://schemas.microsoft.com/office/drawing/2014/main" id="{83AAB7AE-8250-4E26-911D-55E47DB06931}"/>
              </a:ext>
            </a:extLst>
          </p:cNvPr>
          <p:cNvSpPr>
            <a:spLocks noGrp="1"/>
          </p:cNvSpPr>
          <p:nvPr/>
        </p:nvSpPr>
        <p:spPr>
          <a:xfrm>
            <a:off x="571500" y="6534150"/>
            <a:ext cx="3048000" cy="190500"/>
          </a:xfrm>
          <a:prstGeom prst="rect">
            <a:avLst/>
          </a:prstGeom>
          <a:noFill/>
          <a:ln w="0">
            <a:noFill/>
            <a:prstDash val="solid"/>
          </a:ln>
        </p:spPr>
        <p:txBody>
          <a:bodyPr wrap="square" lIns="0" tIns="0" rIns="0" bIns="0" anchor="t">
            <a:normAutofit/>
          </a:bodyPr>
          <a:lstStyle/>
          <a:p>
            <a:pPr algn="l">
              <a:defRPr sz="825" b="0">
                <a:solidFill>
                  <a:srgbClr val="64748B"/>
                </a:solidFill>
              </a:defRPr>
            </a:pPr>
            <a:r>
              <a:rPr sz="825" b="0">
                <a:solidFill>
                  <a:srgbClr val="64748B"/>
                </a:solidFill>
              </a:rPr>
              <a:t>Data Hub guide - new vessel workflow</a:t>
            </a:r>
          </a:p>
        </p:txBody>
      </p:sp>
      <p:sp>
        <p:nvSpPr>
          <p:cNvPr id="18" name="Rectangle 17">
            <a:extLst>
              <a:ext uri="{FF2B5EF4-FFF2-40B4-BE49-F238E27FC236}">
                <a16:creationId xmlns:a16="http://schemas.microsoft.com/office/drawing/2014/main" id="{1CDA06CA-6CC5-4742-87F6-3B1713A69EC1}"/>
              </a:ext>
            </a:extLst>
          </p:cNvPr>
          <p:cNvSpPr>
            <a:spLocks noGrp="1"/>
          </p:cNvSpPr>
          <p:nvPr/>
        </p:nvSpPr>
        <p:spPr>
          <a:xfrm>
            <a:off x="11144250" y="6496050"/>
            <a:ext cx="381000" cy="228600"/>
          </a:xfrm>
          <a:prstGeom prst="rect">
            <a:avLst/>
          </a:prstGeom>
          <a:noFill/>
          <a:ln w="0">
            <a:noFill/>
            <a:prstDash val="solid"/>
          </a:ln>
        </p:spPr>
        <p:txBody>
          <a:bodyPr wrap="square" lIns="0" tIns="0" rIns="0" bIns="0" anchor="t">
            <a:normAutofit/>
          </a:bodyPr>
          <a:lstStyle/>
          <a:p>
            <a:pPr algn="r">
              <a:defRPr sz="900" b="1">
                <a:solidFill>
                  <a:srgbClr val="64748B"/>
                </a:solidFill>
              </a:defRPr>
            </a:pPr>
            <a:r>
              <a:rPr sz="900" b="1">
                <a:solidFill>
                  <a:srgbClr val="64748B"/>
                </a:solidFill>
              </a:rPr>
              <a:t>1</a:t>
            </a:r>
          </a:p>
        </p:txBody>
      </p:sp>
      <p:pic>
        <p:nvPicPr>
          <p:cNvPr id="21" name="Image 20" descr="200 passagers d'une croisière de luxe bloqués dans la glace du Groenland à  2 000 kilomètres des secours | Vanity Fair">
            <a:extLst>
              <a:ext uri="{FF2B5EF4-FFF2-40B4-BE49-F238E27FC236}">
                <a16:creationId xmlns:a16="http://schemas.microsoft.com/office/drawing/2014/main" id="{DF8BB11E-3BCF-C1BB-EB01-6E6F104825D1}"/>
              </a:ext>
            </a:extLst>
          </p:cNvPr>
          <p:cNvPicPr>
            <a:picLocks noChangeAspect="1"/>
          </p:cNvPicPr>
          <p:nvPr/>
        </p:nvPicPr>
        <p:blipFill>
          <a:blip r:embed="rId3"/>
          <a:srcRect l="46644" r="7720"/>
          <a:stretch>
            <a:fillRect/>
          </a:stretch>
        </p:blipFill>
        <p:spPr>
          <a:xfrm>
            <a:off x="6934200" y="857893"/>
            <a:ext cx="4171950" cy="5142214"/>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13452032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8FB"/>
        </a:solidFill>
        <a:effectLst/>
      </p:bgPr>
    </p:bg>
    <p:spTree>
      <p:nvGrpSpPr>
        <p:cNvPr id="1" name=""/>
        <p:cNvGrpSpPr/>
        <p:nvPr/>
      </p:nvGrpSpPr>
      <p:grpSpPr>
        <a:xfrm>
          <a:off x="0" y="0"/>
          <a:ext cx="0" cy="0"/>
          <a:chOff x="0" y="0"/>
          <a:chExt cx="0" cy="0"/>
        </a:xfrm>
      </p:grpSpPr>
      <p:sp>
        <p:nvSpPr>
          <p:cNvPr id="45" name="Rectangle : coins arrondis 44">
            <a:extLst>
              <a:ext uri="{FF2B5EF4-FFF2-40B4-BE49-F238E27FC236}">
                <a16:creationId xmlns:a16="http://schemas.microsoft.com/office/drawing/2014/main" id="{55B230D3-3697-4CF4-8CBD-FD85A4EC1E50}"/>
              </a:ext>
            </a:extLst>
          </p:cNvPr>
          <p:cNvSpPr>
            <a:spLocks noGrp="1"/>
          </p:cNvSpPr>
          <p:nvPr/>
        </p:nvSpPr>
        <p:spPr>
          <a:xfrm>
            <a:off x="571500" y="361950"/>
            <a:ext cx="1619250" cy="285750"/>
          </a:xfrm>
          <a:prstGeom prst="roundRect">
            <a:avLst>
              <a:gd name="adj" fmla="val 50000"/>
            </a:avLst>
          </a:prstGeom>
          <a:solidFill>
            <a:srgbClr val="D97706"/>
          </a:solidFill>
          <a:ln w="0">
            <a:solidFill>
              <a:srgbClr val="D97706"/>
            </a:solidFill>
            <a:prstDash val="solid"/>
          </a:ln>
        </p:spPr>
        <p:txBody>
          <a:bodyPr/>
          <a:lstStyle/>
          <a:p>
            <a:endParaRPr lang="fr-FR"/>
          </a:p>
        </p:txBody>
      </p:sp>
      <p:sp>
        <p:nvSpPr>
          <p:cNvPr id="2" name="Rectangle 1">
            <a:extLst>
              <a:ext uri="{FF2B5EF4-FFF2-40B4-BE49-F238E27FC236}">
                <a16:creationId xmlns:a16="http://schemas.microsoft.com/office/drawing/2014/main" id="{D3533901-CFDB-452D-A8B4-4B828CAC3528}"/>
              </a:ext>
            </a:extLst>
          </p:cNvPr>
          <p:cNvSpPr>
            <a:spLocks noGrp="1"/>
          </p:cNvSpPr>
          <p:nvPr/>
        </p:nvSpPr>
        <p:spPr>
          <a:xfrm>
            <a:off x="571500" y="361950"/>
            <a:ext cx="1619250" cy="285750"/>
          </a:xfrm>
          <a:prstGeom prst="rect">
            <a:avLst/>
          </a:prstGeom>
          <a:noFill/>
          <a:ln w="0">
            <a:noFill/>
            <a:prstDash val="solid"/>
          </a:ln>
        </p:spPr>
        <p:txBody>
          <a:bodyPr wrap="square" lIns="76200" tIns="76200" rIns="76200" bIns="76200" anchor="ctr">
            <a:normAutofit fontScale="90833" lnSpcReduction="20000"/>
          </a:bodyPr>
          <a:lstStyle/>
          <a:p>
            <a:pPr algn="ctr">
              <a:defRPr sz="1050" b="1">
                <a:solidFill>
                  <a:srgbClr val="FFFFFF"/>
                </a:solidFill>
              </a:defRPr>
            </a:pPr>
            <a:r>
              <a:rPr sz="1050" b="1">
                <a:solidFill>
                  <a:srgbClr val="FFFFFF"/>
                </a:solidFill>
              </a:rPr>
              <a:t>SUMMARY</a:t>
            </a:r>
          </a:p>
        </p:txBody>
      </p:sp>
      <p:sp>
        <p:nvSpPr>
          <p:cNvPr id="3" name="Rectangle 2">
            <a:extLst>
              <a:ext uri="{FF2B5EF4-FFF2-40B4-BE49-F238E27FC236}">
                <a16:creationId xmlns:a16="http://schemas.microsoft.com/office/drawing/2014/main" id="{5ADC4DA3-DDD7-4089-86AF-CC17E237F54D}"/>
              </a:ext>
            </a:extLst>
          </p:cNvPr>
          <p:cNvSpPr>
            <a:spLocks noGrp="1"/>
          </p:cNvSpPr>
          <p:nvPr/>
        </p:nvSpPr>
        <p:spPr>
          <a:xfrm>
            <a:off x="571500" y="762000"/>
            <a:ext cx="11049000" cy="476250"/>
          </a:xfrm>
          <a:prstGeom prst="rect">
            <a:avLst/>
          </a:prstGeom>
          <a:noFill/>
          <a:ln w="0">
            <a:noFill/>
            <a:prstDash val="solid"/>
          </a:ln>
        </p:spPr>
        <p:txBody>
          <a:bodyPr wrap="square" lIns="0" tIns="0" rIns="0" bIns="0" anchor="t">
            <a:normAutofit/>
          </a:bodyPr>
          <a:lstStyle/>
          <a:p>
            <a:pPr algn="l">
              <a:defRPr sz="3000" b="1">
                <a:solidFill>
                  <a:srgbClr val="0F172A"/>
                </a:solidFill>
              </a:defRPr>
            </a:pPr>
            <a:r>
              <a:rPr sz="3000" b="1">
                <a:solidFill>
                  <a:srgbClr val="0F172A"/>
                </a:solidFill>
              </a:rPr>
              <a:t>This deck follows the real creation order</a:t>
            </a:r>
          </a:p>
        </p:txBody>
      </p:sp>
      <p:sp>
        <p:nvSpPr>
          <p:cNvPr id="4" name="Rectangle 3">
            <a:extLst>
              <a:ext uri="{FF2B5EF4-FFF2-40B4-BE49-F238E27FC236}">
                <a16:creationId xmlns:a16="http://schemas.microsoft.com/office/drawing/2014/main" id="{ACB17821-3953-46EC-9334-22B8B0040963}"/>
              </a:ext>
            </a:extLst>
          </p:cNvPr>
          <p:cNvSpPr>
            <a:spLocks noGrp="1"/>
          </p:cNvSpPr>
          <p:nvPr/>
        </p:nvSpPr>
        <p:spPr>
          <a:xfrm>
            <a:off x="742950" y="5372100"/>
            <a:ext cx="11049000" cy="323850"/>
          </a:xfrm>
          <a:prstGeom prst="rect">
            <a:avLst/>
          </a:prstGeom>
          <a:noFill/>
          <a:ln w="0">
            <a:noFill/>
            <a:prstDash val="solid"/>
          </a:ln>
        </p:spPr>
        <p:txBody>
          <a:bodyPr wrap="square" lIns="0" tIns="0" rIns="0" bIns="0" anchor="t">
            <a:normAutofit/>
          </a:bodyPr>
          <a:lstStyle/>
          <a:p>
            <a:pPr algn="l">
              <a:defRPr sz="1350" b="0">
                <a:solidFill>
                  <a:srgbClr val="475569"/>
                </a:solidFill>
              </a:defRPr>
            </a:pPr>
            <a:r>
              <a:rPr sz="1350" b="0" dirty="0">
                <a:solidFill>
                  <a:srgbClr val="475569"/>
                </a:solidFill>
              </a:rPr>
              <a:t>Blue slides are build steps. Green slides explain how the JSON controls the website.</a:t>
            </a:r>
          </a:p>
        </p:txBody>
      </p:sp>
      <p:sp>
        <p:nvSpPr>
          <p:cNvPr id="5" name="Rectangle : coins arrondis 4">
            <a:extLst>
              <a:ext uri="{FF2B5EF4-FFF2-40B4-BE49-F238E27FC236}">
                <a16:creationId xmlns:a16="http://schemas.microsoft.com/office/drawing/2014/main" id="{897FA41B-BA8D-4241-8B5D-370299F7B07E}"/>
              </a:ext>
            </a:extLst>
          </p:cNvPr>
          <p:cNvSpPr>
            <a:spLocks noGrp="1"/>
          </p:cNvSpPr>
          <p:nvPr/>
        </p:nvSpPr>
        <p:spPr>
          <a:xfrm>
            <a:off x="571500" y="1444371"/>
            <a:ext cx="3429000" cy="1524000"/>
          </a:xfrm>
          <a:prstGeom prst="roundRect">
            <a:avLst>
              <a:gd name="adj" fmla="val 10000"/>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6" name="Ellipse 5">
            <a:extLst>
              <a:ext uri="{FF2B5EF4-FFF2-40B4-BE49-F238E27FC236}">
                <a16:creationId xmlns:a16="http://schemas.microsoft.com/office/drawing/2014/main" id="{5451770D-DFC5-4351-B2FB-A1805CB1FCF7}"/>
              </a:ext>
            </a:extLst>
          </p:cNvPr>
          <p:cNvSpPr>
            <a:spLocks noGrp="1"/>
          </p:cNvSpPr>
          <p:nvPr/>
        </p:nvSpPr>
        <p:spPr>
          <a:xfrm>
            <a:off x="742950" y="1615821"/>
            <a:ext cx="342900" cy="342900"/>
          </a:xfrm>
          <a:prstGeom prst="ellipse">
            <a:avLst/>
          </a:prstGeom>
          <a:solidFill>
            <a:srgbClr val="2553D6"/>
          </a:solidFill>
          <a:ln w="0">
            <a:solidFill>
              <a:srgbClr val="2553D6"/>
            </a:solidFill>
            <a:prstDash val="solid"/>
          </a:ln>
        </p:spPr>
        <p:txBody>
          <a:bodyPr/>
          <a:lstStyle/>
          <a:p>
            <a:endParaRPr lang="fr-FR"/>
          </a:p>
        </p:txBody>
      </p:sp>
      <p:sp>
        <p:nvSpPr>
          <p:cNvPr id="7" name="Rectangle 6">
            <a:extLst>
              <a:ext uri="{FF2B5EF4-FFF2-40B4-BE49-F238E27FC236}">
                <a16:creationId xmlns:a16="http://schemas.microsoft.com/office/drawing/2014/main" id="{F1FFFEFB-992F-4E5D-9CF7-167FAF7E5695}"/>
              </a:ext>
            </a:extLst>
          </p:cNvPr>
          <p:cNvSpPr>
            <a:spLocks noGrp="1"/>
          </p:cNvSpPr>
          <p:nvPr/>
        </p:nvSpPr>
        <p:spPr>
          <a:xfrm>
            <a:off x="742950" y="1615821"/>
            <a:ext cx="342900" cy="342900"/>
          </a:xfrm>
          <a:prstGeom prst="rect">
            <a:avLst/>
          </a:prstGeom>
          <a:noFill/>
          <a:ln w="0">
            <a:noFill/>
            <a:prstDash val="solid"/>
          </a:ln>
        </p:spPr>
        <p:txBody>
          <a:bodyPr wrap="square" lIns="38100" tIns="38100" rIns="38100" bIns="38100" anchor="ctr">
            <a:normAutofit/>
          </a:bodyPr>
          <a:lstStyle/>
          <a:p>
            <a:pPr algn="ctr">
              <a:defRPr sz="1200" b="1">
                <a:solidFill>
                  <a:srgbClr val="FFFFFF"/>
                </a:solidFill>
              </a:defRPr>
            </a:pPr>
            <a:r>
              <a:rPr sz="1200" b="1">
                <a:solidFill>
                  <a:srgbClr val="FFFFFF"/>
                </a:solidFill>
              </a:rPr>
              <a:t>1</a:t>
            </a:r>
          </a:p>
        </p:txBody>
      </p:sp>
      <p:sp>
        <p:nvSpPr>
          <p:cNvPr id="8" name="Rectangle 7">
            <a:extLst>
              <a:ext uri="{FF2B5EF4-FFF2-40B4-BE49-F238E27FC236}">
                <a16:creationId xmlns:a16="http://schemas.microsoft.com/office/drawing/2014/main" id="{BC1F1CC1-23E4-41E7-9782-BB75DE44852B}"/>
              </a:ext>
            </a:extLst>
          </p:cNvPr>
          <p:cNvSpPr>
            <a:spLocks noGrp="1"/>
          </p:cNvSpPr>
          <p:nvPr/>
        </p:nvSpPr>
        <p:spPr>
          <a:xfrm>
            <a:off x="1181100" y="1615821"/>
            <a:ext cx="2647950" cy="247650"/>
          </a:xfrm>
          <a:prstGeom prst="rect">
            <a:avLst/>
          </a:prstGeom>
          <a:noFill/>
          <a:ln w="0">
            <a:noFill/>
            <a:prstDash val="solid"/>
          </a:ln>
        </p:spPr>
        <p:txBody>
          <a:bodyPr wrap="square" lIns="0" tIns="0" rIns="0" bIns="0" anchor="t">
            <a:normAutofit fontScale="97778" lnSpcReduction="10000"/>
          </a:bodyPr>
          <a:lstStyle/>
          <a:p>
            <a:pPr algn="l">
              <a:defRPr sz="1800" b="1">
                <a:solidFill>
                  <a:srgbClr val="0F172A"/>
                </a:solidFill>
              </a:defRPr>
            </a:pPr>
            <a:r>
              <a:rPr sz="1800" b="1">
                <a:solidFill>
                  <a:srgbClr val="0F172A"/>
                </a:solidFill>
              </a:rPr>
              <a:t>Create the vessel folder</a:t>
            </a:r>
          </a:p>
        </p:txBody>
      </p:sp>
      <p:sp>
        <p:nvSpPr>
          <p:cNvPr id="9" name="Rectangle 8">
            <a:extLst>
              <a:ext uri="{FF2B5EF4-FFF2-40B4-BE49-F238E27FC236}">
                <a16:creationId xmlns:a16="http://schemas.microsoft.com/office/drawing/2014/main" id="{BFE595EA-80C5-4DA2-8582-29E7F92320D0}"/>
              </a:ext>
            </a:extLst>
          </p:cNvPr>
          <p:cNvSpPr>
            <a:spLocks noGrp="1"/>
          </p:cNvSpPr>
          <p:nvPr/>
        </p:nvSpPr>
        <p:spPr>
          <a:xfrm>
            <a:off x="742950" y="2206371"/>
            <a:ext cx="3086100" cy="72390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dirty="0">
                <a:solidFill>
                  <a:srgbClr val="334155"/>
                </a:solidFill>
              </a:rPr>
              <a:t>Add </a:t>
            </a:r>
            <a:r>
              <a:rPr lang="fr-FR" sz="1200" b="0" dirty="0">
                <a:solidFill>
                  <a:srgbClr val="334155"/>
                </a:solidFill>
              </a:rPr>
              <a:t>a folder in the folder </a:t>
            </a:r>
            <a:r>
              <a:rPr lang="fr-FR" sz="1200" b="0" dirty="0" err="1">
                <a:solidFill>
                  <a:srgbClr val="334155"/>
                </a:solidFill>
              </a:rPr>
              <a:t>Projects</a:t>
            </a:r>
            <a:r>
              <a:rPr lang="fr-FR" sz="1200" b="0" dirty="0">
                <a:solidFill>
                  <a:srgbClr val="334155"/>
                </a:solidFill>
              </a:rPr>
              <a:t>, </a:t>
            </a:r>
            <a:r>
              <a:rPr lang="fr-FR" sz="1200" b="0" dirty="0" err="1">
                <a:solidFill>
                  <a:srgbClr val="334155"/>
                </a:solidFill>
              </a:rPr>
              <a:t>inside</a:t>
            </a:r>
            <a:r>
              <a:rPr lang="fr-FR" sz="1200" b="0" dirty="0">
                <a:solidFill>
                  <a:srgbClr val="334155"/>
                </a:solidFill>
              </a:rPr>
              <a:t> </a:t>
            </a:r>
            <a:r>
              <a:rPr lang="fr-FR" sz="1200" b="0" dirty="0" err="1">
                <a:solidFill>
                  <a:srgbClr val="334155"/>
                </a:solidFill>
              </a:rPr>
              <a:t>add</a:t>
            </a:r>
            <a:r>
              <a:rPr lang="fr-FR" sz="1200" b="0" dirty="0">
                <a:solidFill>
                  <a:srgbClr val="334155"/>
                </a:solidFill>
              </a:rPr>
              <a:t> </a:t>
            </a:r>
            <a:r>
              <a:rPr sz="1200" b="0" dirty="0">
                <a:solidFill>
                  <a:srgbClr val="334155"/>
                </a:solidFill>
              </a:rPr>
              <a:t>one folder </a:t>
            </a:r>
            <a:r>
              <a:rPr lang="fr-FR" sz="1200" b="0" dirty="0" err="1">
                <a:solidFill>
                  <a:srgbClr val="334155"/>
                </a:solidFill>
              </a:rPr>
              <a:t>named</a:t>
            </a:r>
            <a:r>
              <a:rPr sz="1200" b="0" dirty="0">
                <a:solidFill>
                  <a:srgbClr val="334155"/>
                </a:solidFill>
              </a:rPr>
              <a:t> JSON/ and </a:t>
            </a:r>
            <a:r>
              <a:rPr sz="1200" b="0" dirty="0" err="1">
                <a:solidFill>
                  <a:srgbClr val="334155"/>
                </a:solidFill>
              </a:rPr>
              <a:t>raw_DATA</a:t>
            </a:r>
            <a:r>
              <a:rPr sz="1200" b="0" dirty="0">
                <a:solidFill>
                  <a:srgbClr val="334155"/>
                </a:solidFill>
              </a:rPr>
              <a:t>/. </a:t>
            </a:r>
            <a:endParaRPr lang="fr-FR" sz="1200" b="0" dirty="0">
              <a:solidFill>
                <a:srgbClr val="334155"/>
              </a:solidFill>
            </a:endParaRPr>
          </a:p>
        </p:txBody>
      </p:sp>
      <p:sp>
        <p:nvSpPr>
          <p:cNvPr id="10" name="Rectangle : coins arrondis 9">
            <a:extLst>
              <a:ext uri="{FF2B5EF4-FFF2-40B4-BE49-F238E27FC236}">
                <a16:creationId xmlns:a16="http://schemas.microsoft.com/office/drawing/2014/main" id="{85522C68-9B85-48CF-B823-27D7D0FB6600}"/>
              </a:ext>
            </a:extLst>
          </p:cNvPr>
          <p:cNvSpPr>
            <a:spLocks noGrp="1"/>
          </p:cNvSpPr>
          <p:nvPr/>
        </p:nvSpPr>
        <p:spPr>
          <a:xfrm>
            <a:off x="4381500" y="1444371"/>
            <a:ext cx="3429000" cy="1524000"/>
          </a:xfrm>
          <a:prstGeom prst="roundRect">
            <a:avLst>
              <a:gd name="adj" fmla="val 10000"/>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11" name="Ellipse 10">
            <a:extLst>
              <a:ext uri="{FF2B5EF4-FFF2-40B4-BE49-F238E27FC236}">
                <a16:creationId xmlns:a16="http://schemas.microsoft.com/office/drawing/2014/main" id="{289F63B7-DFDE-4D95-ACA0-5ECE6334F711}"/>
              </a:ext>
            </a:extLst>
          </p:cNvPr>
          <p:cNvSpPr>
            <a:spLocks noGrp="1"/>
          </p:cNvSpPr>
          <p:nvPr/>
        </p:nvSpPr>
        <p:spPr>
          <a:xfrm>
            <a:off x="4552950" y="1615821"/>
            <a:ext cx="342900" cy="342900"/>
          </a:xfrm>
          <a:prstGeom prst="ellipse">
            <a:avLst/>
          </a:prstGeom>
          <a:solidFill>
            <a:srgbClr val="2553D6"/>
          </a:solidFill>
          <a:ln w="0">
            <a:solidFill>
              <a:srgbClr val="2553D6"/>
            </a:solidFill>
            <a:prstDash val="solid"/>
          </a:ln>
        </p:spPr>
        <p:txBody>
          <a:bodyPr/>
          <a:lstStyle/>
          <a:p>
            <a:endParaRPr lang="fr-FR"/>
          </a:p>
        </p:txBody>
      </p:sp>
      <p:sp>
        <p:nvSpPr>
          <p:cNvPr id="12" name="Rectangle 11">
            <a:extLst>
              <a:ext uri="{FF2B5EF4-FFF2-40B4-BE49-F238E27FC236}">
                <a16:creationId xmlns:a16="http://schemas.microsoft.com/office/drawing/2014/main" id="{8BAF0B1B-F811-47B0-9B34-88914505A38D}"/>
              </a:ext>
            </a:extLst>
          </p:cNvPr>
          <p:cNvSpPr>
            <a:spLocks noGrp="1"/>
          </p:cNvSpPr>
          <p:nvPr/>
        </p:nvSpPr>
        <p:spPr>
          <a:xfrm>
            <a:off x="4552950" y="1615821"/>
            <a:ext cx="342900" cy="342900"/>
          </a:xfrm>
          <a:prstGeom prst="rect">
            <a:avLst/>
          </a:prstGeom>
          <a:noFill/>
          <a:ln w="0">
            <a:noFill/>
            <a:prstDash val="solid"/>
          </a:ln>
        </p:spPr>
        <p:txBody>
          <a:bodyPr wrap="square" lIns="38100" tIns="38100" rIns="38100" bIns="38100" anchor="ctr">
            <a:normAutofit/>
          </a:bodyPr>
          <a:lstStyle/>
          <a:p>
            <a:pPr algn="ctr">
              <a:defRPr sz="1200" b="1">
                <a:solidFill>
                  <a:srgbClr val="FFFFFF"/>
                </a:solidFill>
              </a:defRPr>
            </a:pPr>
            <a:r>
              <a:rPr sz="1200" b="1">
                <a:solidFill>
                  <a:srgbClr val="FFFFFF"/>
                </a:solidFill>
              </a:rPr>
              <a:t>2</a:t>
            </a:r>
          </a:p>
        </p:txBody>
      </p:sp>
      <p:sp>
        <p:nvSpPr>
          <p:cNvPr id="13" name="Rectangle 12">
            <a:extLst>
              <a:ext uri="{FF2B5EF4-FFF2-40B4-BE49-F238E27FC236}">
                <a16:creationId xmlns:a16="http://schemas.microsoft.com/office/drawing/2014/main" id="{6C6EC219-1F16-441D-8645-0B7442450A8A}"/>
              </a:ext>
            </a:extLst>
          </p:cNvPr>
          <p:cNvSpPr>
            <a:spLocks noGrp="1"/>
          </p:cNvSpPr>
          <p:nvPr/>
        </p:nvSpPr>
        <p:spPr>
          <a:xfrm>
            <a:off x="4991100" y="1615821"/>
            <a:ext cx="2647950" cy="247650"/>
          </a:xfrm>
          <a:prstGeom prst="rect">
            <a:avLst/>
          </a:prstGeom>
          <a:noFill/>
          <a:ln w="0">
            <a:noFill/>
            <a:prstDash val="solid"/>
          </a:ln>
        </p:spPr>
        <p:txBody>
          <a:bodyPr wrap="square" lIns="0" tIns="0" rIns="0" bIns="0" anchor="t">
            <a:normAutofit fontScale="97778" lnSpcReduction="10000"/>
          </a:bodyPr>
          <a:lstStyle/>
          <a:p>
            <a:pPr algn="l">
              <a:defRPr sz="1800" b="1">
                <a:solidFill>
                  <a:srgbClr val="0F172A"/>
                </a:solidFill>
              </a:defRPr>
            </a:pPr>
            <a:r>
              <a:rPr sz="1800" b="1">
                <a:solidFill>
                  <a:srgbClr val="0F172A"/>
                </a:solidFill>
              </a:rPr>
              <a:t>Build the dashboard block</a:t>
            </a:r>
          </a:p>
        </p:txBody>
      </p:sp>
      <p:sp>
        <p:nvSpPr>
          <p:cNvPr id="14" name="Rectangle 13">
            <a:extLst>
              <a:ext uri="{FF2B5EF4-FFF2-40B4-BE49-F238E27FC236}">
                <a16:creationId xmlns:a16="http://schemas.microsoft.com/office/drawing/2014/main" id="{6320C92D-75E0-4DB9-9B16-6BEDB08C300A}"/>
              </a:ext>
            </a:extLst>
          </p:cNvPr>
          <p:cNvSpPr>
            <a:spLocks noGrp="1"/>
          </p:cNvSpPr>
          <p:nvPr/>
        </p:nvSpPr>
        <p:spPr>
          <a:xfrm>
            <a:off x="4552950" y="2073021"/>
            <a:ext cx="3086100" cy="72390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Write the block HTML, add the project image, and leave an empty list container for the vessel links.</a:t>
            </a:r>
          </a:p>
        </p:txBody>
      </p:sp>
      <p:sp>
        <p:nvSpPr>
          <p:cNvPr id="15" name="Rectangle : coins arrondis 14">
            <a:extLst>
              <a:ext uri="{FF2B5EF4-FFF2-40B4-BE49-F238E27FC236}">
                <a16:creationId xmlns:a16="http://schemas.microsoft.com/office/drawing/2014/main" id="{907F5C54-C1EF-42AC-BD46-7BA22527764A}"/>
              </a:ext>
            </a:extLst>
          </p:cNvPr>
          <p:cNvSpPr>
            <a:spLocks noGrp="1"/>
          </p:cNvSpPr>
          <p:nvPr/>
        </p:nvSpPr>
        <p:spPr>
          <a:xfrm>
            <a:off x="8191500" y="1444371"/>
            <a:ext cx="3429000" cy="1524000"/>
          </a:xfrm>
          <a:prstGeom prst="roundRect">
            <a:avLst>
              <a:gd name="adj" fmla="val 10000"/>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16" name="Ellipse 15">
            <a:extLst>
              <a:ext uri="{FF2B5EF4-FFF2-40B4-BE49-F238E27FC236}">
                <a16:creationId xmlns:a16="http://schemas.microsoft.com/office/drawing/2014/main" id="{A4E94869-2352-4284-98FB-2441BB92A667}"/>
              </a:ext>
            </a:extLst>
          </p:cNvPr>
          <p:cNvSpPr>
            <a:spLocks noGrp="1"/>
          </p:cNvSpPr>
          <p:nvPr/>
        </p:nvSpPr>
        <p:spPr>
          <a:xfrm>
            <a:off x="8362950" y="1615821"/>
            <a:ext cx="342900" cy="342900"/>
          </a:xfrm>
          <a:prstGeom prst="ellipse">
            <a:avLst/>
          </a:prstGeom>
          <a:solidFill>
            <a:srgbClr val="2553D6"/>
          </a:solidFill>
          <a:ln w="0">
            <a:solidFill>
              <a:srgbClr val="2553D6"/>
            </a:solidFill>
            <a:prstDash val="solid"/>
          </a:ln>
        </p:spPr>
        <p:txBody>
          <a:bodyPr/>
          <a:lstStyle/>
          <a:p>
            <a:endParaRPr lang="fr-FR"/>
          </a:p>
        </p:txBody>
      </p:sp>
      <p:sp>
        <p:nvSpPr>
          <p:cNvPr id="17" name="Rectangle 16">
            <a:extLst>
              <a:ext uri="{FF2B5EF4-FFF2-40B4-BE49-F238E27FC236}">
                <a16:creationId xmlns:a16="http://schemas.microsoft.com/office/drawing/2014/main" id="{5A4EDBBA-C0EF-48B2-A9C9-39536C77041B}"/>
              </a:ext>
            </a:extLst>
          </p:cNvPr>
          <p:cNvSpPr>
            <a:spLocks noGrp="1"/>
          </p:cNvSpPr>
          <p:nvPr/>
        </p:nvSpPr>
        <p:spPr>
          <a:xfrm>
            <a:off x="8362950" y="1615821"/>
            <a:ext cx="342900" cy="342900"/>
          </a:xfrm>
          <a:prstGeom prst="rect">
            <a:avLst/>
          </a:prstGeom>
          <a:noFill/>
          <a:ln w="0">
            <a:noFill/>
            <a:prstDash val="solid"/>
          </a:ln>
        </p:spPr>
        <p:txBody>
          <a:bodyPr wrap="square" lIns="38100" tIns="38100" rIns="38100" bIns="38100" anchor="ctr">
            <a:normAutofit/>
          </a:bodyPr>
          <a:lstStyle/>
          <a:p>
            <a:pPr algn="ctr">
              <a:defRPr sz="1200" b="1">
                <a:solidFill>
                  <a:srgbClr val="FFFFFF"/>
                </a:solidFill>
              </a:defRPr>
            </a:pPr>
            <a:r>
              <a:rPr sz="1200" b="1">
                <a:solidFill>
                  <a:srgbClr val="FFFFFF"/>
                </a:solidFill>
              </a:rPr>
              <a:t>3</a:t>
            </a:r>
          </a:p>
        </p:txBody>
      </p:sp>
      <p:sp>
        <p:nvSpPr>
          <p:cNvPr id="18" name="Rectangle 17">
            <a:extLst>
              <a:ext uri="{FF2B5EF4-FFF2-40B4-BE49-F238E27FC236}">
                <a16:creationId xmlns:a16="http://schemas.microsoft.com/office/drawing/2014/main" id="{E33D757E-9548-4685-AF9D-60B9049771B3}"/>
              </a:ext>
            </a:extLst>
          </p:cNvPr>
          <p:cNvSpPr>
            <a:spLocks noGrp="1"/>
          </p:cNvSpPr>
          <p:nvPr/>
        </p:nvSpPr>
        <p:spPr>
          <a:xfrm>
            <a:off x="8801100" y="1615821"/>
            <a:ext cx="2647950" cy="247650"/>
          </a:xfrm>
          <a:prstGeom prst="rect">
            <a:avLst/>
          </a:prstGeom>
          <a:noFill/>
          <a:ln w="0">
            <a:noFill/>
            <a:prstDash val="solid"/>
          </a:ln>
        </p:spPr>
        <p:txBody>
          <a:bodyPr wrap="square" lIns="0" tIns="0" rIns="0" bIns="0" anchor="t">
            <a:normAutofit fontScale="97778" lnSpcReduction="10000"/>
          </a:bodyPr>
          <a:lstStyle/>
          <a:p>
            <a:pPr algn="l">
              <a:defRPr sz="1800" b="1">
                <a:solidFill>
                  <a:srgbClr val="0F172A"/>
                </a:solidFill>
              </a:defRPr>
            </a:pPr>
            <a:r>
              <a:rPr sz="1800" b="1">
                <a:solidFill>
                  <a:srgbClr val="0F172A"/>
                </a:solidFill>
              </a:rPr>
              <a:t>Register the project</a:t>
            </a:r>
          </a:p>
        </p:txBody>
      </p:sp>
      <p:sp>
        <p:nvSpPr>
          <p:cNvPr id="19" name="Rectangle 18">
            <a:extLst>
              <a:ext uri="{FF2B5EF4-FFF2-40B4-BE49-F238E27FC236}">
                <a16:creationId xmlns:a16="http://schemas.microsoft.com/office/drawing/2014/main" id="{117EA2C9-353F-4FF0-8BCC-F774FB418737}"/>
              </a:ext>
            </a:extLst>
          </p:cNvPr>
          <p:cNvSpPr>
            <a:spLocks noGrp="1"/>
          </p:cNvSpPr>
          <p:nvPr/>
        </p:nvSpPr>
        <p:spPr>
          <a:xfrm>
            <a:off x="8362950" y="2073021"/>
            <a:ext cx="3086100" cy="72390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Add one entry in project-config.js so the generic page knows which JSON file to load.</a:t>
            </a:r>
          </a:p>
        </p:txBody>
      </p:sp>
      <p:sp>
        <p:nvSpPr>
          <p:cNvPr id="20" name="Rectangle : coins arrondis 19">
            <a:extLst>
              <a:ext uri="{FF2B5EF4-FFF2-40B4-BE49-F238E27FC236}">
                <a16:creationId xmlns:a16="http://schemas.microsoft.com/office/drawing/2014/main" id="{20BD5609-19F6-461A-B98B-8A738287635E}"/>
              </a:ext>
            </a:extLst>
          </p:cNvPr>
          <p:cNvSpPr>
            <a:spLocks noGrp="1"/>
          </p:cNvSpPr>
          <p:nvPr/>
        </p:nvSpPr>
        <p:spPr>
          <a:xfrm>
            <a:off x="571500" y="3292221"/>
            <a:ext cx="3429000" cy="1524000"/>
          </a:xfrm>
          <a:prstGeom prst="roundRect">
            <a:avLst>
              <a:gd name="adj" fmla="val 10000"/>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21" name="Ellipse 20">
            <a:extLst>
              <a:ext uri="{FF2B5EF4-FFF2-40B4-BE49-F238E27FC236}">
                <a16:creationId xmlns:a16="http://schemas.microsoft.com/office/drawing/2014/main" id="{56396C56-4D73-42E4-8574-13FF6DEB25D2}"/>
              </a:ext>
            </a:extLst>
          </p:cNvPr>
          <p:cNvSpPr>
            <a:spLocks noGrp="1"/>
          </p:cNvSpPr>
          <p:nvPr/>
        </p:nvSpPr>
        <p:spPr>
          <a:xfrm>
            <a:off x="742950" y="3463671"/>
            <a:ext cx="342900" cy="342900"/>
          </a:xfrm>
          <a:prstGeom prst="ellipse">
            <a:avLst/>
          </a:prstGeom>
          <a:solidFill>
            <a:srgbClr val="16803C"/>
          </a:solidFill>
          <a:ln w="0">
            <a:solidFill>
              <a:srgbClr val="16803C"/>
            </a:solidFill>
            <a:prstDash val="solid"/>
          </a:ln>
        </p:spPr>
        <p:txBody>
          <a:bodyPr/>
          <a:lstStyle/>
          <a:p>
            <a:endParaRPr lang="fr-FR"/>
          </a:p>
        </p:txBody>
      </p:sp>
      <p:sp>
        <p:nvSpPr>
          <p:cNvPr id="22" name="Rectangle 21">
            <a:extLst>
              <a:ext uri="{FF2B5EF4-FFF2-40B4-BE49-F238E27FC236}">
                <a16:creationId xmlns:a16="http://schemas.microsoft.com/office/drawing/2014/main" id="{D34CA423-C4BB-49CA-A4E4-0C9AB8C5FD1E}"/>
              </a:ext>
            </a:extLst>
          </p:cNvPr>
          <p:cNvSpPr>
            <a:spLocks noGrp="1"/>
          </p:cNvSpPr>
          <p:nvPr/>
        </p:nvSpPr>
        <p:spPr>
          <a:xfrm>
            <a:off x="742950" y="3463671"/>
            <a:ext cx="342900" cy="342900"/>
          </a:xfrm>
          <a:prstGeom prst="rect">
            <a:avLst/>
          </a:prstGeom>
          <a:noFill/>
          <a:ln w="0">
            <a:noFill/>
            <a:prstDash val="solid"/>
          </a:ln>
        </p:spPr>
        <p:txBody>
          <a:bodyPr wrap="square" lIns="38100" tIns="38100" rIns="38100" bIns="38100" anchor="ctr">
            <a:normAutofit/>
          </a:bodyPr>
          <a:lstStyle/>
          <a:p>
            <a:pPr algn="ctr">
              <a:defRPr sz="1200" b="1">
                <a:solidFill>
                  <a:srgbClr val="FFFFFF"/>
                </a:solidFill>
              </a:defRPr>
            </a:pPr>
            <a:r>
              <a:rPr sz="1200" b="1">
                <a:solidFill>
                  <a:srgbClr val="FFFFFF"/>
                </a:solidFill>
              </a:rPr>
              <a:t>4</a:t>
            </a:r>
          </a:p>
        </p:txBody>
      </p:sp>
      <p:sp>
        <p:nvSpPr>
          <p:cNvPr id="23" name="Rectangle 22">
            <a:extLst>
              <a:ext uri="{FF2B5EF4-FFF2-40B4-BE49-F238E27FC236}">
                <a16:creationId xmlns:a16="http://schemas.microsoft.com/office/drawing/2014/main" id="{5BB3C694-9FD2-484E-8AA2-79E6E8A569FD}"/>
              </a:ext>
            </a:extLst>
          </p:cNvPr>
          <p:cNvSpPr>
            <a:spLocks noGrp="1"/>
          </p:cNvSpPr>
          <p:nvPr/>
        </p:nvSpPr>
        <p:spPr>
          <a:xfrm>
            <a:off x="1181100" y="3463671"/>
            <a:ext cx="2647950" cy="247650"/>
          </a:xfrm>
          <a:prstGeom prst="rect">
            <a:avLst/>
          </a:prstGeom>
          <a:noFill/>
          <a:ln w="0">
            <a:noFill/>
            <a:prstDash val="solid"/>
          </a:ln>
        </p:spPr>
        <p:txBody>
          <a:bodyPr wrap="square" lIns="0" tIns="0" rIns="0" bIns="0" anchor="t">
            <a:normAutofit fontScale="97778" lnSpcReduction="10000"/>
          </a:bodyPr>
          <a:lstStyle/>
          <a:p>
            <a:pPr algn="l">
              <a:defRPr sz="1800" b="1">
                <a:solidFill>
                  <a:srgbClr val="0F172A"/>
                </a:solidFill>
              </a:defRPr>
            </a:pPr>
            <a:r>
              <a:rPr sz="1800" b="1">
                <a:solidFill>
                  <a:srgbClr val="0F172A"/>
                </a:solidFill>
              </a:rPr>
              <a:t>Create the main JSON</a:t>
            </a:r>
          </a:p>
        </p:txBody>
      </p:sp>
      <p:sp>
        <p:nvSpPr>
          <p:cNvPr id="24" name="Rectangle 23">
            <a:extLst>
              <a:ext uri="{FF2B5EF4-FFF2-40B4-BE49-F238E27FC236}">
                <a16:creationId xmlns:a16="http://schemas.microsoft.com/office/drawing/2014/main" id="{EA1804CA-28E3-4129-B842-52CE8E8A944A}"/>
              </a:ext>
            </a:extLst>
          </p:cNvPr>
          <p:cNvSpPr>
            <a:spLocks noGrp="1"/>
          </p:cNvSpPr>
          <p:nvPr/>
        </p:nvSpPr>
        <p:spPr>
          <a:xfrm>
            <a:off x="742950" y="3920871"/>
            <a:ext cx="3086100" cy="72390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Write summary and vessel_info. This is the main file the page reads.</a:t>
            </a:r>
          </a:p>
        </p:txBody>
      </p:sp>
      <p:sp>
        <p:nvSpPr>
          <p:cNvPr id="25" name="Rectangle : coins arrondis 24">
            <a:extLst>
              <a:ext uri="{FF2B5EF4-FFF2-40B4-BE49-F238E27FC236}">
                <a16:creationId xmlns:a16="http://schemas.microsoft.com/office/drawing/2014/main" id="{C93D54C4-FDC0-47B3-9ACC-69B29A4D07FB}"/>
              </a:ext>
            </a:extLst>
          </p:cNvPr>
          <p:cNvSpPr>
            <a:spLocks noGrp="1"/>
          </p:cNvSpPr>
          <p:nvPr/>
        </p:nvSpPr>
        <p:spPr>
          <a:xfrm>
            <a:off x="4381500" y="3292221"/>
            <a:ext cx="3429000" cy="1524000"/>
          </a:xfrm>
          <a:prstGeom prst="roundRect">
            <a:avLst>
              <a:gd name="adj" fmla="val 10000"/>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26" name="Ellipse 25">
            <a:extLst>
              <a:ext uri="{FF2B5EF4-FFF2-40B4-BE49-F238E27FC236}">
                <a16:creationId xmlns:a16="http://schemas.microsoft.com/office/drawing/2014/main" id="{D585CE71-DCB9-48A4-82C9-9A0CF7EA1AE4}"/>
              </a:ext>
            </a:extLst>
          </p:cNvPr>
          <p:cNvSpPr>
            <a:spLocks noGrp="1"/>
          </p:cNvSpPr>
          <p:nvPr/>
        </p:nvSpPr>
        <p:spPr>
          <a:xfrm>
            <a:off x="4552950" y="3463671"/>
            <a:ext cx="342900" cy="342900"/>
          </a:xfrm>
          <a:prstGeom prst="ellipse">
            <a:avLst/>
          </a:prstGeom>
          <a:solidFill>
            <a:srgbClr val="16803C"/>
          </a:solidFill>
          <a:ln w="0">
            <a:solidFill>
              <a:srgbClr val="16803C"/>
            </a:solidFill>
            <a:prstDash val="solid"/>
          </a:ln>
        </p:spPr>
        <p:txBody>
          <a:bodyPr/>
          <a:lstStyle/>
          <a:p>
            <a:endParaRPr lang="fr-FR"/>
          </a:p>
        </p:txBody>
      </p:sp>
      <p:sp>
        <p:nvSpPr>
          <p:cNvPr id="27" name="Rectangle 26">
            <a:extLst>
              <a:ext uri="{FF2B5EF4-FFF2-40B4-BE49-F238E27FC236}">
                <a16:creationId xmlns:a16="http://schemas.microsoft.com/office/drawing/2014/main" id="{25B77078-0856-4044-A67B-8181BEB40C40}"/>
              </a:ext>
            </a:extLst>
          </p:cNvPr>
          <p:cNvSpPr>
            <a:spLocks noGrp="1"/>
          </p:cNvSpPr>
          <p:nvPr/>
        </p:nvSpPr>
        <p:spPr>
          <a:xfrm>
            <a:off x="4552950" y="3463671"/>
            <a:ext cx="342900" cy="342900"/>
          </a:xfrm>
          <a:prstGeom prst="rect">
            <a:avLst/>
          </a:prstGeom>
          <a:noFill/>
          <a:ln w="0">
            <a:noFill/>
            <a:prstDash val="solid"/>
          </a:ln>
        </p:spPr>
        <p:txBody>
          <a:bodyPr wrap="square" lIns="38100" tIns="38100" rIns="38100" bIns="38100" anchor="ctr">
            <a:normAutofit/>
          </a:bodyPr>
          <a:lstStyle/>
          <a:p>
            <a:pPr algn="ctr">
              <a:defRPr sz="1200" b="1">
                <a:solidFill>
                  <a:srgbClr val="FFFFFF"/>
                </a:solidFill>
              </a:defRPr>
            </a:pPr>
            <a:r>
              <a:rPr sz="1200" b="1">
                <a:solidFill>
                  <a:srgbClr val="FFFFFF"/>
                </a:solidFill>
              </a:rPr>
              <a:t>5</a:t>
            </a:r>
          </a:p>
        </p:txBody>
      </p:sp>
      <p:sp>
        <p:nvSpPr>
          <p:cNvPr id="28" name="Rectangle 27">
            <a:extLst>
              <a:ext uri="{FF2B5EF4-FFF2-40B4-BE49-F238E27FC236}">
                <a16:creationId xmlns:a16="http://schemas.microsoft.com/office/drawing/2014/main" id="{68BA6B1C-E38E-4A33-BC6B-416C552D5DF4}"/>
              </a:ext>
            </a:extLst>
          </p:cNvPr>
          <p:cNvSpPr>
            <a:spLocks noGrp="1"/>
          </p:cNvSpPr>
          <p:nvPr/>
        </p:nvSpPr>
        <p:spPr>
          <a:xfrm>
            <a:off x="4991100" y="3463671"/>
            <a:ext cx="2647950" cy="247650"/>
          </a:xfrm>
          <a:prstGeom prst="rect">
            <a:avLst/>
          </a:prstGeom>
          <a:noFill/>
          <a:ln w="0">
            <a:noFill/>
            <a:prstDash val="solid"/>
          </a:ln>
        </p:spPr>
        <p:txBody>
          <a:bodyPr wrap="square" lIns="0" tIns="0" rIns="0" bIns="0" anchor="t">
            <a:normAutofit fontScale="97778" lnSpcReduction="10000"/>
          </a:bodyPr>
          <a:lstStyle/>
          <a:p>
            <a:pPr algn="l">
              <a:defRPr sz="1800" b="1">
                <a:solidFill>
                  <a:srgbClr val="0F172A"/>
                </a:solidFill>
              </a:defRPr>
            </a:pPr>
            <a:r>
              <a:rPr sz="1800" b="1">
                <a:solidFill>
                  <a:srgbClr val="0F172A"/>
                </a:solidFill>
              </a:rPr>
              <a:t>Map Link and DNV_path</a:t>
            </a:r>
          </a:p>
        </p:txBody>
      </p:sp>
      <p:sp>
        <p:nvSpPr>
          <p:cNvPr id="29" name="Rectangle 28">
            <a:extLst>
              <a:ext uri="{FF2B5EF4-FFF2-40B4-BE49-F238E27FC236}">
                <a16:creationId xmlns:a16="http://schemas.microsoft.com/office/drawing/2014/main" id="{E213796C-6A01-4CBE-8E96-E293F7BA502E}"/>
              </a:ext>
            </a:extLst>
          </p:cNvPr>
          <p:cNvSpPr>
            <a:spLocks noGrp="1"/>
          </p:cNvSpPr>
          <p:nvPr/>
        </p:nvSpPr>
        <p:spPr>
          <a:xfrm>
            <a:off x="4552950" y="3920871"/>
            <a:ext cx="3086100" cy="72390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Each JSON entry connects a visible value to a raw source file and a DNV location.</a:t>
            </a:r>
          </a:p>
        </p:txBody>
      </p:sp>
      <p:sp>
        <p:nvSpPr>
          <p:cNvPr id="30" name="Rectangle : coins arrondis 29">
            <a:extLst>
              <a:ext uri="{FF2B5EF4-FFF2-40B4-BE49-F238E27FC236}">
                <a16:creationId xmlns:a16="http://schemas.microsoft.com/office/drawing/2014/main" id="{E7D00FC0-94EB-4A33-88C2-829FC4D106B6}"/>
              </a:ext>
            </a:extLst>
          </p:cNvPr>
          <p:cNvSpPr>
            <a:spLocks noGrp="1"/>
          </p:cNvSpPr>
          <p:nvPr/>
        </p:nvSpPr>
        <p:spPr>
          <a:xfrm>
            <a:off x="8191500" y="3292221"/>
            <a:ext cx="3429000" cy="1524000"/>
          </a:xfrm>
          <a:prstGeom prst="roundRect">
            <a:avLst>
              <a:gd name="adj" fmla="val 10000"/>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31" name="Ellipse 30">
            <a:extLst>
              <a:ext uri="{FF2B5EF4-FFF2-40B4-BE49-F238E27FC236}">
                <a16:creationId xmlns:a16="http://schemas.microsoft.com/office/drawing/2014/main" id="{F245A9B2-549A-4572-8B6D-A64BBD0D41D4}"/>
              </a:ext>
            </a:extLst>
          </p:cNvPr>
          <p:cNvSpPr>
            <a:spLocks noGrp="1"/>
          </p:cNvSpPr>
          <p:nvPr/>
        </p:nvSpPr>
        <p:spPr>
          <a:xfrm>
            <a:off x="8362950" y="3463671"/>
            <a:ext cx="342900" cy="342900"/>
          </a:xfrm>
          <a:prstGeom prst="ellipse">
            <a:avLst/>
          </a:prstGeom>
          <a:solidFill>
            <a:srgbClr val="16803C"/>
          </a:solidFill>
          <a:ln w="0">
            <a:solidFill>
              <a:srgbClr val="16803C"/>
            </a:solidFill>
            <a:prstDash val="solid"/>
          </a:ln>
        </p:spPr>
        <p:txBody>
          <a:bodyPr/>
          <a:lstStyle/>
          <a:p>
            <a:endParaRPr lang="fr-FR"/>
          </a:p>
        </p:txBody>
      </p:sp>
      <p:sp>
        <p:nvSpPr>
          <p:cNvPr id="32" name="Rectangle 31">
            <a:extLst>
              <a:ext uri="{FF2B5EF4-FFF2-40B4-BE49-F238E27FC236}">
                <a16:creationId xmlns:a16="http://schemas.microsoft.com/office/drawing/2014/main" id="{95787D5D-3F02-4E9C-BDEC-43088046743A}"/>
              </a:ext>
            </a:extLst>
          </p:cNvPr>
          <p:cNvSpPr>
            <a:spLocks noGrp="1"/>
          </p:cNvSpPr>
          <p:nvPr/>
        </p:nvSpPr>
        <p:spPr>
          <a:xfrm>
            <a:off x="8362950" y="3463671"/>
            <a:ext cx="342900" cy="342900"/>
          </a:xfrm>
          <a:prstGeom prst="rect">
            <a:avLst/>
          </a:prstGeom>
          <a:noFill/>
          <a:ln w="0">
            <a:noFill/>
            <a:prstDash val="solid"/>
          </a:ln>
        </p:spPr>
        <p:txBody>
          <a:bodyPr wrap="square" lIns="38100" tIns="38100" rIns="38100" bIns="38100" anchor="ctr">
            <a:normAutofit/>
          </a:bodyPr>
          <a:lstStyle/>
          <a:p>
            <a:pPr algn="ctr">
              <a:defRPr sz="1200" b="1">
                <a:solidFill>
                  <a:srgbClr val="FFFFFF"/>
                </a:solidFill>
              </a:defRPr>
            </a:pPr>
            <a:r>
              <a:rPr sz="1200" b="1">
                <a:solidFill>
                  <a:srgbClr val="FFFFFF"/>
                </a:solidFill>
              </a:rPr>
              <a:t>6</a:t>
            </a:r>
          </a:p>
        </p:txBody>
      </p:sp>
      <p:sp>
        <p:nvSpPr>
          <p:cNvPr id="33" name="Rectangle 32">
            <a:extLst>
              <a:ext uri="{FF2B5EF4-FFF2-40B4-BE49-F238E27FC236}">
                <a16:creationId xmlns:a16="http://schemas.microsoft.com/office/drawing/2014/main" id="{4FCBC6A9-5ECE-424F-B747-AA9692F651EE}"/>
              </a:ext>
            </a:extLst>
          </p:cNvPr>
          <p:cNvSpPr>
            <a:spLocks noGrp="1"/>
          </p:cNvSpPr>
          <p:nvPr/>
        </p:nvSpPr>
        <p:spPr>
          <a:xfrm>
            <a:off x="8801100" y="3463671"/>
            <a:ext cx="2647950" cy="247650"/>
          </a:xfrm>
          <a:prstGeom prst="rect">
            <a:avLst/>
          </a:prstGeom>
          <a:noFill/>
          <a:ln w="0">
            <a:noFill/>
            <a:prstDash val="solid"/>
          </a:ln>
        </p:spPr>
        <p:txBody>
          <a:bodyPr wrap="square" lIns="0" tIns="0" rIns="0" bIns="0" anchor="t">
            <a:normAutofit fontScale="97778" lnSpcReduction="10000"/>
          </a:bodyPr>
          <a:lstStyle/>
          <a:p>
            <a:pPr algn="l">
              <a:defRPr sz="1800" b="1">
                <a:solidFill>
                  <a:srgbClr val="0F172A"/>
                </a:solidFill>
              </a:defRPr>
            </a:pPr>
            <a:r>
              <a:rPr sz="1800" b="1">
                <a:solidFill>
                  <a:srgbClr val="0F172A"/>
                </a:solidFill>
              </a:rPr>
              <a:t>Let the page build itself</a:t>
            </a:r>
          </a:p>
        </p:txBody>
      </p:sp>
      <p:sp>
        <p:nvSpPr>
          <p:cNvPr id="34" name="Rectangle 33">
            <a:extLst>
              <a:ext uri="{FF2B5EF4-FFF2-40B4-BE49-F238E27FC236}">
                <a16:creationId xmlns:a16="http://schemas.microsoft.com/office/drawing/2014/main" id="{F42D5031-D21A-40CB-9B13-575D0D39E706}"/>
              </a:ext>
            </a:extLst>
          </p:cNvPr>
          <p:cNvSpPr>
            <a:spLocks noGrp="1"/>
          </p:cNvSpPr>
          <p:nvPr/>
        </p:nvSpPr>
        <p:spPr>
          <a:xfrm>
            <a:off x="8362950" y="3920871"/>
            <a:ext cx="3086100" cy="72390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The shared scripts generate the left panel, the DNV tree, the downloads, and the GPS route automatically.</a:t>
            </a:r>
          </a:p>
        </p:txBody>
      </p:sp>
      <p:sp>
        <p:nvSpPr>
          <p:cNvPr id="35" name="Rectangle : coins arrondis 34">
            <a:extLst>
              <a:ext uri="{FF2B5EF4-FFF2-40B4-BE49-F238E27FC236}">
                <a16:creationId xmlns:a16="http://schemas.microsoft.com/office/drawing/2014/main" id="{71E52EB4-3687-42D6-991E-74F2EF02FBBF}"/>
              </a:ext>
            </a:extLst>
          </p:cNvPr>
          <p:cNvSpPr>
            <a:spLocks noGrp="1"/>
          </p:cNvSpPr>
          <p:nvPr/>
        </p:nvSpPr>
        <p:spPr>
          <a:xfrm>
            <a:off x="571500" y="5695950"/>
            <a:ext cx="5334000" cy="628650"/>
          </a:xfrm>
          <a:prstGeom prst="roundRect">
            <a:avLst>
              <a:gd name="adj" fmla="val 24242"/>
            </a:avLst>
          </a:prstGeom>
          <a:solidFill>
            <a:srgbClr val="E8EE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36" name="Rectangle : coins arrondis 35">
            <a:extLst>
              <a:ext uri="{FF2B5EF4-FFF2-40B4-BE49-F238E27FC236}">
                <a16:creationId xmlns:a16="http://schemas.microsoft.com/office/drawing/2014/main" id="{788D080F-3D07-40C9-9D29-0496E54EC3BA}"/>
              </a:ext>
            </a:extLst>
          </p:cNvPr>
          <p:cNvSpPr>
            <a:spLocks noGrp="1"/>
          </p:cNvSpPr>
          <p:nvPr/>
        </p:nvSpPr>
        <p:spPr>
          <a:xfrm>
            <a:off x="723900" y="5848350"/>
            <a:ext cx="1162050" cy="247650"/>
          </a:xfrm>
          <a:prstGeom prst="roundRect">
            <a:avLst>
              <a:gd name="adj" fmla="val 50000"/>
            </a:avLst>
          </a:prstGeom>
          <a:solidFill>
            <a:srgbClr val="2553D6"/>
          </a:solidFill>
          <a:ln w="0">
            <a:solidFill>
              <a:srgbClr val="2553D6"/>
            </a:solidFill>
            <a:prstDash val="solid"/>
          </a:ln>
        </p:spPr>
        <p:txBody>
          <a:bodyPr/>
          <a:lstStyle/>
          <a:p>
            <a:endParaRPr lang="fr-FR" dirty="0"/>
          </a:p>
        </p:txBody>
      </p:sp>
      <p:sp>
        <p:nvSpPr>
          <p:cNvPr id="37" name="Rectangle 36">
            <a:extLst>
              <a:ext uri="{FF2B5EF4-FFF2-40B4-BE49-F238E27FC236}">
                <a16:creationId xmlns:a16="http://schemas.microsoft.com/office/drawing/2014/main" id="{CFD48B54-F9C2-4A1B-9921-B362B1070AA7}"/>
              </a:ext>
            </a:extLst>
          </p:cNvPr>
          <p:cNvSpPr>
            <a:spLocks noGrp="1"/>
          </p:cNvSpPr>
          <p:nvPr/>
        </p:nvSpPr>
        <p:spPr>
          <a:xfrm>
            <a:off x="723900" y="5848350"/>
            <a:ext cx="1162050" cy="247650"/>
          </a:xfrm>
          <a:prstGeom prst="rect">
            <a:avLst/>
          </a:prstGeom>
          <a:noFill/>
          <a:ln w="0">
            <a:noFill/>
            <a:prstDash val="solid"/>
          </a:ln>
        </p:spPr>
        <p:txBody>
          <a:bodyPr wrap="square" lIns="76200" tIns="76200" rIns="76200" bIns="76200" anchor="ctr">
            <a:noAutofit/>
          </a:bodyPr>
          <a:lstStyle/>
          <a:p>
            <a:pPr algn="ctr">
              <a:defRPr sz="1050" b="1">
                <a:solidFill>
                  <a:srgbClr val="FFFFFF"/>
                </a:solidFill>
              </a:defRPr>
            </a:pPr>
            <a:r>
              <a:rPr sz="1000" b="1" dirty="0">
                <a:solidFill>
                  <a:srgbClr val="FFFFFF"/>
                </a:solidFill>
              </a:rPr>
              <a:t>BUILD STEP</a:t>
            </a:r>
          </a:p>
        </p:txBody>
      </p:sp>
      <p:sp>
        <p:nvSpPr>
          <p:cNvPr id="38" name="Rectangle 37">
            <a:extLst>
              <a:ext uri="{FF2B5EF4-FFF2-40B4-BE49-F238E27FC236}">
                <a16:creationId xmlns:a16="http://schemas.microsoft.com/office/drawing/2014/main" id="{B967DFC5-3E2C-4EED-8AA2-B2F8010EDF4B}"/>
              </a:ext>
            </a:extLst>
          </p:cNvPr>
          <p:cNvSpPr>
            <a:spLocks noGrp="1"/>
          </p:cNvSpPr>
          <p:nvPr/>
        </p:nvSpPr>
        <p:spPr>
          <a:xfrm>
            <a:off x="723900" y="6210300"/>
            <a:ext cx="5029200" cy="0"/>
          </a:xfrm>
          <a:prstGeom prst="rect">
            <a:avLst/>
          </a:prstGeom>
          <a:noFill/>
          <a:ln w="0">
            <a:noFill/>
            <a:prstDash val="solid"/>
          </a:ln>
        </p:spPr>
        <p:txBody>
          <a:bodyPr wrap="square" lIns="0" tIns="0" rIns="0" bIns="0" anchor="t">
            <a:normAutofit fontScale="25000" lnSpcReduction="20000"/>
          </a:bodyPr>
          <a:lstStyle/>
          <a:p>
            <a:pPr algn="l">
              <a:defRPr sz="1200" b="0">
                <a:solidFill>
                  <a:srgbClr val="334155"/>
                </a:solidFill>
              </a:defRPr>
            </a:pPr>
            <a:r>
              <a:rPr sz="1200" b="0">
                <a:solidFill>
                  <a:srgbClr val="334155"/>
                </a:solidFill>
              </a:rPr>
              <a:t>Edit files or add content.</a:t>
            </a:r>
          </a:p>
        </p:txBody>
      </p:sp>
      <p:sp>
        <p:nvSpPr>
          <p:cNvPr id="39" name="Rectangle : coins arrondis 38">
            <a:extLst>
              <a:ext uri="{FF2B5EF4-FFF2-40B4-BE49-F238E27FC236}">
                <a16:creationId xmlns:a16="http://schemas.microsoft.com/office/drawing/2014/main" id="{333EA040-D227-4331-A40F-7E80539CB847}"/>
              </a:ext>
            </a:extLst>
          </p:cNvPr>
          <p:cNvSpPr>
            <a:spLocks noGrp="1"/>
          </p:cNvSpPr>
          <p:nvPr/>
        </p:nvSpPr>
        <p:spPr>
          <a:xfrm>
            <a:off x="6191250" y="5695950"/>
            <a:ext cx="5334000" cy="628650"/>
          </a:xfrm>
          <a:prstGeom prst="roundRect">
            <a:avLst>
              <a:gd name="adj" fmla="val 24242"/>
            </a:avLst>
          </a:prstGeom>
          <a:solidFill>
            <a:srgbClr val="EBFBF1"/>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40" name="Rectangle : coins arrondis 39">
            <a:extLst>
              <a:ext uri="{FF2B5EF4-FFF2-40B4-BE49-F238E27FC236}">
                <a16:creationId xmlns:a16="http://schemas.microsoft.com/office/drawing/2014/main" id="{65A3F535-F9D3-45DD-AC52-1EE39D8AF37D}"/>
              </a:ext>
            </a:extLst>
          </p:cNvPr>
          <p:cNvSpPr>
            <a:spLocks noGrp="1"/>
          </p:cNvSpPr>
          <p:nvPr/>
        </p:nvSpPr>
        <p:spPr>
          <a:xfrm>
            <a:off x="6343650" y="5848350"/>
            <a:ext cx="1162050" cy="247650"/>
          </a:xfrm>
          <a:prstGeom prst="roundRect">
            <a:avLst>
              <a:gd name="adj" fmla="val 50000"/>
            </a:avLst>
          </a:prstGeom>
          <a:solidFill>
            <a:srgbClr val="16803C"/>
          </a:solidFill>
          <a:ln w="0">
            <a:solidFill>
              <a:srgbClr val="16803C"/>
            </a:solidFill>
            <a:prstDash val="solid"/>
          </a:ln>
        </p:spPr>
        <p:txBody>
          <a:bodyPr/>
          <a:lstStyle/>
          <a:p>
            <a:endParaRPr lang="fr-FR"/>
          </a:p>
        </p:txBody>
      </p:sp>
      <p:sp>
        <p:nvSpPr>
          <p:cNvPr id="41" name="Rectangle 40">
            <a:extLst>
              <a:ext uri="{FF2B5EF4-FFF2-40B4-BE49-F238E27FC236}">
                <a16:creationId xmlns:a16="http://schemas.microsoft.com/office/drawing/2014/main" id="{FF9C6D8F-E013-4057-9E0D-4442FD7F3787}"/>
              </a:ext>
            </a:extLst>
          </p:cNvPr>
          <p:cNvSpPr>
            <a:spLocks noGrp="1"/>
          </p:cNvSpPr>
          <p:nvPr/>
        </p:nvSpPr>
        <p:spPr>
          <a:xfrm>
            <a:off x="6343650" y="5848350"/>
            <a:ext cx="1162050" cy="247650"/>
          </a:xfrm>
          <a:prstGeom prst="rect">
            <a:avLst/>
          </a:prstGeom>
          <a:noFill/>
          <a:ln w="0">
            <a:noFill/>
            <a:prstDash val="solid"/>
          </a:ln>
        </p:spPr>
        <p:txBody>
          <a:bodyPr wrap="square" lIns="76200" tIns="76200" rIns="76200" bIns="76200" anchor="ctr">
            <a:noAutofit/>
          </a:bodyPr>
          <a:lstStyle/>
          <a:p>
            <a:pPr algn="ctr">
              <a:defRPr sz="1050" b="1">
                <a:solidFill>
                  <a:srgbClr val="FFFFFF"/>
                </a:solidFill>
              </a:defRPr>
            </a:pPr>
            <a:r>
              <a:rPr sz="1000" b="1" dirty="0">
                <a:solidFill>
                  <a:srgbClr val="FFFFFF"/>
                </a:solidFill>
              </a:rPr>
              <a:t>REFERENCE</a:t>
            </a:r>
          </a:p>
        </p:txBody>
      </p:sp>
      <p:sp>
        <p:nvSpPr>
          <p:cNvPr id="42" name="Rectangle 41">
            <a:extLst>
              <a:ext uri="{FF2B5EF4-FFF2-40B4-BE49-F238E27FC236}">
                <a16:creationId xmlns:a16="http://schemas.microsoft.com/office/drawing/2014/main" id="{57B95B93-EBE6-4410-812E-D54CB1D47896}"/>
              </a:ext>
            </a:extLst>
          </p:cNvPr>
          <p:cNvSpPr>
            <a:spLocks noGrp="1"/>
          </p:cNvSpPr>
          <p:nvPr/>
        </p:nvSpPr>
        <p:spPr>
          <a:xfrm>
            <a:off x="6343650" y="6210300"/>
            <a:ext cx="5029200" cy="0"/>
          </a:xfrm>
          <a:prstGeom prst="rect">
            <a:avLst/>
          </a:prstGeom>
          <a:noFill/>
          <a:ln w="0">
            <a:noFill/>
            <a:prstDash val="solid"/>
          </a:ln>
        </p:spPr>
        <p:txBody>
          <a:bodyPr wrap="square" lIns="0" tIns="0" rIns="0" bIns="0" anchor="t">
            <a:normAutofit fontScale="25000" lnSpcReduction="20000"/>
          </a:bodyPr>
          <a:lstStyle/>
          <a:p>
            <a:pPr algn="l">
              <a:defRPr sz="1200" b="0">
                <a:solidFill>
                  <a:srgbClr val="334155"/>
                </a:solidFill>
              </a:defRPr>
            </a:pPr>
            <a:r>
              <a:rPr sz="1200" b="0">
                <a:solidFill>
                  <a:srgbClr val="334155"/>
                </a:solidFill>
              </a:rPr>
              <a:t>Understand what each JSON field does.</a:t>
            </a:r>
          </a:p>
        </p:txBody>
      </p:sp>
      <p:sp>
        <p:nvSpPr>
          <p:cNvPr id="43" name="Rectangle 42">
            <a:extLst>
              <a:ext uri="{FF2B5EF4-FFF2-40B4-BE49-F238E27FC236}">
                <a16:creationId xmlns:a16="http://schemas.microsoft.com/office/drawing/2014/main" id="{52584E1E-CB37-46C3-8DA1-02013B1285EE}"/>
              </a:ext>
            </a:extLst>
          </p:cNvPr>
          <p:cNvSpPr>
            <a:spLocks noGrp="1"/>
          </p:cNvSpPr>
          <p:nvPr/>
        </p:nvSpPr>
        <p:spPr>
          <a:xfrm>
            <a:off x="571500" y="6534150"/>
            <a:ext cx="3048000" cy="190500"/>
          </a:xfrm>
          <a:prstGeom prst="rect">
            <a:avLst/>
          </a:prstGeom>
          <a:noFill/>
          <a:ln w="0">
            <a:noFill/>
            <a:prstDash val="solid"/>
          </a:ln>
        </p:spPr>
        <p:txBody>
          <a:bodyPr wrap="square" lIns="0" tIns="0" rIns="0" bIns="0" anchor="t">
            <a:normAutofit/>
          </a:bodyPr>
          <a:lstStyle/>
          <a:p>
            <a:pPr algn="l">
              <a:defRPr sz="825" b="0">
                <a:solidFill>
                  <a:srgbClr val="64748B"/>
                </a:solidFill>
              </a:defRPr>
            </a:pPr>
            <a:r>
              <a:rPr sz="825" b="0">
                <a:solidFill>
                  <a:srgbClr val="64748B"/>
                </a:solidFill>
              </a:rPr>
              <a:t>Data Hub guide - new vessel workflow</a:t>
            </a:r>
          </a:p>
        </p:txBody>
      </p:sp>
      <p:sp>
        <p:nvSpPr>
          <p:cNvPr id="44" name="Rectangle 43">
            <a:extLst>
              <a:ext uri="{FF2B5EF4-FFF2-40B4-BE49-F238E27FC236}">
                <a16:creationId xmlns:a16="http://schemas.microsoft.com/office/drawing/2014/main" id="{0AB46CD4-5B26-4D59-A679-C746EB0F1195}"/>
              </a:ext>
            </a:extLst>
          </p:cNvPr>
          <p:cNvSpPr>
            <a:spLocks noGrp="1"/>
          </p:cNvSpPr>
          <p:nvPr/>
        </p:nvSpPr>
        <p:spPr>
          <a:xfrm>
            <a:off x="11144250" y="6496050"/>
            <a:ext cx="381000" cy="228600"/>
          </a:xfrm>
          <a:prstGeom prst="rect">
            <a:avLst/>
          </a:prstGeom>
          <a:noFill/>
          <a:ln w="0">
            <a:noFill/>
            <a:prstDash val="solid"/>
          </a:ln>
        </p:spPr>
        <p:txBody>
          <a:bodyPr wrap="square" lIns="0" tIns="0" rIns="0" bIns="0" anchor="t">
            <a:normAutofit/>
          </a:bodyPr>
          <a:lstStyle/>
          <a:p>
            <a:pPr algn="r">
              <a:defRPr sz="900" b="1">
                <a:solidFill>
                  <a:srgbClr val="64748B"/>
                </a:solidFill>
              </a:defRPr>
            </a:pPr>
            <a:r>
              <a:rPr sz="900" b="1">
                <a:solidFill>
                  <a:srgbClr val="64748B"/>
                </a:solidFill>
              </a:rPr>
              <a:t>2</a:t>
            </a:r>
          </a:p>
        </p:txBody>
      </p:sp>
    </p:spTree>
    <p:extLst>
      <p:ext uri="{BB962C8B-B14F-4D97-AF65-F5344CB8AC3E}">
        <p14:creationId xmlns:p14="http://schemas.microsoft.com/office/powerpoint/2010/main" val="20063444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8FB"/>
        </a:solidFill>
        <a:effectLst/>
      </p:bgPr>
    </p:bg>
    <p:spTree>
      <p:nvGrpSpPr>
        <p:cNvPr id="1" name=""/>
        <p:cNvGrpSpPr/>
        <p:nvPr/>
      </p:nvGrpSpPr>
      <p:grpSpPr>
        <a:xfrm>
          <a:off x="0" y="0"/>
          <a:ext cx="0" cy="0"/>
          <a:chOff x="0" y="0"/>
          <a:chExt cx="0" cy="0"/>
        </a:xfrm>
      </p:grpSpPr>
      <p:sp>
        <p:nvSpPr>
          <p:cNvPr id="25" name="Rectangle : coins arrondis 24">
            <a:extLst>
              <a:ext uri="{FF2B5EF4-FFF2-40B4-BE49-F238E27FC236}">
                <a16:creationId xmlns:a16="http://schemas.microsoft.com/office/drawing/2014/main" id="{AFE50C17-62D4-484D-A632-1A7919578161}"/>
              </a:ext>
            </a:extLst>
          </p:cNvPr>
          <p:cNvSpPr>
            <a:spLocks noGrp="1"/>
          </p:cNvSpPr>
          <p:nvPr/>
        </p:nvSpPr>
        <p:spPr>
          <a:xfrm>
            <a:off x="571500" y="361950"/>
            <a:ext cx="1619250" cy="285750"/>
          </a:xfrm>
          <a:prstGeom prst="roundRect">
            <a:avLst>
              <a:gd name="adj" fmla="val 50000"/>
            </a:avLst>
          </a:prstGeom>
          <a:solidFill>
            <a:srgbClr val="2553D6"/>
          </a:solidFill>
          <a:ln w="0">
            <a:solidFill>
              <a:srgbClr val="2553D6"/>
            </a:solidFill>
            <a:prstDash val="solid"/>
          </a:ln>
        </p:spPr>
        <p:txBody>
          <a:bodyPr/>
          <a:lstStyle/>
          <a:p>
            <a:endParaRPr lang="fr-FR"/>
          </a:p>
        </p:txBody>
      </p:sp>
      <p:sp>
        <p:nvSpPr>
          <p:cNvPr id="2" name="Rectangle 1">
            <a:extLst>
              <a:ext uri="{FF2B5EF4-FFF2-40B4-BE49-F238E27FC236}">
                <a16:creationId xmlns:a16="http://schemas.microsoft.com/office/drawing/2014/main" id="{CCC6A4BC-555A-423F-9107-06A486DA516D}"/>
              </a:ext>
            </a:extLst>
          </p:cNvPr>
          <p:cNvSpPr>
            <a:spLocks noGrp="1"/>
          </p:cNvSpPr>
          <p:nvPr/>
        </p:nvSpPr>
        <p:spPr>
          <a:xfrm>
            <a:off x="571500" y="361950"/>
            <a:ext cx="1619250" cy="285750"/>
          </a:xfrm>
          <a:prstGeom prst="rect">
            <a:avLst/>
          </a:prstGeom>
          <a:noFill/>
          <a:ln w="0">
            <a:noFill/>
            <a:prstDash val="solid"/>
          </a:ln>
        </p:spPr>
        <p:txBody>
          <a:bodyPr wrap="square" lIns="76200" tIns="76200" rIns="76200" bIns="76200" anchor="ctr">
            <a:normAutofit fontScale="90833" lnSpcReduction="20000"/>
          </a:bodyPr>
          <a:lstStyle/>
          <a:p>
            <a:pPr algn="ctr">
              <a:defRPr sz="1050" b="1">
                <a:solidFill>
                  <a:srgbClr val="FFFFFF"/>
                </a:solidFill>
              </a:defRPr>
            </a:pPr>
            <a:r>
              <a:rPr sz="1050" b="1">
                <a:solidFill>
                  <a:srgbClr val="FFFFFF"/>
                </a:solidFill>
              </a:rPr>
              <a:t>BUILD STEP 1</a:t>
            </a:r>
          </a:p>
        </p:txBody>
      </p:sp>
      <p:sp>
        <p:nvSpPr>
          <p:cNvPr id="3" name="Rectangle 2">
            <a:extLst>
              <a:ext uri="{FF2B5EF4-FFF2-40B4-BE49-F238E27FC236}">
                <a16:creationId xmlns:a16="http://schemas.microsoft.com/office/drawing/2014/main" id="{5CC83891-17D9-4294-8756-D5319311A9EC}"/>
              </a:ext>
            </a:extLst>
          </p:cNvPr>
          <p:cNvSpPr>
            <a:spLocks noGrp="1"/>
          </p:cNvSpPr>
          <p:nvPr/>
        </p:nvSpPr>
        <p:spPr>
          <a:xfrm>
            <a:off x="571500" y="762000"/>
            <a:ext cx="11049000" cy="476250"/>
          </a:xfrm>
          <a:prstGeom prst="rect">
            <a:avLst/>
          </a:prstGeom>
          <a:noFill/>
          <a:ln w="0">
            <a:noFill/>
            <a:prstDash val="solid"/>
          </a:ln>
        </p:spPr>
        <p:txBody>
          <a:bodyPr wrap="square" lIns="0" tIns="0" rIns="0" bIns="0" anchor="t">
            <a:normAutofit/>
          </a:bodyPr>
          <a:lstStyle/>
          <a:p>
            <a:pPr algn="l">
              <a:defRPr sz="3000" b="1">
                <a:solidFill>
                  <a:srgbClr val="0F172A"/>
                </a:solidFill>
              </a:defRPr>
            </a:pPr>
            <a:r>
              <a:rPr sz="3000" b="1">
                <a:solidFill>
                  <a:srgbClr val="0F172A"/>
                </a:solidFill>
              </a:rPr>
              <a:t>Create the vessel folder before writing any code</a:t>
            </a:r>
          </a:p>
        </p:txBody>
      </p:sp>
      <p:sp>
        <p:nvSpPr>
          <p:cNvPr id="4" name="Rectangle 3">
            <a:extLst>
              <a:ext uri="{FF2B5EF4-FFF2-40B4-BE49-F238E27FC236}">
                <a16:creationId xmlns:a16="http://schemas.microsoft.com/office/drawing/2014/main" id="{05CD2C1D-0951-4E90-9057-1CE84894F697}"/>
              </a:ext>
            </a:extLst>
          </p:cNvPr>
          <p:cNvSpPr>
            <a:spLocks noGrp="1"/>
          </p:cNvSpPr>
          <p:nvPr/>
        </p:nvSpPr>
        <p:spPr>
          <a:xfrm>
            <a:off x="571500" y="1181100"/>
            <a:ext cx="11049000" cy="323850"/>
          </a:xfrm>
          <a:prstGeom prst="rect">
            <a:avLst/>
          </a:prstGeom>
          <a:noFill/>
          <a:ln w="0">
            <a:noFill/>
            <a:prstDash val="solid"/>
          </a:ln>
        </p:spPr>
        <p:txBody>
          <a:bodyPr wrap="square" lIns="0" tIns="0" rIns="0" bIns="0" anchor="t">
            <a:normAutofit/>
          </a:bodyPr>
          <a:lstStyle/>
          <a:p>
            <a:pPr algn="l">
              <a:defRPr sz="1350" b="0">
                <a:solidFill>
                  <a:srgbClr val="475569"/>
                </a:solidFill>
              </a:defRPr>
            </a:pPr>
            <a:r>
              <a:rPr sz="1350" b="0" dirty="0">
                <a:solidFill>
                  <a:srgbClr val="475569"/>
                </a:solidFill>
              </a:rPr>
              <a:t>Keep the main JSON file </a:t>
            </a:r>
            <a:r>
              <a:rPr lang="fr-FR" sz="1350" b="0" dirty="0">
                <a:solidFill>
                  <a:srgbClr val="475569"/>
                </a:solidFill>
              </a:rPr>
              <a:t>in the folder </a:t>
            </a:r>
            <a:r>
              <a:rPr lang="fr-FR" sz="1350" b="0" dirty="0" err="1">
                <a:solidFill>
                  <a:srgbClr val="475569"/>
                </a:solidFill>
              </a:rPr>
              <a:t>named</a:t>
            </a:r>
            <a:r>
              <a:rPr lang="fr-FR" sz="1350" b="0" dirty="0">
                <a:solidFill>
                  <a:srgbClr val="475569"/>
                </a:solidFill>
              </a:rPr>
              <a:t> JSON/ </a:t>
            </a:r>
            <a:r>
              <a:rPr sz="1350" b="0" dirty="0">
                <a:solidFill>
                  <a:srgbClr val="475569"/>
                </a:solidFill>
              </a:rPr>
              <a:t>and the raw sources </a:t>
            </a:r>
            <a:r>
              <a:rPr lang="fr-FR" sz="1350" b="0" dirty="0">
                <a:solidFill>
                  <a:srgbClr val="475569"/>
                </a:solidFill>
              </a:rPr>
              <a:t>in the folder </a:t>
            </a:r>
            <a:r>
              <a:rPr lang="fr-FR" sz="1350" b="0" dirty="0" err="1">
                <a:solidFill>
                  <a:srgbClr val="475569"/>
                </a:solidFill>
              </a:rPr>
              <a:t>named</a:t>
            </a:r>
            <a:r>
              <a:rPr lang="fr-FR" sz="1350" b="0" dirty="0">
                <a:solidFill>
                  <a:srgbClr val="475569"/>
                </a:solidFill>
              </a:rPr>
              <a:t> </a:t>
            </a:r>
            <a:r>
              <a:rPr lang="fr-FR" sz="1350" b="0" dirty="0" err="1">
                <a:solidFill>
                  <a:srgbClr val="475569"/>
                </a:solidFill>
              </a:rPr>
              <a:t>raw_DATA</a:t>
            </a:r>
            <a:r>
              <a:rPr sz="1350" b="0" dirty="0">
                <a:solidFill>
                  <a:srgbClr val="475569"/>
                </a:solidFill>
              </a:rPr>
              <a:t>.</a:t>
            </a:r>
          </a:p>
        </p:txBody>
      </p:sp>
      <p:sp>
        <p:nvSpPr>
          <p:cNvPr id="5" name="Rectangle : coins arrondis 4">
            <a:extLst>
              <a:ext uri="{FF2B5EF4-FFF2-40B4-BE49-F238E27FC236}">
                <a16:creationId xmlns:a16="http://schemas.microsoft.com/office/drawing/2014/main" id="{A6E3304C-7A83-4066-99B6-A4B6863A6236}"/>
              </a:ext>
            </a:extLst>
          </p:cNvPr>
          <p:cNvSpPr>
            <a:spLocks noGrp="1"/>
          </p:cNvSpPr>
          <p:nvPr/>
        </p:nvSpPr>
        <p:spPr>
          <a:xfrm>
            <a:off x="571500" y="1790700"/>
            <a:ext cx="4953000" cy="4000500"/>
          </a:xfrm>
          <a:prstGeom prst="roundRect">
            <a:avLst>
              <a:gd name="adj" fmla="val 3810"/>
            </a:avLst>
          </a:prstGeom>
          <a:solidFill>
            <a:srgbClr val="0B1220"/>
          </a:solidFill>
          <a:ln w="9525">
            <a:solidFill>
              <a:srgbClr val="1E293B"/>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6" name="Rectangle 5">
            <a:extLst>
              <a:ext uri="{FF2B5EF4-FFF2-40B4-BE49-F238E27FC236}">
                <a16:creationId xmlns:a16="http://schemas.microsoft.com/office/drawing/2014/main" id="{E9BCAA80-A151-4CBB-9BAA-7E4CD71E77CC}"/>
              </a:ext>
            </a:extLst>
          </p:cNvPr>
          <p:cNvSpPr>
            <a:spLocks noGrp="1"/>
          </p:cNvSpPr>
          <p:nvPr/>
        </p:nvSpPr>
        <p:spPr>
          <a:xfrm>
            <a:off x="762000" y="2466975"/>
            <a:ext cx="4610100" cy="3695700"/>
          </a:xfrm>
          <a:prstGeom prst="rect">
            <a:avLst/>
          </a:prstGeom>
          <a:noFill/>
          <a:ln w="0">
            <a:noFill/>
            <a:prstDash val="solid"/>
          </a:ln>
        </p:spPr>
        <p:txBody>
          <a:bodyPr wrap="square" lIns="0" tIns="0" rIns="0" bIns="0" anchor="t">
            <a:normAutofit/>
          </a:bodyPr>
          <a:lstStyle/>
          <a:p>
            <a:pPr algn="l">
              <a:defRPr sz="1575" b="0">
                <a:solidFill>
                  <a:srgbClr val="E2E8F0"/>
                </a:solidFill>
                <a:latin typeface="Consolas"/>
                <a:ea typeface="Consolas"/>
                <a:cs typeface="Consolas"/>
              </a:defRPr>
            </a:pPr>
            <a:r>
              <a:rPr lang="fr-FR" sz="1575" b="0" dirty="0">
                <a:solidFill>
                  <a:srgbClr val="E2E8F0"/>
                </a:solidFill>
                <a:latin typeface="Consolas"/>
                <a:ea typeface="Consolas"/>
                <a:cs typeface="Consolas"/>
              </a:rPr>
              <a:t>-</a:t>
            </a:r>
            <a:r>
              <a:rPr sz="1575" b="0" dirty="0">
                <a:solidFill>
                  <a:srgbClr val="E2E8F0"/>
                </a:solidFill>
                <a:latin typeface="Consolas"/>
                <a:ea typeface="Consolas"/>
                <a:cs typeface="Consolas"/>
              </a:rPr>
              <a:t>Projects/</a:t>
            </a:r>
          </a:p>
          <a:p>
            <a:pPr algn="l">
              <a:defRPr sz="1575" b="0">
                <a:solidFill>
                  <a:srgbClr val="E2E8F0"/>
                </a:solidFill>
                <a:latin typeface="Consolas"/>
                <a:ea typeface="Consolas"/>
                <a:cs typeface="Consolas"/>
              </a:defRPr>
            </a:pPr>
            <a:r>
              <a:rPr sz="1575" b="0" dirty="0">
                <a:solidFill>
                  <a:srgbClr val="E2E8F0"/>
                </a:solidFill>
                <a:latin typeface="Consolas"/>
                <a:ea typeface="Consolas"/>
                <a:cs typeface="Consolas"/>
              </a:rPr>
              <a:t>  </a:t>
            </a:r>
            <a:r>
              <a:rPr lang="fr-FR" sz="1575" b="0" dirty="0">
                <a:solidFill>
                  <a:srgbClr val="E2E8F0"/>
                </a:solidFill>
                <a:latin typeface="Consolas"/>
                <a:ea typeface="Consolas"/>
                <a:cs typeface="Consolas"/>
              </a:rPr>
              <a:t>-</a:t>
            </a:r>
            <a:r>
              <a:rPr sz="1575" b="0" dirty="0">
                <a:solidFill>
                  <a:srgbClr val="E2E8F0"/>
                </a:solidFill>
                <a:latin typeface="Consolas"/>
                <a:ea typeface="Consolas"/>
                <a:cs typeface="Consolas"/>
              </a:rPr>
              <a:t>RINA Sig. Ships/</a:t>
            </a:r>
          </a:p>
          <a:p>
            <a:pPr algn="l">
              <a:defRPr sz="1575" b="0">
                <a:solidFill>
                  <a:srgbClr val="E2E8F0"/>
                </a:solidFill>
                <a:latin typeface="Consolas"/>
                <a:ea typeface="Consolas"/>
                <a:cs typeface="Consolas"/>
              </a:defRPr>
            </a:pPr>
            <a:r>
              <a:rPr sz="1575" b="0" dirty="0">
                <a:solidFill>
                  <a:srgbClr val="E2E8F0"/>
                </a:solidFill>
                <a:latin typeface="Consolas"/>
                <a:ea typeface="Consolas"/>
                <a:cs typeface="Consolas"/>
              </a:rPr>
              <a:t>    </a:t>
            </a:r>
            <a:r>
              <a:rPr lang="fr-FR" sz="1575" b="0" dirty="0">
                <a:solidFill>
                  <a:srgbClr val="E2E8F0"/>
                </a:solidFill>
                <a:latin typeface="Consolas"/>
                <a:ea typeface="Consolas"/>
                <a:cs typeface="Consolas"/>
              </a:rPr>
              <a:t>-</a:t>
            </a:r>
            <a:r>
              <a:rPr sz="1575" b="0" dirty="0">
                <a:solidFill>
                  <a:srgbClr val="E2E8F0"/>
                </a:solidFill>
                <a:latin typeface="Consolas"/>
                <a:ea typeface="Consolas"/>
                <a:cs typeface="Consolas"/>
              </a:rPr>
              <a:t>Vol.2018/</a:t>
            </a:r>
          </a:p>
          <a:p>
            <a:pPr algn="l">
              <a:defRPr sz="1575" b="0">
                <a:solidFill>
                  <a:srgbClr val="E2E8F0"/>
                </a:solidFill>
                <a:latin typeface="Consolas"/>
                <a:ea typeface="Consolas"/>
                <a:cs typeface="Consolas"/>
              </a:defRPr>
            </a:pPr>
            <a:r>
              <a:rPr sz="1575" b="0" dirty="0">
                <a:solidFill>
                  <a:srgbClr val="E2E8F0"/>
                </a:solidFill>
                <a:latin typeface="Consolas"/>
                <a:ea typeface="Consolas"/>
                <a:cs typeface="Consolas"/>
              </a:rPr>
              <a:t>      </a:t>
            </a:r>
            <a:r>
              <a:rPr lang="fr-FR" sz="1575" b="0" dirty="0">
                <a:solidFill>
                  <a:srgbClr val="E2E8F0"/>
                </a:solidFill>
                <a:latin typeface="Consolas"/>
                <a:ea typeface="Consolas"/>
                <a:cs typeface="Consolas"/>
              </a:rPr>
              <a:t>-</a:t>
            </a:r>
            <a:r>
              <a:rPr sz="1575" b="0" dirty="0">
                <a:solidFill>
                  <a:srgbClr val="E2E8F0"/>
                </a:solidFill>
                <a:latin typeface="Consolas"/>
                <a:ea typeface="Consolas"/>
                <a:cs typeface="Consolas"/>
              </a:rPr>
              <a:t>ALMI ATLAS/</a:t>
            </a:r>
          </a:p>
          <a:p>
            <a:pPr algn="l">
              <a:defRPr sz="1575" b="0">
                <a:solidFill>
                  <a:srgbClr val="E2E8F0"/>
                </a:solidFill>
                <a:latin typeface="Consolas"/>
                <a:ea typeface="Consolas"/>
                <a:cs typeface="Consolas"/>
              </a:defRPr>
            </a:pPr>
            <a:r>
              <a:rPr sz="1575" b="0" dirty="0">
                <a:solidFill>
                  <a:srgbClr val="E2E8F0"/>
                </a:solidFill>
                <a:latin typeface="Consolas"/>
                <a:ea typeface="Consolas"/>
                <a:cs typeface="Consolas"/>
              </a:rPr>
              <a:t>        </a:t>
            </a:r>
            <a:r>
              <a:rPr lang="fr-FR" sz="1575" b="0" dirty="0">
                <a:solidFill>
                  <a:srgbClr val="E2E8F0"/>
                </a:solidFill>
                <a:latin typeface="Consolas"/>
                <a:ea typeface="Consolas"/>
                <a:cs typeface="Consolas"/>
              </a:rPr>
              <a:t>-</a:t>
            </a:r>
            <a:r>
              <a:rPr sz="1575" b="0" dirty="0">
                <a:solidFill>
                  <a:srgbClr val="E2E8F0"/>
                </a:solidFill>
                <a:latin typeface="Consolas"/>
                <a:ea typeface="Consolas"/>
                <a:cs typeface="Consolas"/>
              </a:rPr>
              <a:t>JSON/</a:t>
            </a:r>
          </a:p>
          <a:p>
            <a:pPr algn="l">
              <a:defRPr sz="1575" b="0">
                <a:solidFill>
                  <a:srgbClr val="E2E8F0"/>
                </a:solidFill>
                <a:latin typeface="Consolas"/>
                <a:ea typeface="Consolas"/>
                <a:cs typeface="Consolas"/>
              </a:defRPr>
            </a:pPr>
            <a:r>
              <a:rPr sz="1575" b="0" dirty="0">
                <a:solidFill>
                  <a:srgbClr val="E2E8F0"/>
                </a:solidFill>
                <a:latin typeface="Consolas"/>
                <a:ea typeface="Consolas"/>
                <a:cs typeface="Consolas"/>
              </a:rPr>
              <a:t>          </a:t>
            </a:r>
            <a:r>
              <a:rPr lang="fr-FR" sz="1575" dirty="0">
                <a:solidFill>
                  <a:srgbClr val="E2E8F0"/>
                </a:solidFill>
                <a:latin typeface="Consolas"/>
                <a:ea typeface="Consolas"/>
                <a:cs typeface="Consolas"/>
              </a:rPr>
              <a:t>&gt;</a:t>
            </a:r>
            <a:r>
              <a:rPr sz="1575" b="0" dirty="0" err="1">
                <a:solidFill>
                  <a:srgbClr val="E2E8F0"/>
                </a:solidFill>
                <a:latin typeface="Consolas"/>
                <a:ea typeface="Consolas"/>
                <a:cs typeface="Consolas"/>
              </a:rPr>
              <a:t>ALMI_ATLAS.json</a:t>
            </a:r>
            <a:endParaRPr sz="1575" b="0" dirty="0">
              <a:solidFill>
                <a:srgbClr val="E2E8F0"/>
              </a:solidFill>
              <a:latin typeface="Consolas"/>
              <a:ea typeface="Consolas"/>
              <a:cs typeface="Consolas"/>
            </a:endParaRPr>
          </a:p>
          <a:p>
            <a:pPr algn="l">
              <a:defRPr sz="1575" b="0">
                <a:solidFill>
                  <a:srgbClr val="E2E8F0"/>
                </a:solidFill>
                <a:latin typeface="Consolas"/>
                <a:ea typeface="Consolas"/>
                <a:cs typeface="Consolas"/>
              </a:defRPr>
            </a:pPr>
            <a:r>
              <a:rPr sz="1575" b="0" dirty="0">
                <a:solidFill>
                  <a:srgbClr val="E2E8F0"/>
                </a:solidFill>
                <a:latin typeface="Consolas"/>
                <a:ea typeface="Consolas"/>
                <a:cs typeface="Consolas"/>
              </a:rPr>
              <a:t>        </a:t>
            </a:r>
            <a:r>
              <a:rPr lang="fr-FR" sz="1575" b="0" dirty="0">
                <a:solidFill>
                  <a:srgbClr val="E2E8F0"/>
                </a:solidFill>
                <a:latin typeface="Consolas"/>
                <a:ea typeface="Consolas"/>
                <a:cs typeface="Consolas"/>
              </a:rPr>
              <a:t>-</a:t>
            </a:r>
            <a:r>
              <a:rPr sz="1575" b="0" dirty="0" err="1">
                <a:solidFill>
                  <a:srgbClr val="E2E8F0"/>
                </a:solidFill>
                <a:latin typeface="Consolas"/>
                <a:ea typeface="Consolas"/>
                <a:cs typeface="Consolas"/>
              </a:rPr>
              <a:t>raw_DATA</a:t>
            </a:r>
            <a:r>
              <a:rPr sz="1575" b="0" dirty="0">
                <a:solidFill>
                  <a:srgbClr val="E2E8F0"/>
                </a:solidFill>
                <a:latin typeface="Consolas"/>
                <a:ea typeface="Consolas"/>
                <a:cs typeface="Consolas"/>
              </a:rPr>
              <a:t>/</a:t>
            </a:r>
          </a:p>
          <a:p>
            <a:pPr algn="l">
              <a:defRPr sz="1575" b="0">
                <a:solidFill>
                  <a:srgbClr val="E2E8F0"/>
                </a:solidFill>
                <a:latin typeface="Consolas"/>
                <a:ea typeface="Consolas"/>
                <a:cs typeface="Consolas"/>
              </a:defRPr>
            </a:pPr>
            <a:r>
              <a:rPr sz="1575" b="0" dirty="0">
                <a:solidFill>
                  <a:srgbClr val="E2E8F0"/>
                </a:solidFill>
                <a:latin typeface="Consolas"/>
                <a:ea typeface="Consolas"/>
                <a:cs typeface="Consolas"/>
              </a:rPr>
              <a:t>         </a:t>
            </a:r>
            <a:r>
              <a:rPr lang="fr-FR" sz="1575" b="0" dirty="0">
                <a:solidFill>
                  <a:srgbClr val="E2E8F0"/>
                </a:solidFill>
                <a:latin typeface="Consolas"/>
                <a:ea typeface="Consolas"/>
                <a:cs typeface="Consolas"/>
              </a:rPr>
              <a:t> &gt;</a:t>
            </a:r>
            <a:r>
              <a:rPr sz="1575" b="0" dirty="0">
                <a:solidFill>
                  <a:srgbClr val="E2E8F0"/>
                </a:solidFill>
                <a:latin typeface="Consolas"/>
                <a:ea typeface="Consolas"/>
                <a:cs typeface="Consolas"/>
              </a:rPr>
              <a:t>ALMI ATLAS.pdf</a:t>
            </a:r>
          </a:p>
          <a:p>
            <a:pPr algn="l">
              <a:defRPr sz="1575" b="0">
                <a:solidFill>
                  <a:srgbClr val="E2E8F0"/>
                </a:solidFill>
                <a:latin typeface="Consolas"/>
                <a:ea typeface="Consolas"/>
                <a:cs typeface="Consolas"/>
              </a:defRPr>
            </a:pPr>
            <a:r>
              <a:rPr sz="1575" b="0" dirty="0">
                <a:solidFill>
                  <a:srgbClr val="E2E8F0"/>
                </a:solidFill>
                <a:latin typeface="Consolas"/>
                <a:ea typeface="Consolas"/>
                <a:cs typeface="Consolas"/>
              </a:rPr>
              <a:t>         </a:t>
            </a:r>
            <a:r>
              <a:rPr lang="fr-FR" sz="1575" b="0" dirty="0">
                <a:solidFill>
                  <a:srgbClr val="E2E8F0"/>
                </a:solidFill>
                <a:latin typeface="Consolas"/>
                <a:ea typeface="Consolas"/>
                <a:cs typeface="Consolas"/>
              </a:rPr>
              <a:t> &gt;</a:t>
            </a:r>
            <a:r>
              <a:rPr sz="1575" b="0" dirty="0" err="1">
                <a:solidFill>
                  <a:srgbClr val="E2E8F0"/>
                </a:solidFill>
                <a:latin typeface="Consolas"/>
                <a:ea typeface="Consolas"/>
                <a:cs typeface="Consolas"/>
              </a:rPr>
              <a:t>raw_GPS_data_ALMI_ATLAS.json</a:t>
            </a:r>
            <a:endParaRPr sz="1575" b="0" dirty="0">
              <a:solidFill>
                <a:srgbClr val="E2E8F0"/>
              </a:solidFill>
              <a:latin typeface="Consolas"/>
              <a:ea typeface="Consolas"/>
              <a:cs typeface="Consolas"/>
            </a:endParaRPr>
          </a:p>
        </p:txBody>
      </p:sp>
      <p:sp>
        <p:nvSpPr>
          <p:cNvPr id="7" name="Rectangle : coins arrondis 6">
            <a:extLst>
              <a:ext uri="{FF2B5EF4-FFF2-40B4-BE49-F238E27FC236}">
                <a16:creationId xmlns:a16="http://schemas.microsoft.com/office/drawing/2014/main" id="{ACA3100B-9E6D-490D-ADF6-6A733D96122B}"/>
              </a:ext>
            </a:extLst>
          </p:cNvPr>
          <p:cNvSpPr>
            <a:spLocks noGrp="1"/>
          </p:cNvSpPr>
          <p:nvPr/>
        </p:nvSpPr>
        <p:spPr>
          <a:xfrm>
            <a:off x="5905500" y="1885950"/>
            <a:ext cx="5619750" cy="1047750"/>
          </a:xfrm>
          <a:prstGeom prst="roundRect">
            <a:avLst>
              <a:gd name="adj" fmla="val 14545"/>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8" name="Rectangle : coins arrondis 7">
            <a:extLst>
              <a:ext uri="{FF2B5EF4-FFF2-40B4-BE49-F238E27FC236}">
                <a16:creationId xmlns:a16="http://schemas.microsoft.com/office/drawing/2014/main" id="{C12208DE-FF9D-43A5-9E2F-6AA821BCDF9B}"/>
              </a:ext>
            </a:extLst>
          </p:cNvPr>
          <p:cNvSpPr>
            <a:spLocks noGrp="1"/>
          </p:cNvSpPr>
          <p:nvPr/>
        </p:nvSpPr>
        <p:spPr>
          <a:xfrm>
            <a:off x="6057900" y="2038350"/>
            <a:ext cx="1162050" cy="247650"/>
          </a:xfrm>
          <a:prstGeom prst="roundRect">
            <a:avLst>
              <a:gd name="adj" fmla="val 50000"/>
            </a:avLst>
          </a:prstGeom>
          <a:solidFill>
            <a:srgbClr val="2553D6"/>
          </a:solidFill>
          <a:ln w="0">
            <a:solidFill>
              <a:srgbClr val="2553D6"/>
            </a:solidFill>
            <a:prstDash val="solid"/>
          </a:ln>
        </p:spPr>
        <p:txBody>
          <a:bodyPr/>
          <a:lstStyle/>
          <a:p>
            <a:endParaRPr lang="fr-FR"/>
          </a:p>
        </p:txBody>
      </p:sp>
      <p:sp>
        <p:nvSpPr>
          <p:cNvPr id="9" name="Rectangle 8">
            <a:extLst>
              <a:ext uri="{FF2B5EF4-FFF2-40B4-BE49-F238E27FC236}">
                <a16:creationId xmlns:a16="http://schemas.microsoft.com/office/drawing/2014/main" id="{A32797E2-E17B-4B35-936C-85B1BDA8486F}"/>
              </a:ext>
            </a:extLst>
          </p:cNvPr>
          <p:cNvSpPr>
            <a:spLocks noGrp="1"/>
          </p:cNvSpPr>
          <p:nvPr/>
        </p:nvSpPr>
        <p:spPr>
          <a:xfrm>
            <a:off x="6057900" y="2038350"/>
            <a:ext cx="1162050" cy="247650"/>
          </a:xfrm>
          <a:prstGeom prst="rect">
            <a:avLst/>
          </a:prstGeom>
          <a:noFill/>
          <a:ln w="0">
            <a:noFill/>
            <a:prstDash val="solid"/>
          </a:ln>
        </p:spPr>
        <p:txBody>
          <a:bodyPr wrap="square" lIns="76200" tIns="76200" rIns="76200" bIns="76200" anchor="ctr">
            <a:normAutofit fontScale="67024" lnSpcReduction="20000"/>
          </a:bodyPr>
          <a:lstStyle/>
          <a:p>
            <a:pPr algn="ctr">
              <a:defRPr sz="1050" b="1">
                <a:solidFill>
                  <a:srgbClr val="FFFFFF"/>
                </a:solidFill>
              </a:defRPr>
            </a:pPr>
            <a:r>
              <a:rPr sz="1050" b="1">
                <a:solidFill>
                  <a:srgbClr val="FFFFFF"/>
                </a:solidFill>
              </a:rPr>
              <a:t>JSON/</a:t>
            </a:r>
          </a:p>
        </p:txBody>
      </p:sp>
      <p:sp>
        <p:nvSpPr>
          <p:cNvPr id="10" name="Rectangle 9">
            <a:extLst>
              <a:ext uri="{FF2B5EF4-FFF2-40B4-BE49-F238E27FC236}">
                <a16:creationId xmlns:a16="http://schemas.microsoft.com/office/drawing/2014/main" id="{C04F7F3B-6D38-4A1D-A216-06D26E61CB68}"/>
              </a:ext>
            </a:extLst>
          </p:cNvPr>
          <p:cNvSpPr>
            <a:spLocks noGrp="1"/>
          </p:cNvSpPr>
          <p:nvPr/>
        </p:nvSpPr>
        <p:spPr>
          <a:xfrm>
            <a:off x="6057900" y="2400300"/>
            <a:ext cx="5314950" cy="40005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Store the single main file read by the website. The Get Json button downloads this file.</a:t>
            </a:r>
          </a:p>
        </p:txBody>
      </p:sp>
      <p:sp>
        <p:nvSpPr>
          <p:cNvPr id="11" name="Rectangle : coins arrondis 10">
            <a:extLst>
              <a:ext uri="{FF2B5EF4-FFF2-40B4-BE49-F238E27FC236}">
                <a16:creationId xmlns:a16="http://schemas.microsoft.com/office/drawing/2014/main" id="{F8936414-154B-43E6-B142-D5AC593C796D}"/>
              </a:ext>
            </a:extLst>
          </p:cNvPr>
          <p:cNvSpPr>
            <a:spLocks noGrp="1"/>
          </p:cNvSpPr>
          <p:nvPr/>
        </p:nvSpPr>
        <p:spPr>
          <a:xfrm>
            <a:off x="5905500" y="3181350"/>
            <a:ext cx="5619750" cy="1047750"/>
          </a:xfrm>
          <a:prstGeom prst="roundRect">
            <a:avLst>
              <a:gd name="adj" fmla="val 14545"/>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12" name="Rectangle : coins arrondis 11">
            <a:extLst>
              <a:ext uri="{FF2B5EF4-FFF2-40B4-BE49-F238E27FC236}">
                <a16:creationId xmlns:a16="http://schemas.microsoft.com/office/drawing/2014/main" id="{3BC44147-7AF9-4441-967F-2A136CBC09F1}"/>
              </a:ext>
            </a:extLst>
          </p:cNvPr>
          <p:cNvSpPr>
            <a:spLocks noGrp="1"/>
          </p:cNvSpPr>
          <p:nvPr/>
        </p:nvSpPr>
        <p:spPr>
          <a:xfrm>
            <a:off x="6057900" y="3333750"/>
            <a:ext cx="1162050" cy="247650"/>
          </a:xfrm>
          <a:prstGeom prst="roundRect">
            <a:avLst>
              <a:gd name="adj" fmla="val 50000"/>
            </a:avLst>
          </a:prstGeom>
          <a:solidFill>
            <a:srgbClr val="D97706"/>
          </a:solidFill>
          <a:ln w="0">
            <a:solidFill>
              <a:srgbClr val="D97706"/>
            </a:solidFill>
            <a:prstDash val="solid"/>
          </a:ln>
        </p:spPr>
        <p:txBody>
          <a:bodyPr/>
          <a:lstStyle/>
          <a:p>
            <a:endParaRPr lang="fr-FR"/>
          </a:p>
        </p:txBody>
      </p:sp>
      <p:sp>
        <p:nvSpPr>
          <p:cNvPr id="13" name="Rectangle 12">
            <a:extLst>
              <a:ext uri="{FF2B5EF4-FFF2-40B4-BE49-F238E27FC236}">
                <a16:creationId xmlns:a16="http://schemas.microsoft.com/office/drawing/2014/main" id="{C1430B02-87D4-4758-852E-75D9C9D9E272}"/>
              </a:ext>
            </a:extLst>
          </p:cNvPr>
          <p:cNvSpPr>
            <a:spLocks noGrp="1"/>
          </p:cNvSpPr>
          <p:nvPr/>
        </p:nvSpPr>
        <p:spPr>
          <a:xfrm>
            <a:off x="6057900" y="3333750"/>
            <a:ext cx="1162050" cy="247650"/>
          </a:xfrm>
          <a:prstGeom prst="rect">
            <a:avLst/>
          </a:prstGeom>
          <a:noFill/>
          <a:ln w="0">
            <a:noFill/>
            <a:prstDash val="solid"/>
          </a:ln>
        </p:spPr>
        <p:txBody>
          <a:bodyPr wrap="square" lIns="76200" tIns="76200" rIns="76200" bIns="76200" anchor="ctr">
            <a:normAutofit fontScale="67024" lnSpcReduction="20000"/>
          </a:bodyPr>
          <a:lstStyle/>
          <a:p>
            <a:pPr algn="ctr">
              <a:defRPr sz="1050" b="1">
                <a:solidFill>
                  <a:srgbClr val="FFFFFF"/>
                </a:solidFill>
              </a:defRPr>
            </a:pPr>
            <a:r>
              <a:rPr sz="1050" b="1">
                <a:solidFill>
                  <a:srgbClr val="FFFFFF"/>
                </a:solidFill>
              </a:rPr>
              <a:t>raw_DATA/</a:t>
            </a:r>
          </a:p>
        </p:txBody>
      </p:sp>
      <p:sp>
        <p:nvSpPr>
          <p:cNvPr id="14" name="Rectangle 13">
            <a:extLst>
              <a:ext uri="{FF2B5EF4-FFF2-40B4-BE49-F238E27FC236}">
                <a16:creationId xmlns:a16="http://schemas.microsoft.com/office/drawing/2014/main" id="{6C96A87F-B2D5-4FD3-9256-880DDDBD7DAF}"/>
              </a:ext>
            </a:extLst>
          </p:cNvPr>
          <p:cNvSpPr>
            <a:spLocks noGrp="1"/>
          </p:cNvSpPr>
          <p:nvPr/>
        </p:nvSpPr>
        <p:spPr>
          <a:xfrm>
            <a:off x="6057900" y="3695700"/>
            <a:ext cx="5314950" cy="40005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Store the original sources used by Link: PDF, GPS JSON, CSV, or any other raw file.</a:t>
            </a:r>
          </a:p>
        </p:txBody>
      </p:sp>
      <p:sp>
        <p:nvSpPr>
          <p:cNvPr id="15" name="Rectangle : coins arrondis 14">
            <a:extLst>
              <a:ext uri="{FF2B5EF4-FFF2-40B4-BE49-F238E27FC236}">
                <a16:creationId xmlns:a16="http://schemas.microsoft.com/office/drawing/2014/main" id="{B0C48F79-4B65-429F-81D9-ADAA513C6960}"/>
              </a:ext>
            </a:extLst>
          </p:cNvPr>
          <p:cNvSpPr>
            <a:spLocks noGrp="1"/>
          </p:cNvSpPr>
          <p:nvPr/>
        </p:nvSpPr>
        <p:spPr>
          <a:xfrm>
            <a:off x="5905500" y="4476750"/>
            <a:ext cx="5619750" cy="1047750"/>
          </a:xfrm>
          <a:prstGeom prst="roundRect">
            <a:avLst>
              <a:gd name="adj" fmla="val 14545"/>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16" name="Rectangle : coins arrondis 15">
            <a:extLst>
              <a:ext uri="{FF2B5EF4-FFF2-40B4-BE49-F238E27FC236}">
                <a16:creationId xmlns:a16="http://schemas.microsoft.com/office/drawing/2014/main" id="{FDF41788-DFEB-4281-BBD3-EC1E21DE0369}"/>
              </a:ext>
            </a:extLst>
          </p:cNvPr>
          <p:cNvSpPr>
            <a:spLocks noGrp="1"/>
          </p:cNvSpPr>
          <p:nvPr/>
        </p:nvSpPr>
        <p:spPr>
          <a:xfrm>
            <a:off x="6057900" y="4629150"/>
            <a:ext cx="1162050" cy="247650"/>
          </a:xfrm>
          <a:prstGeom prst="roundRect">
            <a:avLst>
              <a:gd name="adj" fmla="val 50000"/>
            </a:avLst>
          </a:prstGeom>
          <a:solidFill>
            <a:srgbClr val="16803C"/>
          </a:solidFill>
          <a:ln w="0">
            <a:solidFill>
              <a:srgbClr val="16803C"/>
            </a:solidFill>
            <a:prstDash val="solid"/>
          </a:ln>
        </p:spPr>
        <p:txBody>
          <a:bodyPr/>
          <a:lstStyle/>
          <a:p>
            <a:endParaRPr lang="fr-FR"/>
          </a:p>
        </p:txBody>
      </p:sp>
      <p:sp>
        <p:nvSpPr>
          <p:cNvPr id="17" name="Rectangle 16">
            <a:extLst>
              <a:ext uri="{FF2B5EF4-FFF2-40B4-BE49-F238E27FC236}">
                <a16:creationId xmlns:a16="http://schemas.microsoft.com/office/drawing/2014/main" id="{D9BD6678-E5BF-4361-8453-B571CFE9A340}"/>
              </a:ext>
            </a:extLst>
          </p:cNvPr>
          <p:cNvSpPr>
            <a:spLocks noGrp="1"/>
          </p:cNvSpPr>
          <p:nvPr/>
        </p:nvSpPr>
        <p:spPr>
          <a:xfrm>
            <a:off x="6057900" y="4629150"/>
            <a:ext cx="1162050" cy="247650"/>
          </a:xfrm>
          <a:prstGeom prst="rect">
            <a:avLst/>
          </a:prstGeom>
          <a:noFill/>
          <a:ln w="0">
            <a:noFill/>
            <a:prstDash val="solid"/>
          </a:ln>
        </p:spPr>
        <p:txBody>
          <a:bodyPr wrap="square" lIns="76200" tIns="76200" rIns="76200" bIns="76200" anchor="ctr">
            <a:normAutofit fontScale="67024" lnSpcReduction="20000"/>
          </a:bodyPr>
          <a:lstStyle/>
          <a:p>
            <a:pPr algn="ctr">
              <a:defRPr sz="1050" b="1">
                <a:solidFill>
                  <a:srgbClr val="FFFFFF"/>
                </a:solidFill>
              </a:defRPr>
            </a:pPr>
            <a:r>
              <a:rPr sz="1050" b="1">
                <a:solidFill>
                  <a:srgbClr val="FFFFFF"/>
                </a:solidFill>
              </a:rPr>
              <a:t>Why this comes first</a:t>
            </a:r>
          </a:p>
        </p:txBody>
      </p:sp>
      <p:sp>
        <p:nvSpPr>
          <p:cNvPr id="18" name="Rectangle 17">
            <a:extLst>
              <a:ext uri="{FF2B5EF4-FFF2-40B4-BE49-F238E27FC236}">
                <a16:creationId xmlns:a16="http://schemas.microsoft.com/office/drawing/2014/main" id="{B72EDF83-16B2-4506-A94B-ECBF9C12F26E}"/>
              </a:ext>
            </a:extLst>
          </p:cNvPr>
          <p:cNvSpPr>
            <a:spLocks noGrp="1"/>
          </p:cNvSpPr>
          <p:nvPr/>
        </p:nvSpPr>
        <p:spPr>
          <a:xfrm>
            <a:off x="6057900" y="4991100"/>
            <a:ext cx="5314950" cy="40005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The folder structure decides every path used later in project-config.js, in the JSON file, and in the dashboard image path.</a:t>
            </a:r>
          </a:p>
        </p:txBody>
      </p:sp>
      <p:sp>
        <p:nvSpPr>
          <p:cNvPr id="19" name="Rectangle : coins arrondis 18">
            <a:extLst>
              <a:ext uri="{FF2B5EF4-FFF2-40B4-BE49-F238E27FC236}">
                <a16:creationId xmlns:a16="http://schemas.microsoft.com/office/drawing/2014/main" id="{A016685E-F5DC-4FE1-8D13-75383F54F207}"/>
              </a:ext>
            </a:extLst>
          </p:cNvPr>
          <p:cNvSpPr>
            <a:spLocks noGrp="1"/>
          </p:cNvSpPr>
          <p:nvPr/>
        </p:nvSpPr>
        <p:spPr>
          <a:xfrm>
            <a:off x="5905500" y="5715000"/>
            <a:ext cx="5619750" cy="495300"/>
          </a:xfrm>
          <a:prstGeom prst="roundRect">
            <a:avLst>
              <a:gd name="adj" fmla="val 30769"/>
            </a:avLst>
          </a:prstGeom>
          <a:solidFill>
            <a:srgbClr val="EBFBF1"/>
          </a:solidFill>
          <a:ln w="9525">
            <a:solidFill>
              <a:srgbClr val="A7F3D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21" name="Rectangle 20">
            <a:extLst>
              <a:ext uri="{FF2B5EF4-FFF2-40B4-BE49-F238E27FC236}">
                <a16:creationId xmlns:a16="http://schemas.microsoft.com/office/drawing/2014/main" id="{89118606-88EE-44F2-86D6-0157B29BAA81}"/>
              </a:ext>
            </a:extLst>
          </p:cNvPr>
          <p:cNvSpPr>
            <a:spLocks noGrp="1"/>
          </p:cNvSpPr>
          <p:nvPr/>
        </p:nvSpPr>
        <p:spPr>
          <a:xfrm>
            <a:off x="6057900" y="5848350"/>
            <a:ext cx="400050" cy="228600"/>
          </a:xfrm>
          <a:prstGeom prst="rect">
            <a:avLst/>
          </a:prstGeom>
          <a:noFill/>
          <a:ln w="0">
            <a:noFill/>
            <a:prstDash val="solid"/>
          </a:ln>
        </p:spPr>
        <p:txBody>
          <a:bodyPr wrap="square" lIns="76200" tIns="76200" rIns="76200" bIns="76200" anchor="ctr">
            <a:normAutofit fontScale="55119" lnSpcReduction="20000"/>
          </a:bodyPr>
          <a:lstStyle/>
          <a:p>
            <a:pPr algn="ctr">
              <a:defRPr sz="1050" b="1">
                <a:solidFill>
                  <a:srgbClr val="FFFFFF"/>
                </a:solidFill>
              </a:defRPr>
            </a:pPr>
            <a:endParaRPr sz="1050" b="1" dirty="0">
              <a:solidFill>
                <a:srgbClr val="FFFFFF"/>
              </a:solidFill>
            </a:endParaRPr>
          </a:p>
        </p:txBody>
      </p:sp>
      <p:sp>
        <p:nvSpPr>
          <p:cNvPr id="22" name="Rectangle 21">
            <a:extLst>
              <a:ext uri="{FF2B5EF4-FFF2-40B4-BE49-F238E27FC236}">
                <a16:creationId xmlns:a16="http://schemas.microsoft.com/office/drawing/2014/main" id="{3A123B1B-AD70-4D45-B7FF-8559F0553B9D}"/>
              </a:ext>
            </a:extLst>
          </p:cNvPr>
          <p:cNvSpPr>
            <a:spLocks noGrp="1"/>
          </p:cNvSpPr>
          <p:nvPr/>
        </p:nvSpPr>
        <p:spPr>
          <a:xfrm>
            <a:off x="6457950" y="5865114"/>
            <a:ext cx="4800600" cy="304800"/>
          </a:xfrm>
          <a:prstGeom prst="rect">
            <a:avLst/>
          </a:prstGeom>
          <a:noFill/>
          <a:ln w="0">
            <a:noFill/>
            <a:prstDash val="solid"/>
          </a:ln>
        </p:spPr>
        <p:txBody>
          <a:bodyPr wrap="square" lIns="0" tIns="0" rIns="0" bIns="0" anchor="t">
            <a:normAutofit/>
          </a:bodyPr>
          <a:lstStyle/>
          <a:p>
            <a:pPr algn="l">
              <a:defRPr sz="1200" b="0">
                <a:solidFill>
                  <a:srgbClr val="1E293B"/>
                </a:solidFill>
              </a:defRPr>
            </a:pPr>
            <a:r>
              <a:rPr sz="1200" b="0" dirty="0">
                <a:solidFill>
                  <a:srgbClr val="1E293B"/>
                </a:solidFill>
              </a:rPr>
              <a:t>Simple rule: create the folder once, then keep every file inside it.</a:t>
            </a:r>
          </a:p>
        </p:txBody>
      </p:sp>
      <p:sp>
        <p:nvSpPr>
          <p:cNvPr id="23" name="Rectangle 22">
            <a:extLst>
              <a:ext uri="{FF2B5EF4-FFF2-40B4-BE49-F238E27FC236}">
                <a16:creationId xmlns:a16="http://schemas.microsoft.com/office/drawing/2014/main" id="{A1CD4AF2-A1BD-4C1C-9101-833400F0755C}"/>
              </a:ext>
            </a:extLst>
          </p:cNvPr>
          <p:cNvSpPr>
            <a:spLocks noGrp="1"/>
          </p:cNvSpPr>
          <p:nvPr/>
        </p:nvSpPr>
        <p:spPr>
          <a:xfrm>
            <a:off x="571500" y="6534150"/>
            <a:ext cx="3048000" cy="190500"/>
          </a:xfrm>
          <a:prstGeom prst="rect">
            <a:avLst/>
          </a:prstGeom>
          <a:noFill/>
          <a:ln w="0">
            <a:noFill/>
            <a:prstDash val="solid"/>
          </a:ln>
        </p:spPr>
        <p:txBody>
          <a:bodyPr wrap="square" lIns="0" tIns="0" rIns="0" bIns="0" anchor="t">
            <a:normAutofit/>
          </a:bodyPr>
          <a:lstStyle/>
          <a:p>
            <a:pPr algn="l">
              <a:defRPr sz="825" b="0">
                <a:solidFill>
                  <a:srgbClr val="64748B"/>
                </a:solidFill>
              </a:defRPr>
            </a:pPr>
            <a:r>
              <a:rPr sz="825" b="0">
                <a:solidFill>
                  <a:srgbClr val="64748B"/>
                </a:solidFill>
              </a:rPr>
              <a:t>Data Hub guide - new vessel workflow</a:t>
            </a:r>
          </a:p>
        </p:txBody>
      </p:sp>
      <p:sp>
        <p:nvSpPr>
          <p:cNvPr id="24" name="Rectangle 23">
            <a:extLst>
              <a:ext uri="{FF2B5EF4-FFF2-40B4-BE49-F238E27FC236}">
                <a16:creationId xmlns:a16="http://schemas.microsoft.com/office/drawing/2014/main" id="{60F43C3E-F5DE-4AB1-92AC-D8D6A73E9289}"/>
              </a:ext>
            </a:extLst>
          </p:cNvPr>
          <p:cNvSpPr>
            <a:spLocks noGrp="1"/>
          </p:cNvSpPr>
          <p:nvPr/>
        </p:nvSpPr>
        <p:spPr>
          <a:xfrm>
            <a:off x="11144250" y="6496050"/>
            <a:ext cx="381000" cy="228600"/>
          </a:xfrm>
          <a:prstGeom prst="rect">
            <a:avLst/>
          </a:prstGeom>
          <a:noFill/>
          <a:ln w="0">
            <a:noFill/>
            <a:prstDash val="solid"/>
          </a:ln>
        </p:spPr>
        <p:txBody>
          <a:bodyPr wrap="square" lIns="0" tIns="0" rIns="0" bIns="0" anchor="t">
            <a:normAutofit/>
          </a:bodyPr>
          <a:lstStyle/>
          <a:p>
            <a:pPr algn="r">
              <a:defRPr sz="900" b="1">
                <a:solidFill>
                  <a:srgbClr val="64748B"/>
                </a:solidFill>
              </a:defRPr>
            </a:pPr>
            <a:r>
              <a:rPr sz="900" b="1">
                <a:solidFill>
                  <a:srgbClr val="64748B"/>
                </a:solidFill>
              </a:rPr>
              <a:t>3</a:t>
            </a:r>
          </a:p>
        </p:txBody>
      </p:sp>
    </p:spTree>
    <p:extLst>
      <p:ext uri="{BB962C8B-B14F-4D97-AF65-F5344CB8AC3E}">
        <p14:creationId xmlns:p14="http://schemas.microsoft.com/office/powerpoint/2010/main" val="4547912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8FB"/>
        </a:solidFill>
        <a:effectLst/>
      </p:bgPr>
    </p:bg>
    <p:spTree>
      <p:nvGrpSpPr>
        <p:cNvPr id="1" name=""/>
        <p:cNvGrpSpPr/>
        <p:nvPr/>
      </p:nvGrpSpPr>
      <p:grpSpPr>
        <a:xfrm>
          <a:off x="0" y="0"/>
          <a:ext cx="0" cy="0"/>
          <a:chOff x="0" y="0"/>
          <a:chExt cx="0" cy="0"/>
        </a:xfrm>
      </p:grpSpPr>
      <p:sp>
        <p:nvSpPr>
          <p:cNvPr id="8" name="Rectangle : coins arrondis 7">
            <a:extLst>
              <a:ext uri="{FF2B5EF4-FFF2-40B4-BE49-F238E27FC236}">
                <a16:creationId xmlns:a16="http://schemas.microsoft.com/office/drawing/2014/main" id="{47F0FDB1-D833-4921-B0F8-F2D5EF8F5AC6}"/>
              </a:ext>
            </a:extLst>
          </p:cNvPr>
          <p:cNvSpPr>
            <a:spLocks noGrp="1"/>
          </p:cNvSpPr>
          <p:nvPr/>
        </p:nvSpPr>
        <p:spPr>
          <a:xfrm>
            <a:off x="571500" y="361950"/>
            <a:ext cx="1619250" cy="285750"/>
          </a:xfrm>
          <a:prstGeom prst="roundRect">
            <a:avLst>
              <a:gd name="adj" fmla="val 50000"/>
            </a:avLst>
          </a:prstGeom>
          <a:solidFill>
            <a:srgbClr val="2553D6"/>
          </a:solidFill>
          <a:ln w="0">
            <a:solidFill>
              <a:srgbClr val="2553D6"/>
            </a:solidFill>
            <a:prstDash val="solid"/>
          </a:ln>
        </p:spPr>
        <p:txBody>
          <a:bodyPr/>
          <a:lstStyle/>
          <a:p>
            <a:endParaRPr lang="fr-FR"/>
          </a:p>
        </p:txBody>
      </p:sp>
      <p:sp>
        <p:nvSpPr>
          <p:cNvPr id="2" name="Rectangle 1">
            <a:extLst>
              <a:ext uri="{FF2B5EF4-FFF2-40B4-BE49-F238E27FC236}">
                <a16:creationId xmlns:a16="http://schemas.microsoft.com/office/drawing/2014/main" id="{FC99E832-4CFC-447C-8A70-70C9F77EFD19}"/>
              </a:ext>
            </a:extLst>
          </p:cNvPr>
          <p:cNvSpPr>
            <a:spLocks noGrp="1"/>
          </p:cNvSpPr>
          <p:nvPr/>
        </p:nvSpPr>
        <p:spPr>
          <a:xfrm>
            <a:off x="571500" y="361950"/>
            <a:ext cx="1619250" cy="285750"/>
          </a:xfrm>
          <a:prstGeom prst="rect">
            <a:avLst/>
          </a:prstGeom>
          <a:noFill/>
          <a:ln w="0">
            <a:noFill/>
            <a:prstDash val="solid"/>
          </a:ln>
        </p:spPr>
        <p:txBody>
          <a:bodyPr wrap="square" lIns="76200" tIns="76200" rIns="76200" bIns="76200" anchor="ctr">
            <a:normAutofit fontScale="90833" lnSpcReduction="20000"/>
          </a:bodyPr>
          <a:lstStyle/>
          <a:p>
            <a:pPr algn="ctr">
              <a:defRPr sz="1050" b="1">
                <a:solidFill>
                  <a:srgbClr val="FFFFFF"/>
                </a:solidFill>
              </a:defRPr>
            </a:pPr>
            <a:r>
              <a:rPr sz="1050" b="1">
                <a:solidFill>
                  <a:srgbClr val="FFFFFF"/>
                </a:solidFill>
              </a:rPr>
              <a:t>BUILD STEP 2</a:t>
            </a:r>
          </a:p>
        </p:txBody>
      </p:sp>
      <p:sp>
        <p:nvSpPr>
          <p:cNvPr id="3" name="Rectangle 2">
            <a:extLst>
              <a:ext uri="{FF2B5EF4-FFF2-40B4-BE49-F238E27FC236}">
                <a16:creationId xmlns:a16="http://schemas.microsoft.com/office/drawing/2014/main" id="{03A1602C-F9D2-4284-921B-1E2B9074D947}"/>
              </a:ext>
            </a:extLst>
          </p:cNvPr>
          <p:cNvSpPr>
            <a:spLocks noGrp="1"/>
          </p:cNvSpPr>
          <p:nvPr/>
        </p:nvSpPr>
        <p:spPr>
          <a:xfrm>
            <a:off x="571500" y="762000"/>
            <a:ext cx="11049000" cy="476250"/>
          </a:xfrm>
          <a:prstGeom prst="rect">
            <a:avLst/>
          </a:prstGeom>
          <a:noFill/>
          <a:ln w="0">
            <a:noFill/>
            <a:prstDash val="solid"/>
          </a:ln>
        </p:spPr>
        <p:txBody>
          <a:bodyPr wrap="square" lIns="0" tIns="0" rIns="0" bIns="0" anchor="t">
            <a:normAutofit/>
          </a:bodyPr>
          <a:lstStyle/>
          <a:p>
            <a:pPr algn="l">
              <a:defRPr sz="3000" b="1">
                <a:solidFill>
                  <a:srgbClr val="0F172A"/>
                </a:solidFill>
              </a:defRPr>
            </a:pPr>
            <a:r>
              <a:rPr sz="3000" b="1" dirty="0">
                <a:solidFill>
                  <a:srgbClr val="0F172A"/>
                </a:solidFill>
              </a:rPr>
              <a:t>Create the dashboard block and add the image</a:t>
            </a:r>
            <a:r>
              <a:rPr lang="fr-FR" sz="3000" b="1" dirty="0">
                <a:solidFill>
                  <a:srgbClr val="0F172A"/>
                </a:solidFill>
              </a:rPr>
              <a:t> – Rina_blocs.html</a:t>
            </a:r>
            <a:endParaRPr sz="3000" b="1" dirty="0">
              <a:solidFill>
                <a:srgbClr val="0F172A"/>
              </a:solidFill>
            </a:endParaRPr>
          </a:p>
        </p:txBody>
      </p:sp>
      <p:sp>
        <p:nvSpPr>
          <p:cNvPr id="4" name="Rectangle 3">
            <a:extLst>
              <a:ext uri="{FF2B5EF4-FFF2-40B4-BE49-F238E27FC236}">
                <a16:creationId xmlns:a16="http://schemas.microsoft.com/office/drawing/2014/main" id="{892189A4-5477-4846-84C5-4F63A344F30D}"/>
              </a:ext>
            </a:extLst>
          </p:cNvPr>
          <p:cNvSpPr>
            <a:spLocks noGrp="1"/>
          </p:cNvSpPr>
          <p:nvPr/>
        </p:nvSpPr>
        <p:spPr>
          <a:xfrm>
            <a:off x="571500" y="1181100"/>
            <a:ext cx="11049000" cy="323850"/>
          </a:xfrm>
          <a:prstGeom prst="rect">
            <a:avLst/>
          </a:prstGeom>
          <a:noFill/>
          <a:ln w="0">
            <a:noFill/>
            <a:prstDash val="solid"/>
          </a:ln>
        </p:spPr>
        <p:txBody>
          <a:bodyPr wrap="square" lIns="0" tIns="0" rIns="0" bIns="0" anchor="t">
            <a:normAutofit/>
          </a:bodyPr>
          <a:lstStyle/>
          <a:p>
            <a:pPr algn="l">
              <a:defRPr sz="1350" b="0">
                <a:solidFill>
                  <a:srgbClr val="475569"/>
                </a:solidFill>
              </a:defRPr>
            </a:pPr>
            <a:r>
              <a:rPr sz="1350" b="0">
                <a:solidFill>
                  <a:srgbClr val="475569"/>
                </a:solidFill>
              </a:rPr>
              <a:t>This is where the project becomes visible on the home page.</a:t>
            </a:r>
          </a:p>
        </p:txBody>
      </p:sp>
      <p:sp>
        <p:nvSpPr>
          <p:cNvPr id="5" name="Rectangle : coins arrondis 4">
            <a:extLst>
              <a:ext uri="{FF2B5EF4-FFF2-40B4-BE49-F238E27FC236}">
                <a16:creationId xmlns:a16="http://schemas.microsoft.com/office/drawing/2014/main" id="{11D24884-F6A8-4650-AC32-B3C1A7100F77}"/>
              </a:ext>
            </a:extLst>
          </p:cNvPr>
          <p:cNvSpPr>
            <a:spLocks noGrp="1"/>
          </p:cNvSpPr>
          <p:nvPr/>
        </p:nvSpPr>
        <p:spPr>
          <a:xfrm>
            <a:off x="571500" y="1790700"/>
            <a:ext cx="4762500" cy="3638550"/>
          </a:xfrm>
          <a:prstGeom prst="roundRect">
            <a:avLst>
              <a:gd name="adj" fmla="val 4188"/>
            </a:avLst>
          </a:prstGeom>
          <a:solidFill>
            <a:srgbClr val="0B1220"/>
          </a:solidFill>
          <a:ln w="9525">
            <a:solidFill>
              <a:srgbClr val="1E293B"/>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6" name="Rectangle 5">
            <a:extLst>
              <a:ext uri="{FF2B5EF4-FFF2-40B4-BE49-F238E27FC236}">
                <a16:creationId xmlns:a16="http://schemas.microsoft.com/office/drawing/2014/main" id="{CC9402CB-2538-497D-883E-711E0006D291}"/>
              </a:ext>
            </a:extLst>
          </p:cNvPr>
          <p:cNvSpPr>
            <a:spLocks noGrp="1"/>
          </p:cNvSpPr>
          <p:nvPr/>
        </p:nvSpPr>
        <p:spPr>
          <a:xfrm>
            <a:off x="742950" y="1943100"/>
            <a:ext cx="4419600" cy="3333750"/>
          </a:xfrm>
          <a:prstGeom prst="rect">
            <a:avLst/>
          </a:prstGeom>
          <a:noFill/>
          <a:ln w="0">
            <a:noFill/>
            <a:prstDash val="solid"/>
          </a:ln>
        </p:spPr>
        <p:txBody>
          <a:bodyPr wrap="square" lIns="0" tIns="0" rIns="0" bIns="0" anchor="t">
            <a:normAutofit fontScale="95943" lnSpcReduction="10000"/>
          </a:bodyPr>
          <a:lstStyle/>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&lt;section class="project-card"&gt;</a:t>
            </a:r>
          </a:p>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  &lt;h2&gt;RINA&lt;/h2&gt;</a:t>
            </a:r>
          </a:p>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  &lt;p class="project-description"&gt;</a:t>
            </a:r>
          </a:p>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    Short project description</a:t>
            </a:r>
          </a:p>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  &lt;/p&gt;</a:t>
            </a:r>
          </a:p>
          <a:p>
            <a:endParaRPr sz="1200" b="0">
              <a:solidFill>
                <a:srgbClr val="E2E8F0"/>
              </a:solidFill>
              <a:latin typeface="Consolas"/>
              <a:ea typeface="Consolas"/>
              <a:cs typeface="Consolas"/>
            </a:endParaRPr>
          </a:p>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  &lt;div class="project-card-content"&gt;</a:t>
            </a:r>
          </a:p>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    &lt;div class="project-image-box"&gt;</a:t>
            </a:r>
          </a:p>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      &lt;img src="Image/RINA/Image_Rina.png" alt="RINA image"&gt;</a:t>
            </a:r>
          </a:p>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    &lt;/div&gt;</a:t>
            </a:r>
          </a:p>
          <a:p>
            <a:endParaRPr sz="1200" b="0">
              <a:solidFill>
                <a:srgbClr val="E2E8F0"/>
              </a:solidFill>
              <a:latin typeface="Consolas"/>
              <a:ea typeface="Consolas"/>
              <a:cs typeface="Consolas"/>
            </a:endParaRPr>
          </a:p>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    &lt;div class="project-vessels"&gt;</a:t>
            </a:r>
          </a:p>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      &lt;h3&gt;Vessels&lt;/h3&gt;</a:t>
            </a:r>
          </a:p>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      &lt;div id="rina-vessel-links" class="vessel-link-list"&gt;&lt;/div&gt;</a:t>
            </a:r>
          </a:p>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    &lt;/div&gt;</a:t>
            </a:r>
          </a:p>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  &lt;/div&gt;</a:t>
            </a:r>
          </a:p>
          <a:p>
            <a:pPr algn="l">
              <a:defRPr sz="1200" b="0">
                <a:solidFill>
                  <a:srgbClr val="E2E8F0"/>
                </a:solidFill>
                <a:latin typeface="Consolas"/>
                <a:ea typeface="Consolas"/>
                <a:cs typeface="Consolas"/>
              </a:defRPr>
            </a:pPr>
            <a:r>
              <a:rPr sz="1200" b="0">
                <a:solidFill>
                  <a:srgbClr val="E2E8F0"/>
                </a:solidFill>
                <a:latin typeface="Consolas"/>
                <a:ea typeface="Consolas"/>
                <a:cs typeface="Consolas"/>
              </a:rPr>
              <a:t>&lt;/section&gt;</a:t>
            </a:r>
          </a:p>
        </p:txBody>
      </p:sp>
      <p:sp>
        <p:nvSpPr>
          <p:cNvPr id="7" name="Rectangle : coins arrondis 6">
            <a:extLst>
              <a:ext uri="{FF2B5EF4-FFF2-40B4-BE49-F238E27FC236}">
                <a16:creationId xmlns:a16="http://schemas.microsoft.com/office/drawing/2014/main" id="{C3881132-3D0C-4323-975E-6116254F0F55}"/>
              </a:ext>
            </a:extLst>
          </p:cNvPr>
          <p:cNvSpPr>
            <a:spLocks noGrp="1"/>
          </p:cNvSpPr>
          <p:nvPr/>
        </p:nvSpPr>
        <p:spPr>
          <a:xfrm>
            <a:off x="5619750" y="1790700"/>
            <a:ext cx="5905500" cy="2647950"/>
          </a:xfrm>
          <a:prstGeom prst="roundRect">
            <a:avLst>
              <a:gd name="adj" fmla="val 5755"/>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pic>
        <p:nvPicPr>
          <p:cNvPr id="30" name="Image 29"/>
          <p:cNvPicPr>
            <a:picLocks noChangeAspect="1"/>
          </p:cNvPicPr>
          <p:nvPr/>
        </p:nvPicPr>
        <p:blipFill>
          <a:blip r:embed="rId3"/>
          <a:srcRect t="13166" b="13166"/>
          <a:stretch>
            <a:fillRect/>
          </a:stretch>
        </p:blipFill>
        <p:spPr>
          <a:xfrm>
            <a:off x="5791200" y="1962150"/>
            <a:ext cx="5562600" cy="2305050"/>
          </a:xfrm>
          <a:prstGeom prst="roundRect">
            <a:avLst>
              <a:gd name="adj" fmla="val 6612"/>
            </a:avLst>
          </a:prstGeom>
        </p:spPr>
      </p:pic>
      <p:sp>
        <p:nvSpPr>
          <p:cNvPr id="9" name="Rectangle : coins arrondis 8">
            <a:extLst>
              <a:ext uri="{FF2B5EF4-FFF2-40B4-BE49-F238E27FC236}">
                <a16:creationId xmlns:a16="http://schemas.microsoft.com/office/drawing/2014/main" id="{2019CEAB-9B41-465E-92CF-5D3657F36913}"/>
              </a:ext>
            </a:extLst>
          </p:cNvPr>
          <p:cNvSpPr>
            <a:spLocks noGrp="1"/>
          </p:cNvSpPr>
          <p:nvPr/>
        </p:nvSpPr>
        <p:spPr>
          <a:xfrm>
            <a:off x="5619750" y="4686300"/>
            <a:ext cx="2762250" cy="1066800"/>
          </a:xfrm>
          <a:prstGeom prst="roundRect">
            <a:avLst>
              <a:gd name="adj" fmla="val 14286"/>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10" name="Rectangle : coins arrondis 9">
            <a:extLst>
              <a:ext uri="{FF2B5EF4-FFF2-40B4-BE49-F238E27FC236}">
                <a16:creationId xmlns:a16="http://schemas.microsoft.com/office/drawing/2014/main" id="{1D9508BB-F096-4318-82D9-5F3B949547E2}"/>
              </a:ext>
            </a:extLst>
          </p:cNvPr>
          <p:cNvSpPr>
            <a:spLocks noGrp="1"/>
          </p:cNvSpPr>
          <p:nvPr/>
        </p:nvSpPr>
        <p:spPr>
          <a:xfrm>
            <a:off x="5772150" y="4838700"/>
            <a:ext cx="1162050" cy="247650"/>
          </a:xfrm>
          <a:prstGeom prst="roundRect">
            <a:avLst>
              <a:gd name="adj" fmla="val 50000"/>
            </a:avLst>
          </a:prstGeom>
          <a:solidFill>
            <a:srgbClr val="2553D6"/>
          </a:solidFill>
          <a:ln w="0">
            <a:solidFill>
              <a:srgbClr val="2553D6"/>
            </a:solidFill>
            <a:prstDash val="solid"/>
          </a:ln>
        </p:spPr>
        <p:txBody>
          <a:bodyPr/>
          <a:lstStyle/>
          <a:p>
            <a:endParaRPr lang="fr-FR"/>
          </a:p>
        </p:txBody>
      </p:sp>
      <p:sp>
        <p:nvSpPr>
          <p:cNvPr id="11" name="Rectangle 10">
            <a:extLst>
              <a:ext uri="{FF2B5EF4-FFF2-40B4-BE49-F238E27FC236}">
                <a16:creationId xmlns:a16="http://schemas.microsoft.com/office/drawing/2014/main" id="{5C5DCA1B-EE01-4494-88F3-9ACF2A21A4CC}"/>
              </a:ext>
            </a:extLst>
          </p:cNvPr>
          <p:cNvSpPr>
            <a:spLocks noGrp="1"/>
          </p:cNvSpPr>
          <p:nvPr/>
        </p:nvSpPr>
        <p:spPr>
          <a:xfrm>
            <a:off x="5772150" y="4838700"/>
            <a:ext cx="1162050" cy="247650"/>
          </a:xfrm>
          <a:prstGeom prst="rect">
            <a:avLst/>
          </a:prstGeom>
          <a:noFill/>
          <a:ln w="0">
            <a:noFill/>
            <a:prstDash val="solid"/>
          </a:ln>
        </p:spPr>
        <p:txBody>
          <a:bodyPr wrap="square" lIns="76200" tIns="76200" rIns="76200" bIns="76200" anchor="ctr">
            <a:normAutofit fontScale="67024" lnSpcReduction="20000"/>
          </a:bodyPr>
          <a:lstStyle/>
          <a:p>
            <a:pPr algn="ctr">
              <a:defRPr sz="1050" b="1">
                <a:solidFill>
                  <a:srgbClr val="FFFFFF"/>
                </a:solidFill>
              </a:defRPr>
            </a:pPr>
            <a:r>
              <a:rPr sz="1050" b="1">
                <a:solidFill>
                  <a:srgbClr val="FFFFFF"/>
                </a:solidFill>
              </a:rPr>
              <a:t>HTML text</a:t>
            </a:r>
          </a:p>
        </p:txBody>
      </p:sp>
      <p:sp>
        <p:nvSpPr>
          <p:cNvPr id="12" name="Rectangle 11">
            <a:extLst>
              <a:ext uri="{FF2B5EF4-FFF2-40B4-BE49-F238E27FC236}">
                <a16:creationId xmlns:a16="http://schemas.microsoft.com/office/drawing/2014/main" id="{C4DD6274-90E1-4345-9445-B861327A4AC8}"/>
              </a:ext>
            </a:extLst>
          </p:cNvPr>
          <p:cNvSpPr>
            <a:spLocks noGrp="1"/>
          </p:cNvSpPr>
          <p:nvPr/>
        </p:nvSpPr>
        <p:spPr>
          <a:xfrm>
            <a:off x="5772150" y="5200650"/>
            <a:ext cx="2457450" cy="41910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Write the title and the project description directly in the block file.</a:t>
            </a:r>
          </a:p>
        </p:txBody>
      </p:sp>
      <p:sp>
        <p:nvSpPr>
          <p:cNvPr id="13" name="Rectangle : coins arrondis 12">
            <a:extLst>
              <a:ext uri="{FF2B5EF4-FFF2-40B4-BE49-F238E27FC236}">
                <a16:creationId xmlns:a16="http://schemas.microsoft.com/office/drawing/2014/main" id="{50DC2DC2-911D-4496-8A52-FFB6F7CF9279}"/>
              </a:ext>
            </a:extLst>
          </p:cNvPr>
          <p:cNvSpPr>
            <a:spLocks noGrp="1"/>
          </p:cNvSpPr>
          <p:nvPr/>
        </p:nvSpPr>
        <p:spPr>
          <a:xfrm>
            <a:off x="8763000" y="4686300"/>
            <a:ext cx="2762250" cy="1066800"/>
          </a:xfrm>
          <a:prstGeom prst="roundRect">
            <a:avLst>
              <a:gd name="adj" fmla="val 14286"/>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14" name="Rectangle : coins arrondis 13">
            <a:extLst>
              <a:ext uri="{FF2B5EF4-FFF2-40B4-BE49-F238E27FC236}">
                <a16:creationId xmlns:a16="http://schemas.microsoft.com/office/drawing/2014/main" id="{C7AE5124-7436-464F-BBEF-3116B7448084}"/>
              </a:ext>
            </a:extLst>
          </p:cNvPr>
          <p:cNvSpPr>
            <a:spLocks noGrp="1"/>
          </p:cNvSpPr>
          <p:nvPr/>
        </p:nvSpPr>
        <p:spPr>
          <a:xfrm>
            <a:off x="8915400" y="4838700"/>
            <a:ext cx="1162050" cy="247650"/>
          </a:xfrm>
          <a:prstGeom prst="roundRect">
            <a:avLst>
              <a:gd name="adj" fmla="val 50000"/>
            </a:avLst>
          </a:prstGeom>
          <a:solidFill>
            <a:srgbClr val="0F766E"/>
          </a:solidFill>
          <a:ln w="0">
            <a:solidFill>
              <a:srgbClr val="0F766E"/>
            </a:solidFill>
            <a:prstDash val="solid"/>
          </a:ln>
        </p:spPr>
        <p:txBody>
          <a:bodyPr/>
          <a:lstStyle/>
          <a:p>
            <a:endParaRPr lang="fr-FR"/>
          </a:p>
        </p:txBody>
      </p:sp>
      <p:sp>
        <p:nvSpPr>
          <p:cNvPr id="15" name="Rectangle 14">
            <a:extLst>
              <a:ext uri="{FF2B5EF4-FFF2-40B4-BE49-F238E27FC236}">
                <a16:creationId xmlns:a16="http://schemas.microsoft.com/office/drawing/2014/main" id="{C03CA8B8-7445-46C1-92D7-D1EF91810C59}"/>
              </a:ext>
            </a:extLst>
          </p:cNvPr>
          <p:cNvSpPr>
            <a:spLocks noGrp="1"/>
          </p:cNvSpPr>
          <p:nvPr/>
        </p:nvSpPr>
        <p:spPr>
          <a:xfrm>
            <a:off x="8915400" y="4838700"/>
            <a:ext cx="1162050" cy="247650"/>
          </a:xfrm>
          <a:prstGeom prst="rect">
            <a:avLst/>
          </a:prstGeom>
          <a:noFill/>
          <a:ln w="0">
            <a:noFill/>
            <a:prstDash val="solid"/>
          </a:ln>
        </p:spPr>
        <p:txBody>
          <a:bodyPr wrap="square" lIns="76200" tIns="76200" rIns="76200" bIns="76200" anchor="ctr">
            <a:normAutofit fontScale="67024" lnSpcReduction="20000"/>
          </a:bodyPr>
          <a:lstStyle/>
          <a:p>
            <a:pPr algn="ctr">
              <a:defRPr sz="1050" b="1">
                <a:solidFill>
                  <a:srgbClr val="FFFFFF"/>
                </a:solidFill>
              </a:defRPr>
            </a:pPr>
            <a:r>
              <a:rPr sz="1050" b="1">
                <a:solidFill>
                  <a:srgbClr val="FFFFFF"/>
                </a:solidFill>
              </a:rPr>
              <a:t>Image</a:t>
            </a:r>
          </a:p>
        </p:txBody>
      </p:sp>
      <p:sp>
        <p:nvSpPr>
          <p:cNvPr id="16" name="Rectangle 15">
            <a:extLst>
              <a:ext uri="{FF2B5EF4-FFF2-40B4-BE49-F238E27FC236}">
                <a16:creationId xmlns:a16="http://schemas.microsoft.com/office/drawing/2014/main" id="{25122CE9-8D7B-46DB-BB46-E9E5E2CA981B}"/>
              </a:ext>
            </a:extLst>
          </p:cNvPr>
          <p:cNvSpPr>
            <a:spLocks noGrp="1"/>
          </p:cNvSpPr>
          <p:nvPr/>
        </p:nvSpPr>
        <p:spPr>
          <a:xfrm>
            <a:off x="8915400" y="5200650"/>
            <a:ext cx="2457450" cy="419100"/>
          </a:xfrm>
          <a:prstGeom prst="rect">
            <a:avLst/>
          </a:prstGeom>
          <a:noFill/>
          <a:ln w="0">
            <a:noFill/>
            <a:prstDash val="solid"/>
          </a:ln>
        </p:spPr>
        <p:txBody>
          <a:bodyPr wrap="square" lIns="0" tIns="0" rIns="0" bIns="0" anchor="t">
            <a:normAutofit fontScale="88372" lnSpcReduction="20000"/>
          </a:bodyPr>
          <a:lstStyle/>
          <a:p>
            <a:pPr algn="l">
              <a:defRPr sz="1200" b="0">
                <a:solidFill>
                  <a:srgbClr val="334155"/>
                </a:solidFill>
              </a:defRPr>
            </a:pPr>
            <a:r>
              <a:rPr sz="1200" b="0">
                <a:solidFill>
                  <a:srgbClr val="334155"/>
                </a:solidFill>
              </a:rPr>
              <a:t>Point the img tag to Image/... The shared CSS keeps the image centered and fixed in size.</a:t>
            </a:r>
          </a:p>
        </p:txBody>
      </p:sp>
      <p:sp>
        <p:nvSpPr>
          <p:cNvPr id="17" name="Rectangle : coins arrondis 16">
            <a:extLst>
              <a:ext uri="{FF2B5EF4-FFF2-40B4-BE49-F238E27FC236}">
                <a16:creationId xmlns:a16="http://schemas.microsoft.com/office/drawing/2014/main" id="{965A4750-C098-4BD6-9F5A-99E3DE32C80B}"/>
              </a:ext>
            </a:extLst>
          </p:cNvPr>
          <p:cNvSpPr>
            <a:spLocks noGrp="1"/>
          </p:cNvSpPr>
          <p:nvPr/>
        </p:nvSpPr>
        <p:spPr>
          <a:xfrm>
            <a:off x="381000" y="5962650"/>
            <a:ext cx="5796204" cy="533400"/>
          </a:xfrm>
          <a:prstGeom prst="roundRect">
            <a:avLst>
              <a:gd name="adj" fmla="val 28571"/>
            </a:avLst>
          </a:prstGeom>
          <a:solidFill>
            <a:srgbClr val="EBFBF1"/>
          </a:solidFill>
          <a:ln w="9525">
            <a:solidFill>
              <a:srgbClr val="A7F3D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19" name="Rectangle 18">
            <a:extLst>
              <a:ext uri="{FF2B5EF4-FFF2-40B4-BE49-F238E27FC236}">
                <a16:creationId xmlns:a16="http://schemas.microsoft.com/office/drawing/2014/main" id="{BF6CAC30-53C5-47FE-9A71-4BA4A636FB1A}"/>
              </a:ext>
            </a:extLst>
          </p:cNvPr>
          <p:cNvSpPr>
            <a:spLocks noGrp="1"/>
          </p:cNvSpPr>
          <p:nvPr/>
        </p:nvSpPr>
        <p:spPr>
          <a:xfrm>
            <a:off x="723900" y="5829300"/>
            <a:ext cx="400412" cy="228600"/>
          </a:xfrm>
          <a:prstGeom prst="rect">
            <a:avLst/>
          </a:prstGeom>
          <a:noFill/>
          <a:ln w="0">
            <a:noFill/>
            <a:prstDash val="solid"/>
          </a:ln>
        </p:spPr>
        <p:txBody>
          <a:bodyPr wrap="square" lIns="76200" tIns="76200" rIns="76200" bIns="76200" anchor="ctr">
            <a:normAutofit fontScale="55119" lnSpcReduction="20000"/>
          </a:bodyPr>
          <a:lstStyle/>
          <a:p>
            <a:pPr algn="ctr">
              <a:defRPr sz="1050" b="1">
                <a:solidFill>
                  <a:srgbClr val="FFFFFF"/>
                </a:solidFill>
              </a:defRPr>
            </a:pPr>
            <a:endParaRPr sz="1050" b="1" dirty="0">
              <a:solidFill>
                <a:srgbClr val="FFFFFF"/>
              </a:solidFill>
            </a:endParaRPr>
          </a:p>
        </p:txBody>
      </p:sp>
      <p:sp>
        <p:nvSpPr>
          <p:cNvPr id="20" name="Rectangle 19">
            <a:extLst>
              <a:ext uri="{FF2B5EF4-FFF2-40B4-BE49-F238E27FC236}">
                <a16:creationId xmlns:a16="http://schemas.microsoft.com/office/drawing/2014/main" id="{59294527-1DE9-409F-AEAA-1E780958F687}"/>
              </a:ext>
            </a:extLst>
          </p:cNvPr>
          <p:cNvSpPr>
            <a:spLocks noGrp="1"/>
          </p:cNvSpPr>
          <p:nvPr/>
        </p:nvSpPr>
        <p:spPr>
          <a:xfrm>
            <a:off x="550545" y="6129528"/>
            <a:ext cx="5530215" cy="342900"/>
          </a:xfrm>
          <a:prstGeom prst="rect">
            <a:avLst/>
          </a:prstGeom>
          <a:noFill/>
          <a:ln w="0">
            <a:noFill/>
            <a:prstDash val="solid"/>
          </a:ln>
        </p:spPr>
        <p:txBody>
          <a:bodyPr wrap="square" lIns="0" tIns="0" rIns="0" bIns="0" anchor="t">
            <a:normAutofit/>
          </a:bodyPr>
          <a:lstStyle/>
          <a:p>
            <a:pPr algn="l">
              <a:defRPr sz="1200" b="0">
                <a:solidFill>
                  <a:srgbClr val="1E293B"/>
                </a:solidFill>
              </a:defRPr>
            </a:pPr>
            <a:r>
              <a:rPr sz="1200" b="0" dirty="0">
                <a:solidFill>
                  <a:srgbClr val="1E293B"/>
                </a:solidFill>
              </a:rPr>
              <a:t>Important: the vessel link list stays empty in HTML. JavaScript fills it automatically later.</a:t>
            </a:r>
          </a:p>
        </p:txBody>
      </p:sp>
      <p:sp>
        <p:nvSpPr>
          <p:cNvPr id="21" name="Rectangle 20">
            <a:extLst>
              <a:ext uri="{FF2B5EF4-FFF2-40B4-BE49-F238E27FC236}">
                <a16:creationId xmlns:a16="http://schemas.microsoft.com/office/drawing/2014/main" id="{65B0F003-D2DB-4DE3-9FDF-D7F97E90A4D4}"/>
              </a:ext>
            </a:extLst>
          </p:cNvPr>
          <p:cNvSpPr>
            <a:spLocks noGrp="1"/>
          </p:cNvSpPr>
          <p:nvPr/>
        </p:nvSpPr>
        <p:spPr>
          <a:xfrm>
            <a:off x="571500" y="6534150"/>
            <a:ext cx="3048000" cy="190500"/>
          </a:xfrm>
          <a:prstGeom prst="rect">
            <a:avLst/>
          </a:prstGeom>
          <a:noFill/>
          <a:ln w="0">
            <a:noFill/>
            <a:prstDash val="solid"/>
          </a:ln>
        </p:spPr>
        <p:txBody>
          <a:bodyPr wrap="square" lIns="0" tIns="0" rIns="0" bIns="0" anchor="t">
            <a:normAutofit/>
          </a:bodyPr>
          <a:lstStyle/>
          <a:p>
            <a:pPr algn="l">
              <a:defRPr sz="825" b="0">
                <a:solidFill>
                  <a:srgbClr val="64748B"/>
                </a:solidFill>
              </a:defRPr>
            </a:pPr>
            <a:r>
              <a:rPr sz="825" b="0">
                <a:solidFill>
                  <a:srgbClr val="64748B"/>
                </a:solidFill>
              </a:rPr>
              <a:t>Data Hub guide - new vessel workflow</a:t>
            </a:r>
          </a:p>
        </p:txBody>
      </p:sp>
      <p:sp>
        <p:nvSpPr>
          <p:cNvPr id="22" name="Rectangle 21">
            <a:extLst>
              <a:ext uri="{FF2B5EF4-FFF2-40B4-BE49-F238E27FC236}">
                <a16:creationId xmlns:a16="http://schemas.microsoft.com/office/drawing/2014/main" id="{2D9842DA-52E5-483A-93C2-ACF4F076E614}"/>
              </a:ext>
            </a:extLst>
          </p:cNvPr>
          <p:cNvSpPr>
            <a:spLocks noGrp="1"/>
          </p:cNvSpPr>
          <p:nvPr/>
        </p:nvSpPr>
        <p:spPr>
          <a:xfrm>
            <a:off x="11144250" y="6496050"/>
            <a:ext cx="381000" cy="228600"/>
          </a:xfrm>
          <a:prstGeom prst="rect">
            <a:avLst/>
          </a:prstGeom>
          <a:noFill/>
          <a:ln w="0">
            <a:noFill/>
            <a:prstDash val="solid"/>
          </a:ln>
        </p:spPr>
        <p:txBody>
          <a:bodyPr wrap="square" lIns="0" tIns="0" rIns="0" bIns="0" anchor="t">
            <a:normAutofit/>
          </a:bodyPr>
          <a:lstStyle/>
          <a:p>
            <a:pPr algn="r">
              <a:defRPr sz="900" b="1">
                <a:solidFill>
                  <a:srgbClr val="64748B"/>
                </a:solidFill>
              </a:defRPr>
            </a:pPr>
            <a:r>
              <a:rPr sz="900" b="1">
                <a:solidFill>
                  <a:srgbClr val="64748B"/>
                </a:solidFill>
              </a:rPr>
              <a:t>4</a:t>
            </a:r>
          </a:p>
        </p:txBody>
      </p:sp>
      <p:sp>
        <p:nvSpPr>
          <p:cNvPr id="23" name="Rectangle 22">
            <a:extLst>
              <a:ext uri="{FF2B5EF4-FFF2-40B4-BE49-F238E27FC236}">
                <a16:creationId xmlns:a16="http://schemas.microsoft.com/office/drawing/2014/main" id="{2C6CB9AE-8E77-1181-EC12-5C3F314C83A7}"/>
              </a:ext>
            </a:extLst>
          </p:cNvPr>
          <p:cNvSpPr/>
          <p:nvPr/>
        </p:nvSpPr>
        <p:spPr>
          <a:xfrm>
            <a:off x="723900" y="2852928"/>
            <a:ext cx="4438650" cy="1024128"/>
          </a:xfrm>
          <a:prstGeom prst="rect">
            <a:avLst/>
          </a:prstGeom>
          <a:noFill/>
          <a:ln w="952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fr-FR"/>
          </a:p>
        </p:txBody>
      </p:sp>
    </p:spTree>
    <p:extLst>
      <p:ext uri="{BB962C8B-B14F-4D97-AF65-F5344CB8AC3E}">
        <p14:creationId xmlns:p14="http://schemas.microsoft.com/office/powerpoint/2010/main" val="3365813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8FB"/>
        </a:solidFill>
        <a:effectLst/>
      </p:bgPr>
    </p:bg>
    <p:spTree>
      <p:nvGrpSpPr>
        <p:cNvPr id="1" name=""/>
        <p:cNvGrpSpPr/>
        <p:nvPr/>
      </p:nvGrpSpPr>
      <p:grpSpPr>
        <a:xfrm>
          <a:off x="0" y="0"/>
          <a:ext cx="0" cy="0"/>
          <a:chOff x="0" y="0"/>
          <a:chExt cx="0" cy="0"/>
        </a:xfrm>
      </p:grpSpPr>
      <p:sp>
        <p:nvSpPr>
          <p:cNvPr id="33" name="Rectangle : coins arrondis 32">
            <a:extLst>
              <a:ext uri="{FF2B5EF4-FFF2-40B4-BE49-F238E27FC236}">
                <a16:creationId xmlns:a16="http://schemas.microsoft.com/office/drawing/2014/main" id="{C282679E-D6E3-4F3C-8AD5-CC8D1FBA7A57}"/>
              </a:ext>
            </a:extLst>
          </p:cNvPr>
          <p:cNvSpPr>
            <a:spLocks noGrp="1"/>
          </p:cNvSpPr>
          <p:nvPr/>
        </p:nvSpPr>
        <p:spPr>
          <a:xfrm>
            <a:off x="571500" y="425958"/>
            <a:ext cx="1619250" cy="285750"/>
          </a:xfrm>
          <a:prstGeom prst="roundRect">
            <a:avLst>
              <a:gd name="adj" fmla="val 50000"/>
            </a:avLst>
          </a:prstGeom>
          <a:solidFill>
            <a:srgbClr val="2553D6"/>
          </a:solidFill>
          <a:ln w="0">
            <a:solidFill>
              <a:srgbClr val="2553D6"/>
            </a:solidFill>
            <a:prstDash val="solid"/>
          </a:ln>
        </p:spPr>
        <p:txBody>
          <a:bodyPr/>
          <a:lstStyle/>
          <a:p>
            <a:endParaRPr lang="fr-FR"/>
          </a:p>
        </p:txBody>
      </p:sp>
      <p:sp>
        <p:nvSpPr>
          <p:cNvPr id="2" name="Rectangle 1">
            <a:extLst>
              <a:ext uri="{FF2B5EF4-FFF2-40B4-BE49-F238E27FC236}">
                <a16:creationId xmlns:a16="http://schemas.microsoft.com/office/drawing/2014/main" id="{42692C5F-7834-44D9-AB53-E31D041B1143}"/>
              </a:ext>
            </a:extLst>
          </p:cNvPr>
          <p:cNvSpPr>
            <a:spLocks noGrp="1"/>
          </p:cNvSpPr>
          <p:nvPr/>
        </p:nvSpPr>
        <p:spPr>
          <a:xfrm>
            <a:off x="571500" y="444246"/>
            <a:ext cx="1619250" cy="285750"/>
          </a:xfrm>
          <a:prstGeom prst="rect">
            <a:avLst/>
          </a:prstGeom>
          <a:noFill/>
          <a:ln w="0">
            <a:noFill/>
            <a:prstDash val="solid"/>
          </a:ln>
        </p:spPr>
        <p:txBody>
          <a:bodyPr wrap="square" lIns="76200" tIns="76200" rIns="76200" bIns="76200" anchor="ctr">
            <a:normAutofit fontScale="90833" lnSpcReduction="20000"/>
          </a:bodyPr>
          <a:lstStyle/>
          <a:p>
            <a:pPr algn="ctr">
              <a:defRPr sz="1050" b="1">
                <a:solidFill>
                  <a:srgbClr val="FFFFFF"/>
                </a:solidFill>
              </a:defRPr>
            </a:pPr>
            <a:r>
              <a:rPr sz="1050" b="1">
                <a:solidFill>
                  <a:srgbClr val="FFFFFF"/>
                </a:solidFill>
              </a:rPr>
              <a:t>BUILD STEP 3</a:t>
            </a:r>
          </a:p>
        </p:txBody>
      </p:sp>
      <p:sp>
        <p:nvSpPr>
          <p:cNvPr id="3" name="Rectangle 2">
            <a:extLst>
              <a:ext uri="{FF2B5EF4-FFF2-40B4-BE49-F238E27FC236}">
                <a16:creationId xmlns:a16="http://schemas.microsoft.com/office/drawing/2014/main" id="{90BC87C7-DDBC-44A5-89FD-D5A9E2F1357F}"/>
              </a:ext>
            </a:extLst>
          </p:cNvPr>
          <p:cNvSpPr>
            <a:spLocks noGrp="1"/>
          </p:cNvSpPr>
          <p:nvPr/>
        </p:nvSpPr>
        <p:spPr>
          <a:xfrm>
            <a:off x="571500" y="862584"/>
            <a:ext cx="11049000" cy="476250"/>
          </a:xfrm>
          <a:prstGeom prst="rect">
            <a:avLst/>
          </a:prstGeom>
          <a:noFill/>
          <a:ln w="0">
            <a:noFill/>
            <a:prstDash val="solid"/>
          </a:ln>
        </p:spPr>
        <p:txBody>
          <a:bodyPr wrap="square" lIns="0" tIns="0" rIns="0" bIns="0" anchor="t">
            <a:normAutofit/>
          </a:bodyPr>
          <a:lstStyle/>
          <a:p>
            <a:pPr algn="l">
              <a:defRPr sz="3000" b="1">
                <a:solidFill>
                  <a:srgbClr val="0F172A"/>
                </a:solidFill>
              </a:defRPr>
            </a:pPr>
            <a:r>
              <a:rPr sz="3000" b="1" dirty="0">
                <a:solidFill>
                  <a:srgbClr val="0F172A"/>
                </a:solidFill>
              </a:rPr>
              <a:t>Register the project once in project-config.js</a:t>
            </a:r>
          </a:p>
        </p:txBody>
      </p:sp>
      <p:sp>
        <p:nvSpPr>
          <p:cNvPr id="4" name="Rectangle 3">
            <a:extLst>
              <a:ext uri="{FF2B5EF4-FFF2-40B4-BE49-F238E27FC236}">
                <a16:creationId xmlns:a16="http://schemas.microsoft.com/office/drawing/2014/main" id="{4A759C8F-6AFF-4C64-BBB1-7A250DF5D613}"/>
              </a:ext>
            </a:extLst>
          </p:cNvPr>
          <p:cNvSpPr>
            <a:spLocks noGrp="1"/>
          </p:cNvSpPr>
          <p:nvPr/>
        </p:nvSpPr>
        <p:spPr>
          <a:xfrm>
            <a:off x="571500" y="1400556"/>
            <a:ext cx="11049000" cy="323850"/>
          </a:xfrm>
          <a:prstGeom prst="rect">
            <a:avLst/>
          </a:prstGeom>
          <a:noFill/>
          <a:ln w="0">
            <a:noFill/>
            <a:prstDash val="solid"/>
          </a:ln>
        </p:spPr>
        <p:txBody>
          <a:bodyPr wrap="square" lIns="0" tIns="0" rIns="0" bIns="0" anchor="t">
            <a:normAutofit/>
          </a:bodyPr>
          <a:lstStyle/>
          <a:p>
            <a:pPr algn="l">
              <a:defRPr sz="1350" b="0">
                <a:solidFill>
                  <a:srgbClr val="475569"/>
                </a:solidFill>
              </a:defRPr>
            </a:pPr>
            <a:r>
              <a:rPr sz="1350" b="0" dirty="0">
                <a:solidFill>
                  <a:srgbClr val="475569"/>
                </a:solidFill>
              </a:rPr>
              <a:t>This is the bridge between the dashboard block, the page URL, and the main JSON file.</a:t>
            </a:r>
          </a:p>
        </p:txBody>
      </p:sp>
      <p:sp>
        <p:nvSpPr>
          <p:cNvPr id="5" name="Rectangle : coins arrondis 4">
            <a:extLst>
              <a:ext uri="{FF2B5EF4-FFF2-40B4-BE49-F238E27FC236}">
                <a16:creationId xmlns:a16="http://schemas.microsoft.com/office/drawing/2014/main" id="{C197C6ED-5835-4687-A6B0-FD7DF04B089A}"/>
              </a:ext>
            </a:extLst>
          </p:cNvPr>
          <p:cNvSpPr>
            <a:spLocks noGrp="1"/>
          </p:cNvSpPr>
          <p:nvPr/>
        </p:nvSpPr>
        <p:spPr>
          <a:xfrm>
            <a:off x="571500" y="2258568"/>
            <a:ext cx="4476750" cy="3086100"/>
          </a:xfrm>
          <a:prstGeom prst="roundRect">
            <a:avLst>
              <a:gd name="adj" fmla="val 4938"/>
            </a:avLst>
          </a:prstGeom>
          <a:solidFill>
            <a:srgbClr val="0B1220"/>
          </a:solidFill>
          <a:ln w="9525">
            <a:solidFill>
              <a:srgbClr val="1E293B"/>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6" name="Rectangle 5">
            <a:extLst>
              <a:ext uri="{FF2B5EF4-FFF2-40B4-BE49-F238E27FC236}">
                <a16:creationId xmlns:a16="http://schemas.microsoft.com/office/drawing/2014/main" id="{C022F649-5821-44FA-95DA-2AEB10DB7F39}"/>
              </a:ext>
            </a:extLst>
          </p:cNvPr>
          <p:cNvSpPr>
            <a:spLocks noGrp="1"/>
          </p:cNvSpPr>
          <p:nvPr/>
        </p:nvSpPr>
        <p:spPr>
          <a:xfrm>
            <a:off x="742950" y="2410968"/>
            <a:ext cx="4133850" cy="2781300"/>
          </a:xfrm>
          <a:prstGeom prst="rect">
            <a:avLst/>
          </a:prstGeom>
          <a:noFill/>
          <a:ln w="0">
            <a:noFill/>
            <a:prstDash val="solid"/>
          </a:ln>
        </p:spPr>
        <p:txBody>
          <a:bodyPr wrap="square" lIns="0" tIns="0" rIns="0" bIns="0" anchor="t">
            <a:normAutofit/>
          </a:bodyPr>
          <a:lstStyle/>
          <a:p>
            <a:pPr algn="l">
              <a:defRPr sz="1500" b="0">
                <a:solidFill>
                  <a:srgbClr val="E2E8F0"/>
                </a:solidFill>
                <a:latin typeface="Consolas"/>
                <a:ea typeface="Consolas"/>
                <a:cs typeface="Consolas"/>
              </a:defRPr>
            </a:pPr>
            <a:r>
              <a:rPr sz="1500" b="0">
                <a:solidFill>
                  <a:srgbClr val="E2E8F0"/>
                </a:solidFill>
                <a:latin typeface="Consolas"/>
                <a:ea typeface="Consolas"/>
                <a:cs typeface="Consolas"/>
              </a:rPr>
              <a:t>{</a:t>
            </a:r>
          </a:p>
          <a:p>
            <a:pPr algn="l">
              <a:defRPr sz="1500" b="0">
                <a:solidFill>
                  <a:srgbClr val="E2E8F0"/>
                </a:solidFill>
                <a:latin typeface="Consolas"/>
                <a:ea typeface="Consolas"/>
                <a:cs typeface="Consolas"/>
              </a:defRPr>
            </a:pPr>
            <a:r>
              <a:rPr sz="1500" b="0">
                <a:solidFill>
                  <a:srgbClr val="E2E8F0"/>
                </a:solidFill>
                <a:latin typeface="Consolas"/>
                <a:ea typeface="Consolas"/>
                <a:cs typeface="Consolas"/>
              </a:rPr>
              <a:t>  id: "atlas",</a:t>
            </a:r>
          </a:p>
          <a:p>
            <a:pPr algn="l">
              <a:defRPr sz="1500" b="0">
                <a:solidFill>
                  <a:srgbClr val="E2E8F0"/>
                </a:solidFill>
                <a:latin typeface="Consolas"/>
                <a:ea typeface="Consolas"/>
                <a:cs typeface="Consolas"/>
              </a:defRPr>
            </a:pPr>
            <a:r>
              <a:rPr sz="1500" b="0">
                <a:solidFill>
                  <a:srgbClr val="E2E8F0"/>
                </a:solidFill>
                <a:latin typeface="Consolas"/>
                <a:ea typeface="Consolas"/>
                <a:cs typeface="Consolas"/>
              </a:rPr>
              <a:t>  name: "ALMI ATLAS",</a:t>
            </a:r>
          </a:p>
          <a:p>
            <a:pPr algn="l">
              <a:defRPr sz="1500" b="0">
                <a:solidFill>
                  <a:srgbClr val="E2E8F0"/>
                </a:solidFill>
                <a:latin typeface="Consolas"/>
                <a:ea typeface="Consolas"/>
                <a:cs typeface="Consolas"/>
              </a:defRPr>
            </a:pPr>
            <a:r>
              <a:rPr sz="1500" b="0">
                <a:solidFill>
                  <a:srgbClr val="E2E8F0"/>
                </a:solidFill>
                <a:latin typeface="Consolas"/>
                <a:ea typeface="Consolas"/>
                <a:cs typeface="Consolas"/>
              </a:rPr>
              <a:t>  dashboardListId: "rina-vessel-links",</a:t>
            </a:r>
          </a:p>
          <a:p>
            <a:pPr algn="l">
              <a:defRPr sz="1500" b="0">
                <a:solidFill>
                  <a:srgbClr val="E2E8F0"/>
                </a:solidFill>
                <a:latin typeface="Consolas"/>
                <a:ea typeface="Consolas"/>
                <a:cs typeface="Consolas"/>
              </a:defRPr>
            </a:pPr>
            <a:r>
              <a:rPr sz="1500" b="0">
                <a:solidFill>
                  <a:srgbClr val="E2E8F0"/>
                </a:solidFill>
                <a:latin typeface="Consolas"/>
                <a:ea typeface="Consolas"/>
                <a:cs typeface="Consolas"/>
              </a:rPr>
              <a:t>  jsonPath: "Projects/RINA Sig. Ships/Vol.2018/ALMI ATLAS/JSON/ALMI_ATLAS.json"</a:t>
            </a:r>
          </a:p>
          <a:p>
            <a:pPr algn="l">
              <a:defRPr sz="1500" b="0">
                <a:solidFill>
                  <a:srgbClr val="E2E8F0"/>
                </a:solidFill>
                <a:latin typeface="Consolas"/>
                <a:ea typeface="Consolas"/>
                <a:cs typeface="Consolas"/>
              </a:defRPr>
            </a:pPr>
            <a:r>
              <a:rPr sz="1500" b="0">
                <a:solidFill>
                  <a:srgbClr val="E2E8F0"/>
                </a:solidFill>
                <a:latin typeface="Consolas"/>
                <a:ea typeface="Consolas"/>
                <a:cs typeface="Consolas"/>
              </a:rPr>
              <a:t>}</a:t>
            </a:r>
          </a:p>
        </p:txBody>
      </p:sp>
      <p:sp>
        <p:nvSpPr>
          <p:cNvPr id="7" name="Rectangle : coins arrondis 6">
            <a:extLst>
              <a:ext uri="{FF2B5EF4-FFF2-40B4-BE49-F238E27FC236}">
                <a16:creationId xmlns:a16="http://schemas.microsoft.com/office/drawing/2014/main" id="{49BE4D16-99C1-481C-B09F-F5784EF8BB16}"/>
              </a:ext>
            </a:extLst>
          </p:cNvPr>
          <p:cNvSpPr>
            <a:spLocks noGrp="1"/>
          </p:cNvSpPr>
          <p:nvPr/>
        </p:nvSpPr>
        <p:spPr>
          <a:xfrm>
            <a:off x="5391150" y="2258568"/>
            <a:ext cx="2724150" cy="1143000"/>
          </a:xfrm>
          <a:prstGeom prst="roundRect">
            <a:avLst>
              <a:gd name="adj" fmla="val 13333"/>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8" name="Rectangle : coins arrondis 7">
            <a:extLst>
              <a:ext uri="{FF2B5EF4-FFF2-40B4-BE49-F238E27FC236}">
                <a16:creationId xmlns:a16="http://schemas.microsoft.com/office/drawing/2014/main" id="{BB2DA3EF-D615-4FA4-8711-FE6CAB004134}"/>
              </a:ext>
            </a:extLst>
          </p:cNvPr>
          <p:cNvSpPr>
            <a:spLocks noGrp="1"/>
          </p:cNvSpPr>
          <p:nvPr/>
        </p:nvSpPr>
        <p:spPr>
          <a:xfrm>
            <a:off x="5543550" y="2410968"/>
            <a:ext cx="1162050" cy="247650"/>
          </a:xfrm>
          <a:prstGeom prst="roundRect">
            <a:avLst>
              <a:gd name="adj" fmla="val 50000"/>
            </a:avLst>
          </a:prstGeom>
          <a:solidFill>
            <a:srgbClr val="2553D6"/>
          </a:solidFill>
          <a:ln w="0">
            <a:solidFill>
              <a:srgbClr val="2553D6"/>
            </a:solidFill>
            <a:prstDash val="solid"/>
          </a:ln>
        </p:spPr>
        <p:txBody>
          <a:bodyPr/>
          <a:lstStyle/>
          <a:p>
            <a:endParaRPr lang="fr-FR"/>
          </a:p>
        </p:txBody>
      </p:sp>
      <p:sp>
        <p:nvSpPr>
          <p:cNvPr id="9" name="Rectangle 8">
            <a:extLst>
              <a:ext uri="{FF2B5EF4-FFF2-40B4-BE49-F238E27FC236}">
                <a16:creationId xmlns:a16="http://schemas.microsoft.com/office/drawing/2014/main" id="{A52142E5-B6BA-4933-B827-BE38B048D188}"/>
              </a:ext>
            </a:extLst>
          </p:cNvPr>
          <p:cNvSpPr>
            <a:spLocks noGrp="1"/>
          </p:cNvSpPr>
          <p:nvPr/>
        </p:nvSpPr>
        <p:spPr>
          <a:xfrm>
            <a:off x="5543550" y="2410968"/>
            <a:ext cx="1162050" cy="247650"/>
          </a:xfrm>
          <a:prstGeom prst="rect">
            <a:avLst/>
          </a:prstGeom>
          <a:noFill/>
          <a:ln w="0">
            <a:noFill/>
            <a:prstDash val="solid"/>
          </a:ln>
        </p:spPr>
        <p:txBody>
          <a:bodyPr wrap="square" lIns="76200" tIns="76200" rIns="76200" bIns="76200" anchor="ctr">
            <a:noAutofit/>
          </a:bodyPr>
          <a:lstStyle/>
          <a:p>
            <a:pPr algn="ctr">
              <a:defRPr sz="1050" b="1">
                <a:solidFill>
                  <a:srgbClr val="FFFFFF"/>
                </a:solidFill>
              </a:defRPr>
            </a:pPr>
            <a:r>
              <a:rPr sz="1200" b="1" dirty="0">
                <a:solidFill>
                  <a:srgbClr val="FFFFFF"/>
                </a:solidFill>
              </a:rPr>
              <a:t>id</a:t>
            </a:r>
          </a:p>
        </p:txBody>
      </p:sp>
      <p:sp>
        <p:nvSpPr>
          <p:cNvPr id="10" name="Rectangle 9">
            <a:extLst>
              <a:ext uri="{FF2B5EF4-FFF2-40B4-BE49-F238E27FC236}">
                <a16:creationId xmlns:a16="http://schemas.microsoft.com/office/drawing/2014/main" id="{4F1652FE-DB40-45C2-B368-225D58FF8046}"/>
              </a:ext>
            </a:extLst>
          </p:cNvPr>
          <p:cNvSpPr>
            <a:spLocks noGrp="1"/>
          </p:cNvSpPr>
          <p:nvPr/>
        </p:nvSpPr>
        <p:spPr>
          <a:xfrm>
            <a:off x="5543550" y="2772918"/>
            <a:ext cx="2419350" cy="49530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dirty="0">
                <a:solidFill>
                  <a:srgbClr val="334155"/>
                </a:solidFill>
              </a:rPr>
              <a:t>Unique key used in the URL.</a:t>
            </a:r>
          </a:p>
          <a:p>
            <a:pPr algn="l">
              <a:defRPr sz="1200" b="0">
                <a:solidFill>
                  <a:srgbClr val="334155"/>
                </a:solidFill>
              </a:defRPr>
            </a:pPr>
            <a:r>
              <a:rPr sz="1200" b="0" dirty="0">
                <a:solidFill>
                  <a:srgbClr val="334155"/>
                </a:solidFill>
              </a:rPr>
              <a:t>Example: project=atlas</a:t>
            </a:r>
          </a:p>
        </p:txBody>
      </p:sp>
      <p:sp>
        <p:nvSpPr>
          <p:cNvPr id="11" name="Rectangle : coins arrondis 10">
            <a:extLst>
              <a:ext uri="{FF2B5EF4-FFF2-40B4-BE49-F238E27FC236}">
                <a16:creationId xmlns:a16="http://schemas.microsoft.com/office/drawing/2014/main" id="{575B6E37-095D-4C9B-ABF6-53B06A9290BE}"/>
              </a:ext>
            </a:extLst>
          </p:cNvPr>
          <p:cNvSpPr>
            <a:spLocks noGrp="1"/>
          </p:cNvSpPr>
          <p:nvPr/>
        </p:nvSpPr>
        <p:spPr>
          <a:xfrm>
            <a:off x="8420100" y="2258568"/>
            <a:ext cx="3105150" cy="1143000"/>
          </a:xfrm>
          <a:prstGeom prst="roundRect">
            <a:avLst>
              <a:gd name="adj" fmla="val 13333"/>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12" name="Rectangle : coins arrondis 11">
            <a:extLst>
              <a:ext uri="{FF2B5EF4-FFF2-40B4-BE49-F238E27FC236}">
                <a16:creationId xmlns:a16="http://schemas.microsoft.com/office/drawing/2014/main" id="{01B5D687-48AB-4D74-966D-2815FC55ECFD}"/>
              </a:ext>
            </a:extLst>
          </p:cNvPr>
          <p:cNvSpPr>
            <a:spLocks noGrp="1"/>
          </p:cNvSpPr>
          <p:nvPr/>
        </p:nvSpPr>
        <p:spPr>
          <a:xfrm>
            <a:off x="8572500" y="2410968"/>
            <a:ext cx="1162050" cy="247650"/>
          </a:xfrm>
          <a:prstGeom prst="roundRect">
            <a:avLst>
              <a:gd name="adj" fmla="val 50000"/>
            </a:avLst>
          </a:prstGeom>
          <a:solidFill>
            <a:srgbClr val="0F766E"/>
          </a:solidFill>
          <a:ln w="0">
            <a:solidFill>
              <a:srgbClr val="0F766E"/>
            </a:solidFill>
            <a:prstDash val="solid"/>
          </a:ln>
        </p:spPr>
        <p:txBody>
          <a:bodyPr/>
          <a:lstStyle/>
          <a:p>
            <a:endParaRPr lang="fr-FR"/>
          </a:p>
        </p:txBody>
      </p:sp>
      <p:sp>
        <p:nvSpPr>
          <p:cNvPr id="13" name="Rectangle 12">
            <a:extLst>
              <a:ext uri="{FF2B5EF4-FFF2-40B4-BE49-F238E27FC236}">
                <a16:creationId xmlns:a16="http://schemas.microsoft.com/office/drawing/2014/main" id="{D039E889-660D-4CF8-898D-EE7ACDE9BB41}"/>
              </a:ext>
            </a:extLst>
          </p:cNvPr>
          <p:cNvSpPr>
            <a:spLocks noGrp="1"/>
          </p:cNvSpPr>
          <p:nvPr/>
        </p:nvSpPr>
        <p:spPr>
          <a:xfrm>
            <a:off x="8572500" y="2410968"/>
            <a:ext cx="1162050" cy="247650"/>
          </a:xfrm>
          <a:prstGeom prst="rect">
            <a:avLst/>
          </a:prstGeom>
          <a:noFill/>
          <a:ln w="0">
            <a:noFill/>
            <a:prstDash val="solid"/>
          </a:ln>
        </p:spPr>
        <p:txBody>
          <a:bodyPr wrap="square" lIns="76200" tIns="76200" rIns="76200" bIns="76200" anchor="ctr">
            <a:noAutofit/>
          </a:bodyPr>
          <a:lstStyle/>
          <a:p>
            <a:pPr algn="ctr">
              <a:defRPr sz="1050" b="1">
                <a:solidFill>
                  <a:srgbClr val="FFFFFF"/>
                </a:solidFill>
              </a:defRPr>
            </a:pPr>
            <a:r>
              <a:rPr sz="1200" b="1" dirty="0">
                <a:solidFill>
                  <a:srgbClr val="FFFFFF"/>
                </a:solidFill>
              </a:rPr>
              <a:t>name</a:t>
            </a:r>
          </a:p>
        </p:txBody>
      </p:sp>
      <p:sp>
        <p:nvSpPr>
          <p:cNvPr id="14" name="Rectangle 13">
            <a:extLst>
              <a:ext uri="{FF2B5EF4-FFF2-40B4-BE49-F238E27FC236}">
                <a16:creationId xmlns:a16="http://schemas.microsoft.com/office/drawing/2014/main" id="{1C050138-AAC8-46B8-9A90-FBFA7284F043}"/>
              </a:ext>
            </a:extLst>
          </p:cNvPr>
          <p:cNvSpPr>
            <a:spLocks noGrp="1"/>
          </p:cNvSpPr>
          <p:nvPr/>
        </p:nvSpPr>
        <p:spPr>
          <a:xfrm>
            <a:off x="8572500" y="2772918"/>
            <a:ext cx="2800350" cy="49530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Visible name shown in the dashboard and in the details page header.</a:t>
            </a:r>
          </a:p>
        </p:txBody>
      </p:sp>
      <p:sp>
        <p:nvSpPr>
          <p:cNvPr id="15" name="Rectangle : coins arrondis 14">
            <a:extLst>
              <a:ext uri="{FF2B5EF4-FFF2-40B4-BE49-F238E27FC236}">
                <a16:creationId xmlns:a16="http://schemas.microsoft.com/office/drawing/2014/main" id="{6B02FE4E-1A81-4988-AED8-C7B93572FF47}"/>
              </a:ext>
            </a:extLst>
          </p:cNvPr>
          <p:cNvSpPr>
            <a:spLocks noGrp="1"/>
          </p:cNvSpPr>
          <p:nvPr/>
        </p:nvSpPr>
        <p:spPr>
          <a:xfrm>
            <a:off x="5391150" y="4177284"/>
            <a:ext cx="2724150" cy="1143000"/>
          </a:xfrm>
          <a:prstGeom prst="roundRect">
            <a:avLst>
              <a:gd name="adj" fmla="val 13333"/>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16" name="Rectangle : coins arrondis 15">
            <a:extLst>
              <a:ext uri="{FF2B5EF4-FFF2-40B4-BE49-F238E27FC236}">
                <a16:creationId xmlns:a16="http://schemas.microsoft.com/office/drawing/2014/main" id="{BECEBF19-FB5E-4A33-9301-6F340CB25B35}"/>
              </a:ext>
            </a:extLst>
          </p:cNvPr>
          <p:cNvSpPr>
            <a:spLocks noGrp="1"/>
          </p:cNvSpPr>
          <p:nvPr/>
        </p:nvSpPr>
        <p:spPr>
          <a:xfrm>
            <a:off x="5543550" y="4329684"/>
            <a:ext cx="1238250" cy="247650"/>
          </a:xfrm>
          <a:prstGeom prst="roundRect">
            <a:avLst>
              <a:gd name="adj" fmla="val 50000"/>
            </a:avLst>
          </a:prstGeom>
          <a:solidFill>
            <a:srgbClr val="16803C"/>
          </a:solidFill>
          <a:ln w="0">
            <a:solidFill>
              <a:srgbClr val="16803C"/>
            </a:solidFill>
            <a:prstDash val="solid"/>
          </a:ln>
        </p:spPr>
        <p:txBody>
          <a:bodyPr/>
          <a:lstStyle/>
          <a:p>
            <a:endParaRPr lang="fr-FR"/>
          </a:p>
        </p:txBody>
      </p:sp>
      <p:sp>
        <p:nvSpPr>
          <p:cNvPr id="17" name="Rectangle 16">
            <a:extLst>
              <a:ext uri="{FF2B5EF4-FFF2-40B4-BE49-F238E27FC236}">
                <a16:creationId xmlns:a16="http://schemas.microsoft.com/office/drawing/2014/main" id="{5FCC21A4-047B-4FF0-8E9C-0A7E64E21499}"/>
              </a:ext>
            </a:extLst>
          </p:cNvPr>
          <p:cNvSpPr>
            <a:spLocks noGrp="1"/>
          </p:cNvSpPr>
          <p:nvPr/>
        </p:nvSpPr>
        <p:spPr>
          <a:xfrm>
            <a:off x="5543550" y="4329684"/>
            <a:ext cx="1238250" cy="247650"/>
          </a:xfrm>
          <a:prstGeom prst="rect">
            <a:avLst/>
          </a:prstGeom>
          <a:noFill/>
          <a:ln w="0">
            <a:noFill/>
            <a:prstDash val="solid"/>
          </a:ln>
        </p:spPr>
        <p:txBody>
          <a:bodyPr wrap="square" lIns="76200" tIns="76200" rIns="76200" bIns="76200" anchor="ctr">
            <a:noAutofit/>
          </a:bodyPr>
          <a:lstStyle/>
          <a:p>
            <a:pPr algn="ctr">
              <a:defRPr sz="1050" b="1">
                <a:solidFill>
                  <a:srgbClr val="FFFFFF"/>
                </a:solidFill>
              </a:defRPr>
            </a:pPr>
            <a:r>
              <a:rPr sz="1200" b="1" dirty="0" err="1">
                <a:solidFill>
                  <a:srgbClr val="FFFFFF"/>
                </a:solidFill>
              </a:rPr>
              <a:t>dashboardListId</a:t>
            </a:r>
            <a:endParaRPr sz="1200" b="1" dirty="0">
              <a:solidFill>
                <a:srgbClr val="FFFFFF"/>
              </a:solidFill>
            </a:endParaRPr>
          </a:p>
        </p:txBody>
      </p:sp>
      <p:sp>
        <p:nvSpPr>
          <p:cNvPr id="18" name="Rectangle 17">
            <a:extLst>
              <a:ext uri="{FF2B5EF4-FFF2-40B4-BE49-F238E27FC236}">
                <a16:creationId xmlns:a16="http://schemas.microsoft.com/office/drawing/2014/main" id="{6BC423AF-FEB6-4CE1-B234-25AFF543E89E}"/>
              </a:ext>
            </a:extLst>
          </p:cNvPr>
          <p:cNvSpPr>
            <a:spLocks noGrp="1"/>
          </p:cNvSpPr>
          <p:nvPr/>
        </p:nvSpPr>
        <p:spPr>
          <a:xfrm>
            <a:off x="5543550" y="4691634"/>
            <a:ext cx="2419350" cy="49530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dirty="0">
                <a:solidFill>
                  <a:srgbClr val="334155"/>
                </a:solidFill>
              </a:rPr>
              <a:t>Must match the empty list container id inside the dashboard block.</a:t>
            </a:r>
          </a:p>
        </p:txBody>
      </p:sp>
      <p:sp>
        <p:nvSpPr>
          <p:cNvPr id="19" name="Rectangle : coins arrondis 18">
            <a:extLst>
              <a:ext uri="{FF2B5EF4-FFF2-40B4-BE49-F238E27FC236}">
                <a16:creationId xmlns:a16="http://schemas.microsoft.com/office/drawing/2014/main" id="{76ECA61B-8C67-4A40-97F3-30625F914414}"/>
              </a:ext>
            </a:extLst>
          </p:cNvPr>
          <p:cNvSpPr>
            <a:spLocks noGrp="1"/>
          </p:cNvSpPr>
          <p:nvPr/>
        </p:nvSpPr>
        <p:spPr>
          <a:xfrm>
            <a:off x="8420100" y="4177284"/>
            <a:ext cx="3105150" cy="1143000"/>
          </a:xfrm>
          <a:prstGeom prst="roundRect">
            <a:avLst>
              <a:gd name="adj" fmla="val 13333"/>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20" name="Rectangle : coins arrondis 19">
            <a:extLst>
              <a:ext uri="{FF2B5EF4-FFF2-40B4-BE49-F238E27FC236}">
                <a16:creationId xmlns:a16="http://schemas.microsoft.com/office/drawing/2014/main" id="{0D33EF37-1F16-4DF9-9402-5627511565AB}"/>
              </a:ext>
            </a:extLst>
          </p:cNvPr>
          <p:cNvSpPr>
            <a:spLocks noGrp="1"/>
          </p:cNvSpPr>
          <p:nvPr/>
        </p:nvSpPr>
        <p:spPr>
          <a:xfrm>
            <a:off x="8572500" y="4329684"/>
            <a:ext cx="1162050" cy="247650"/>
          </a:xfrm>
          <a:prstGeom prst="roundRect">
            <a:avLst>
              <a:gd name="adj" fmla="val 50000"/>
            </a:avLst>
          </a:prstGeom>
          <a:solidFill>
            <a:srgbClr val="D97706"/>
          </a:solidFill>
          <a:ln w="0">
            <a:solidFill>
              <a:srgbClr val="D97706"/>
            </a:solidFill>
            <a:prstDash val="solid"/>
          </a:ln>
        </p:spPr>
        <p:txBody>
          <a:bodyPr/>
          <a:lstStyle/>
          <a:p>
            <a:endParaRPr lang="fr-FR" dirty="0"/>
          </a:p>
        </p:txBody>
      </p:sp>
      <p:sp>
        <p:nvSpPr>
          <p:cNvPr id="21" name="Rectangle 20">
            <a:extLst>
              <a:ext uri="{FF2B5EF4-FFF2-40B4-BE49-F238E27FC236}">
                <a16:creationId xmlns:a16="http://schemas.microsoft.com/office/drawing/2014/main" id="{38A2B9FB-69AF-4A0B-843C-4E9CDE5DA358}"/>
              </a:ext>
            </a:extLst>
          </p:cNvPr>
          <p:cNvSpPr>
            <a:spLocks noGrp="1"/>
          </p:cNvSpPr>
          <p:nvPr/>
        </p:nvSpPr>
        <p:spPr>
          <a:xfrm>
            <a:off x="8572500" y="4329684"/>
            <a:ext cx="1162050" cy="247650"/>
          </a:xfrm>
          <a:prstGeom prst="rect">
            <a:avLst/>
          </a:prstGeom>
          <a:noFill/>
          <a:ln w="0">
            <a:noFill/>
            <a:prstDash val="solid"/>
          </a:ln>
        </p:spPr>
        <p:txBody>
          <a:bodyPr wrap="square" lIns="76200" tIns="76200" rIns="76200" bIns="76200" anchor="ctr">
            <a:noAutofit/>
          </a:bodyPr>
          <a:lstStyle/>
          <a:p>
            <a:pPr algn="ctr">
              <a:defRPr sz="1050" b="1">
                <a:solidFill>
                  <a:srgbClr val="FFFFFF"/>
                </a:solidFill>
              </a:defRPr>
            </a:pPr>
            <a:r>
              <a:rPr sz="1200" b="1" dirty="0" err="1">
                <a:solidFill>
                  <a:srgbClr val="FFFFFF"/>
                </a:solidFill>
              </a:rPr>
              <a:t>jsonPath</a:t>
            </a:r>
            <a:endParaRPr sz="1200" b="1" dirty="0">
              <a:solidFill>
                <a:srgbClr val="FFFFFF"/>
              </a:solidFill>
            </a:endParaRPr>
          </a:p>
        </p:txBody>
      </p:sp>
      <p:sp>
        <p:nvSpPr>
          <p:cNvPr id="22" name="Rectangle 21">
            <a:extLst>
              <a:ext uri="{FF2B5EF4-FFF2-40B4-BE49-F238E27FC236}">
                <a16:creationId xmlns:a16="http://schemas.microsoft.com/office/drawing/2014/main" id="{EA26F69E-37AA-491D-8C75-FE16A0F15306}"/>
              </a:ext>
            </a:extLst>
          </p:cNvPr>
          <p:cNvSpPr>
            <a:spLocks noGrp="1"/>
          </p:cNvSpPr>
          <p:nvPr/>
        </p:nvSpPr>
        <p:spPr>
          <a:xfrm>
            <a:off x="8572500" y="4691634"/>
            <a:ext cx="2800350" cy="49530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Path to the single main JSON file for this project.</a:t>
            </a:r>
          </a:p>
        </p:txBody>
      </p:sp>
      <p:sp>
        <p:nvSpPr>
          <p:cNvPr id="23" name="Rectangle : coins arrondis 22">
            <a:extLst>
              <a:ext uri="{FF2B5EF4-FFF2-40B4-BE49-F238E27FC236}">
                <a16:creationId xmlns:a16="http://schemas.microsoft.com/office/drawing/2014/main" id="{C56F445E-6F04-4A0F-9143-2540B8764046}"/>
              </a:ext>
            </a:extLst>
          </p:cNvPr>
          <p:cNvSpPr>
            <a:spLocks noGrp="1"/>
          </p:cNvSpPr>
          <p:nvPr/>
        </p:nvSpPr>
        <p:spPr>
          <a:xfrm>
            <a:off x="3031998" y="5971794"/>
            <a:ext cx="6305550" cy="381000"/>
          </a:xfrm>
          <a:prstGeom prst="roundRect">
            <a:avLst>
              <a:gd name="adj" fmla="val 18182"/>
            </a:avLst>
          </a:prstGeom>
          <a:solidFill>
            <a:srgbClr val="EBFBF1"/>
          </a:solidFill>
          <a:ln w="9525">
            <a:solidFill>
              <a:srgbClr val="A7F3D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25" name="Rectangle 24">
            <a:extLst>
              <a:ext uri="{FF2B5EF4-FFF2-40B4-BE49-F238E27FC236}">
                <a16:creationId xmlns:a16="http://schemas.microsoft.com/office/drawing/2014/main" id="{BBF803A6-21E9-4065-B274-D6316EEAF4FC}"/>
              </a:ext>
            </a:extLst>
          </p:cNvPr>
          <p:cNvSpPr>
            <a:spLocks noGrp="1"/>
          </p:cNvSpPr>
          <p:nvPr/>
        </p:nvSpPr>
        <p:spPr>
          <a:xfrm>
            <a:off x="3355848" y="6105144"/>
            <a:ext cx="400050" cy="228600"/>
          </a:xfrm>
          <a:prstGeom prst="rect">
            <a:avLst/>
          </a:prstGeom>
          <a:noFill/>
          <a:ln w="0">
            <a:noFill/>
            <a:prstDash val="solid"/>
          </a:ln>
        </p:spPr>
        <p:txBody>
          <a:bodyPr wrap="square" lIns="76200" tIns="76200" rIns="76200" bIns="76200" anchor="ctr">
            <a:normAutofit fontScale="55119" lnSpcReduction="20000"/>
          </a:bodyPr>
          <a:lstStyle/>
          <a:p>
            <a:pPr algn="ctr">
              <a:defRPr sz="1050" b="1">
                <a:solidFill>
                  <a:srgbClr val="FFFFFF"/>
                </a:solidFill>
              </a:defRPr>
            </a:pPr>
            <a:endParaRPr sz="1050" b="1" dirty="0">
              <a:solidFill>
                <a:srgbClr val="FFFFFF"/>
              </a:solidFill>
            </a:endParaRPr>
          </a:p>
        </p:txBody>
      </p:sp>
      <p:sp>
        <p:nvSpPr>
          <p:cNvPr id="26" name="Rectangle 25">
            <a:extLst>
              <a:ext uri="{FF2B5EF4-FFF2-40B4-BE49-F238E27FC236}">
                <a16:creationId xmlns:a16="http://schemas.microsoft.com/office/drawing/2014/main" id="{D5BA3CAA-7629-4200-B7E9-806124B38E43}"/>
              </a:ext>
            </a:extLst>
          </p:cNvPr>
          <p:cNvSpPr>
            <a:spLocks noGrp="1"/>
          </p:cNvSpPr>
          <p:nvPr/>
        </p:nvSpPr>
        <p:spPr>
          <a:xfrm>
            <a:off x="3143250" y="6076950"/>
            <a:ext cx="6087618" cy="647700"/>
          </a:xfrm>
          <a:prstGeom prst="rect">
            <a:avLst/>
          </a:prstGeom>
          <a:noFill/>
          <a:ln w="0">
            <a:noFill/>
            <a:prstDash val="solid"/>
          </a:ln>
        </p:spPr>
        <p:txBody>
          <a:bodyPr wrap="square" lIns="0" tIns="0" rIns="0" bIns="0" anchor="t">
            <a:normAutofit/>
          </a:bodyPr>
          <a:lstStyle/>
          <a:p>
            <a:pPr algn="l">
              <a:defRPr sz="1200" b="0">
                <a:solidFill>
                  <a:srgbClr val="1E293B"/>
                </a:solidFill>
              </a:defRPr>
            </a:pPr>
            <a:r>
              <a:rPr sz="1200" b="0" dirty="0">
                <a:solidFill>
                  <a:srgbClr val="1E293B"/>
                </a:solidFill>
              </a:rPr>
              <a:t>When you add a new vessel or project later, this is usually the only JavaScript file you need to edit.</a:t>
            </a:r>
          </a:p>
        </p:txBody>
      </p:sp>
      <p:sp>
        <p:nvSpPr>
          <p:cNvPr id="31" name="Rectangle 30">
            <a:extLst>
              <a:ext uri="{FF2B5EF4-FFF2-40B4-BE49-F238E27FC236}">
                <a16:creationId xmlns:a16="http://schemas.microsoft.com/office/drawing/2014/main" id="{1E5D556A-C9AC-4B59-9486-6D63B475C9D2}"/>
              </a:ext>
            </a:extLst>
          </p:cNvPr>
          <p:cNvSpPr>
            <a:spLocks noGrp="1"/>
          </p:cNvSpPr>
          <p:nvPr/>
        </p:nvSpPr>
        <p:spPr>
          <a:xfrm>
            <a:off x="571500" y="6534150"/>
            <a:ext cx="3048000" cy="190500"/>
          </a:xfrm>
          <a:prstGeom prst="rect">
            <a:avLst/>
          </a:prstGeom>
          <a:noFill/>
          <a:ln w="0">
            <a:noFill/>
            <a:prstDash val="solid"/>
          </a:ln>
        </p:spPr>
        <p:txBody>
          <a:bodyPr wrap="square" lIns="0" tIns="0" rIns="0" bIns="0" anchor="t">
            <a:normAutofit/>
          </a:bodyPr>
          <a:lstStyle/>
          <a:p>
            <a:pPr algn="l">
              <a:defRPr sz="825" b="0">
                <a:solidFill>
                  <a:srgbClr val="64748B"/>
                </a:solidFill>
              </a:defRPr>
            </a:pPr>
            <a:r>
              <a:rPr sz="825" b="0">
                <a:solidFill>
                  <a:srgbClr val="64748B"/>
                </a:solidFill>
              </a:rPr>
              <a:t>Data Hub guide - new vessel workflow</a:t>
            </a:r>
          </a:p>
        </p:txBody>
      </p:sp>
      <p:sp>
        <p:nvSpPr>
          <p:cNvPr id="32" name="Rectangle 31">
            <a:extLst>
              <a:ext uri="{FF2B5EF4-FFF2-40B4-BE49-F238E27FC236}">
                <a16:creationId xmlns:a16="http://schemas.microsoft.com/office/drawing/2014/main" id="{84469773-1725-4EFF-A9FB-A2BF1EFABAFD}"/>
              </a:ext>
            </a:extLst>
          </p:cNvPr>
          <p:cNvSpPr>
            <a:spLocks noGrp="1"/>
          </p:cNvSpPr>
          <p:nvPr/>
        </p:nvSpPr>
        <p:spPr>
          <a:xfrm>
            <a:off x="11144250" y="6496050"/>
            <a:ext cx="381000" cy="228600"/>
          </a:xfrm>
          <a:prstGeom prst="rect">
            <a:avLst/>
          </a:prstGeom>
          <a:noFill/>
          <a:ln w="0">
            <a:noFill/>
            <a:prstDash val="solid"/>
          </a:ln>
        </p:spPr>
        <p:txBody>
          <a:bodyPr wrap="square" lIns="0" tIns="0" rIns="0" bIns="0" anchor="t">
            <a:normAutofit/>
          </a:bodyPr>
          <a:lstStyle/>
          <a:p>
            <a:pPr algn="r">
              <a:defRPr sz="900" b="1">
                <a:solidFill>
                  <a:srgbClr val="64748B"/>
                </a:solidFill>
              </a:defRPr>
            </a:pPr>
            <a:r>
              <a:rPr sz="900" b="1">
                <a:solidFill>
                  <a:srgbClr val="64748B"/>
                </a:solidFill>
              </a:rPr>
              <a:t>5</a:t>
            </a:r>
          </a:p>
        </p:txBody>
      </p:sp>
    </p:spTree>
    <p:extLst>
      <p:ext uri="{BB962C8B-B14F-4D97-AF65-F5344CB8AC3E}">
        <p14:creationId xmlns:p14="http://schemas.microsoft.com/office/powerpoint/2010/main" val="14730213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 coins arrondis 20">
            <a:extLst>
              <a:ext uri="{FF2B5EF4-FFF2-40B4-BE49-F238E27FC236}">
                <a16:creationId xmlns:a16="http://schemas.microsoft.com/office/drawing/2014/main" id="{803A1596-35C3-693D-B776-BC8F38AFB1C1}"/>
              </a:ext>
            </a:extLst>
          </p:cNvPr>
          <p:cNvSpPr/>
          <p:nvPr/>
        </p:nvSpPr>
        <p:spPr>
          <a:xfrm>
            <a:off x="571500" y="361946"/>
            <a:ext cx="1619246" cy="285750"/>
          </a:xfrm>
          <a:custGeom>
            <a:avLst/>
            <a:gdLst>
              <a:gd name="f0" fmla="val 10800000"/>
              <a:gd name="f1" fmla="val 5400000"/>
              <a:gd name="f2" fmla="val 16200000"/>
              <a:gd name="f3" fmla="val w"/>
              <a:gd name="f4" fmla="val h"/>
              <a:gd name="f5" fmla="val ss"/>
              <a:gd name="f6" fmla="val 0"/>
              <a:gd name="f7" fmla="*/ 5419351 1 1725033"/>
              <a:gd name="f8" fmla="val 45"/>
              <a:gd name="f9" fmla="val 10800"/>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2553D6"/>
          </a:solidFill>
          <a:ln w="0" cap="flat">
            <a:solidFill>
              <a:srgbClr val="2553D6"/>
            </a:solidFill>
            <a:prstDash val="solid"/>
            <a:miter/>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a:endParaRPr>
          </a:p>
        </p:txBody>
      </p:sp>
      <p:sp>
        <p:nvSpPr>
          <p:cNvPr id="3" name="Rectangle 1">
            <a:extLst>
              <a:ext uri="{FF2B5EF4-FFF2-40B4-BE49-F238E27FC236}">
                <a16:creationId xmlns:a16="http://schemas.microsoft.com/office/drawing/2014/main" id="{A7140D16-081B-2904-087F-77DAEA68FE2A}"/>
              </a:ext>
            </a:extLst>
          </p:cNvPr>
          <p:cNvSpPr/>
          <p:nvPr/>
        </p:nvSpPr>
        <p:spPr>
          <a:xfrm>
            <a:off x="571500" y="361946"/>
            <a:ext cx="1619246" cy="285750"/>
          </a:xfrm>
          <a:prstGeom prst="rect">
            <a:avLst/>
          </a:prstGeom>
          <a:noFill/>
          <a:ln cap="flat">
            <a:noFill/>
            <a:prstDash val="solid"/>
          </a:ln>
        </p:spPr>
        <p:txBody>
          <a:bodyPr vert="horz" wrap="square" lIns="76196" tIns="76196" rIns="76196" bIns="76196" anchor="ctr" anchorCtr="1" compatLnSpc="1">
            <a:normAutofit/>
          </a:bodyPr>
          <a:lstStyle/>
          <a:p>
            <a:pPr marL="0" marR="0" lvl="0" indent="0" algn="ctr" defTabSz="914400" rtl="0" fontAlgn="auto" hangingPunct="1">
              <a:lnSpc>
                <a:spcPct val="80000"/>
              </a:lnSpc>
              <a:spcBef>
                <a:spcPts val="0"/>
              </a:spcBef>
              <a:spcAft>
                <a:spcPts val="0"/>
              </a:spcAft>
              <a:buNone/>
              <a:tabLst/>
              <a:defRPr sz="1000" b="1" i="0" u="none" strike="noStrike" kern="0" cap="none" spc="0" baseline="0">
                <a:solidFill>
                  <a:srgbClr val="FFFFFF"/>
                </a:solidFill>
                <a:uFillTx/>
              </a:defRPr>
            </a:pPr>
            <a:r>
              <a:rPr lang="fr-FR" sz="1000" b="1" i="0" u="none" strike="noStrike" kern="1200" cap="none" spc="0" baseline="0">
                <a:solidFill>
                  <a:srgbClr val="FFFFFF"/>
                </a:solidFill>
                <a:uFillTx/>
                <a:latin typeface="Aptos"/>
              </a:rPr>
              <a:t>BUILD STEP 4</a:t>
            </a:r>
          </a:p>
        </p:txBody>
      </p:sp>
      <p:sp>
        <p:nvSpPr>
          <p:cNvPr id="4" name="Rectangle 2">
            <a:extLst>
              <a:ext uri="{FF2B5EF4-FFF2-40B4-BE49-F238E27FC236}">
                <a16:creationId xmlns:a16="http://schemas.microsoft.com/office/drawing/2014/main" id="{7D9B3FD5-FB58-E800-226C-3014779C6A25}"/>
              </a:ext>
            </a:extLst>
          </p:cNvPr>
          <p:cNvSpPr/>
          <p:nvPr/>
        </p:nvSpPr>
        <p:spPr>
          <a:xfrm>
            <a:off x="571500" y="713990"/>
            <a:ext cx="11048996" cy="476246"/>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100000"/>
              </a:lnSpc>
              <a:spcBef>
                <a:spcPts val="0"/>
              </a:spcBef>
              <a:spcAft>
                <a:spcPts val="0"/>
              </a:spcAft>
              <a:buNone/>
              <a:tabLst/>
              <a:defRPr sz="3000" b="1" i="0" u="none" strike="noStrike" kern="0" cap="none" spc="0" baseline="0">
                <a:solidFill>
                  <a:srgbClr val="0F172A"/>
                </a:solidFill>
                <a:uFillTx/>
              </a:defRPr>
            </a:pPr>
            <a:r>
              <a:rPr lang="en-US" sz="3000" b="1" i="0" u="none" strike="noStrike" kern="1200" cap="none" spc="0" baseline="0">
                <a:solidFill>
                  <a:srgbClr val="0F172A"/>
                </a:solidFill>
                <a:uFillTx/>
                <a:latin typeface="Aptos"/>
              </a:rPr>
              <a:t>How to create a JSON </a:t>
            </a:r>
          </a:p>
        </p:txBody>
      </p:sp>
      <p:sp>
        <p:nvSpPr>
          <p:cNvPr id="5" name="Rectangle 3">
            <a:extLst>
              <a:ext uri="{FF2B5EF4-FFF2-40B4-BE49-F238E27FC236}">
                <a16:creationId xmlns:a16="http://schemas.microsoft.com/office/drawing/2014/main" id="{A5B02D87-A5FF-B386-4746-52778F6F66B7}"/>
              </a:ext>
            </a:extLst>
          </p:cNvPr>
          <p:cNvSpPr/>
          <p:nvPr/>
        </p:nvSpPr>
        <p:spPr>
          <a:xfrm>
            <a:off x="571500" y="1190247"/>
            <a:ext cx="11048996" cy="323853"/>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80000"/>
              </a:lnSpc>
              <a:spcBef>
                <a:spcPts val="0"/>
              </a:spcBef>
              <a:spcAft>
                <a:spcPts val="0"/>
              </a:spcAft>
              <a:buNone/>
              <a:tabLst/>
              <a:defRPr sz="1200" b="0" i="0" u="none" strike="noStrike" kern="0" cap="none" spc="0" baseline="0">
                <a:solidFill>
                  <a:srgbClr val="475569"/>
                </a:solidFill>
                <a:uFillTx/>
              </a:defRPr>
            </a:pPr>
            <a:r>
              <a:rPr lang="en-US" sz="1200" b="0" i="0" u="none" strike="noStrike" kern="1200" cap="none" spc="0" baseline="0">
                <a:solidFill>
                  <a:srgbClr val="475569"/>
                </a:solidFill>
                <a:uFillTx/>
                <a:latin typeface="Aptos"/>
              </a:rPr>
              <a:t>Keep the structure simple so the same shared scripts can work for every future project this JSON document contains objects and arrays inside each other to represent data..</a:t>
            </a:r>
          </a:p>
        </p:txBody>
      </p:sp>
      <p:sp>
        <p:nvSpPr>
          <p:cNvPr id="6" name="Rectangle : coins arrondis 4">
            <a:extLst>
              <a:ext uri="{FF2B5EF4-FFF2-40B4-BE49-F238E27FC236}">
                <a16:creationId xmlns:a16="http://schemas.microsoft.com/office/drawing/2014/main" id="{09B42589-BD84-CC8B-E296-1AD7E85546E8}"/>
              </a:ext>
            </a:extLst>
          </p:cNvPr>
          <p:cNvSpPr/>
          <p:nvPr/>
        </p:nvSpPr>
        <p:spPr>
          <a:xfrm>
            <a:off x="501356" y="1982327"/>
            <a:ext cx="5333996" cy="4161681"/>
          </a:xfrm>
          <a:custGeom>
            <a:avLst/>
            <a:gdLst>
              <a:gd name="f0" fmla="val 10800000"/>
              <a:gd name="f1" fmla="val 5400000"/>
              <a:gd name="f2" fmla="val 16200000"/>
              <a:gd name="f3" fmla="val w"/>
              <a:gd name="f4" fmla="val h"/>
              <a:gd name="f5" fmla="val ss"/>
              <a:gd name="f6" fmla="val 0"/>
              <a:gd name="f7" fmla="*/ 5419351 1 1725033"/>
              <a:gd name="f8" fmla="val 45"/>
              <a:gd name="f9" fmla="val 868"/>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0B1220"/>
          </a:solidFill>
          <a:ln w="9528" cap="flat">
            <a:solidFill>
              <a:srgbClr val="1E293B"/>
            </a:solidFill>
            <a:prstDash val="solid"/>
            <a:miter/>
          </a:ln>
          <a:effectLst>
            <a:outerShdw dist="19046" dir="5400000" algn="tl">
              <a:srgbClr val="000000">
                <a:alpha val="63000"/>
              </a:srgbClr>
            </a:outerShdw>
          </a:effectLst>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Display"/>
            </a:endParaRPr>
          </a:p>
        </p:txBody>
      </p:sp>
      <p:sp>
        <p:nvSpPr>
          <p:cNvPr id="7" name="Rectangle 5">
            <a:extLst>
              <a:ext uri="{FF2B5EF4-FFF2-40B4-BE49-F238E27FC236}">
                <a16:creationId xmlns:a16="http://schemas.microsoft.com/office/drawing/2014/main" id="{6750A31F-D0BC-5542-6059-EA59FD49E235}"/>
              </a:ext>
            </a:extLst>
          </p:cNvPr>
          <p:cNvSpPr/>
          <p:nvPr/>
        </p:nvSpPr>
        <p:spPr>
          <a:xfrm>
            <a:off x="672806" y="2105232"/>
            <a:ext cx="4991096" cy="2424687"/>
          </a:xfrm>
          <a:prstGeom prst="rect">
            <a:avLst/>
          </a:prstGeom>
          <a:noFill/>
          <a:ln cap="flat">
            <a:noFill/>
            <a:prstDash val="solid"/>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1200" cap="none" spc="0" baseline="0">
                <a:solidFill>
                  <a:srgbClr val="FFFFFF"/>
                </a:solidFill>
                <a:uFillTx/>
                <a:latin typeface="Consolas" pitchFamily="49"/>
              </a:rPr>
              <a:t>{</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1200" cap="none" spc="0" baseline="0">
                <a:solidFill>
                  <a:srgbClr val="FFFFFF"/>
                </a:solidFill>
                <a:uFillTx/>
                <a:latin typeface="Consolas" pitchFamily="49"/>
              </a:rPr>
              <a:t>  "summary": "ALMI ATLAS is a RINA Significant Ship of 2018. The vessel is presented in the project with key ship data, mapped DNV information, and linked raw sources such as the source PDF and GPS route data.",</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1200" cap="none" spc="0" baseline="0">
                <a:solidFill>
                  <a:srgbClr val="FFFFFF"/>
                </a:solidFill>
                <a:uFillTx/>
                <a:latin typeface="Consolas" pitchFamily="49"/>
              </a:rPr>
              <a:t>  "vessel_info": [</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000" b="0" i="0" u="none" strike="noStrike" kern="1200" cap="none" spc="0" baseline="0">
              <a:solidFill>
                <a:srgbClr val="FFFFFF"/>
              </a:solidFill>
              <a:uFillTx/>
              <a:latin typeface="Consolas" pitchFamily="49"/>
            </a:endParaRP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1200" cap="none" spc="0" baseline="0">
                <a:solidFill>
                  <a:srgbClr val="FFFFFF"/>
                </a:solidFill>
                <a:uFillTx/>
                <a:latin typeface="Consolas" pitchFamily="49"/>
              </a:rPr>
              <a:t>    {</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1200" cap="none" spc="0" baseline="0">
                <a:solidFill>
                  <a:srgbClr val="FFFFFF"/>
                </a:solidFill>
                <a:uFillTx/>
                <a:latin typeface="Consolas" pitchFamily="49"/>
              </a:rPr>
              <a:t>      "Name": "shipbuilder",</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1200" cap="none" spc="0" baseline="0">
                <a:solidFill>
                  <a:srgbClr val="FFFFFF"/>
                </a:solidFill>
                <a:uFillTx/>
                <a:latin typeface="Consolas" pitchFamily="49"/>
              </a:rPr>
              <a:t>      "Link": "../raw_DATA/ALMI ATLAS.pdf",</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1200" cap="none" spc="0" baseline="0">
                <a:solidFill>
                  <a:srgbClr val="FFFFFF"/>
                </a:solidFill>
                <a:uFillTx/>
                <a:latin typeface="Consolas" pitchFamily="49"/>
              </a:rPr>
              <a:t>      "DNV_path": "/dnv-v2/vis-3-10a/800a/860/861/861.2/861.21/G52/G52.1",</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1200" cap="none" spc="0" baseline="0">
                <a:solidFill>
                  <a:srgbClr val="FFFFFF"/>
                </a:solidFill>
                <a:uFillTx/>
                <a:latin typeface="Consolas" pitchFamily="49"/>
              </a:rPr>
              <a:t>      "Value": "Hyundai Samho Heavy Industries Co. Ltd";</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1200" cap="none" spc="0" baseline="0">
                <a:solidFill>
                  <a:srgbClr val="FFFFFF"/>
                </a:solidFill>
                <a:uFillTx/>
                <a:latin typeface="Consolas" pitchFamily="49"/>
              </a:rPr>
              <a:t>      "location": "hull"</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1200" cap="none" spc="0" baseline="0">
                <a:solidFill>
                  <a:srgbClr val="FFFFFF"/>
                </a:solidFill>
                <a:uFillTx/>
                <a:latin typeface="Consolas" pitchFamily="49"/>
              </a:rPr>
              <a:t>    },</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000" b="0" i="0" u="none" strike="noStrike" kern="1200" cap="none" spc="0" baseline="0">
              <a:solidFill>
                <a:srgbClr val="FFFFFF"/>
              </a:solidFill>
              <a:uFillTx/>
              <a:latin typeface="Consolas" pitchFamily="49"/>
            </a:endParaRP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0" cap="none" spc="0" baseline="0">
                <a:solidFill>
                  <a:srgbClr val="FFFFFF"/>
                </a:solidFill>
                <a:uFillTx/>
                <a:latin typeface="Consolas" pitchFamily="49"/>
              </a:rPr>
              <a:t>    {</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0" cap="none" spc="0" baseline="0">
                <a:solidFill>
                  <a:srgbClr val="FFFFFF"/>
                </a:solidFill>
                <a:uFillTx/>
                <a:latin typeface="Consolas" pitchFamily="49"/>
              </a:rPr>
              <a:t>      "Name": "hull_no",</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0" cap="none" spc="0" baseline="0">
                <a:solidFill>
                  <a:srgbClr val="FFFFFF"/>
                </a:solidFill>
                <a:uFillTx/>
                <a:latin typeface="Consolas" pitchFamily="49"/>
              </a:rPr>
              <a:t>      "Link": "../raw_DATA/ALMI ATLAS.pdf",</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0" cap="none" spc="0" baseline="0">
                <a:solidFill>
                  <a:srgbClr val="FFFFFF"/>
                </a:solidFill>
                <a:uFillTx/>
                <a:latin typeface="Consolas" pitchFamily="49"/>
              </a:rPr>
              <a:t>      "DNV_path": "/dnv-v2/vis-3-10a/800a/860/861/861.1/861.11/G51/G51.1",</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0" cap="none" spc="0" baseline="0">
                <a:solidFill>
                  <a:srgbClr val="FFFFFF"/>
                </a:solidFill>
                <a:uFillTx/>
                <a:latin typeface="Consolas" pitchFamily="49"/>
              </a:rPr>
              <a:t>      "Value": "S913",</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0" cap="none" spc="0" baseline="0">
                <a:solidFill>
                  <a:srgbClr val="FFFFFF"/>
                </a:solidFill>
                <a:uFillTx/>
                <a:latin typeface="Consolas" pitchFamily="49"/>
              </a:rPr>
              <a:t>      "location": "hull"    </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0" cap="none" spc="0" baseline="0">
                <a:solidFill>
                  <a:srgbClr val="FFFFFF"/>
                </a:solidFill>
                <a:uFillTx/>
                <a:latin typeface="Consolas" pitchFamily="49"/>
              </a:rPr>
              <a:t>    }</a:t>
            </a:r>
            <a:endParaRPr lang="fr-FR" sz="1000" b="0" i="0" u="none" strike="noStrike" kern="1200" cap="none" spc="0" baseline="0">
              <a:solidFill>
                <a:srgbClr val="FFFFFF"/>
              </a:solidFill>
              <a:uFillTx/>
              <a:latin typeface="Consolas" pitchFamily="49"/>
            </a:endParaRP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1200" cap="none" spc="0" baseline="0">
                <a:solidFill>
                  <a:srgbClr val="FFFFFF"/>
                </a:solidFill>
                <a:uFillTx/>
                <a:latin typeface="Consolas" pitchFamily="49"/>
              </a:rPr>
              <a:t>  ]</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1200" cap="none" spc="0" baseline="0">
                <a:solidFill>
                  <a:srgbClr val="FFFFFF"/>
                </a:solidFill>
                <a:uFillTx/>
                <a:latin typeface="Consolas" pitchFamily="49"/>
              </a:rPr>
              <a:t>}</a:t>
            </a:r>
            <a:endParaRPr lang="fr-FR" sz="1000" b="0" i="0" u="none" strike="noStrike" kern="1200" cap="none" spc="0" baseline="0">
              <a:solidFill>
                <a:srgbClr val="FFFFFF"/>
              </a:solidFill>
              <a:uFillTx/>
              <a:latin typeface="Consolas" pitchFamily="49"/>
              <a:ea typeface="Consolas"/>
              <a:cs typeface="Consolas"/>
            </a:endParaRPr>
          </a:p>
        </p:txBody>
      </p:sp>
      <p:sp>
        <p:nvSpPr>
          <p:cNvPr id="8" name="Rectangle : coins arrondis 6">
            <a:extLst>
              <a:ext uri="{FF2B5EF4-FFF2-40B4-BE49-F238E27FC236}">
                <a16:creationId xmlns:a16="http://schemas.microsoft.com/office/drawing/2014/main" id="{734438A3-0561-E6F7-F2E7-9FDFF5904159}"/>
              </a:ext>
            </a:extLst>
          </p:cNvPr>
          <p:cNvSpPr/>
          <p:nvPr/>
        </p:nvSpPr>
        <p:spPr>
          <a:xfrm>
            <a:off x="6115049" y="1599313"/>
            <a:ext cx="5333996" cy="819146"/>
          </a:xfrm>
          <a:custGeom>
            <a:avLst/>
            <a:gdLst>
              <a:gd name="f0" fmla="val 10800000"/>
              <a:gd name="f1" fmla="val 5400000"/>
              <a:gd name="f2" fmla="val 16200000"/>
              <a:gd name="f3" fmla="val w"/>
              <a:gd name="f4" fmla="val h"/>
              <a:gd name="f5" fmla="val ss"/>
              <a:gd name="f6" fmla="val 0"/>
              <a:gd name="f7" fmla="*/ 5419351 1 1725033"/>
              <a:gd name="f8" fmla="val 45"/>
              <a:gd name="f9" fmla="val 2979"/>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FFFFFF"/>
          </a:solidFill>
          <a:ln w="9528" cap="flat">
            <a:solidFill>
              <a:srgbClr val="E2E8F0"/>
            </a:solidFill>
            <a:prstDash val="solid"/>
            <a:miter/>
          </a:ln>
          <a:effectLst>
            <a:outerShdw dist="19046" dir="5400000" algn="tl">
              <a:srgbClr val="000000">
                <a:alpha val="63000"/>
              </a:srgbClr>
            </a:outerShdw>
          </a:effectLst>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Display"/>
            </a:endParaRPr>
          </a:p>
        </p:txBody>
      </p:sp>
      <p:sp>
        <p:nvSpPr>
          <p:cNvPr id="9" name="Rectangle : coins arrondis 7">
            <a:extLst>
              <a:ext uri="{FF2B5EF4-FFF2-40B4-BE49-F238E27FC236}">
                <a16:creationId xmlns:a16="http://schemas.microsoft.com/office/drawing/2014/main" id="{9646F4FA-DE35-7681-E0D5-3C2102733EF3}"/>
              </a:ext>
            </a:extLst>
          </p:cNvPr>
          <p:cNvSpPr/>
          <p:nvPr/>
        </p:nvSpPr>
        <p:spPr>
          <a:xfrm>
            <a:off x="6267462" y="1751716"/>
            <a:ext cx="1162046" cy="247646"/>
          </a:xfrm>
          <a:custGeom>
            <a:avLst/>
            <a:gdLst>
              <a:gd name="f0" fmla="val 10800000"/>
              <a:gd name="f1" fmla="val 5400000"/>
              <a:gd name="f2" fmla="val 16200000"/>
              <a:gd name="f3" fmla="val w"/>
              <a:gd name="f4" fmla="val h"/>
              <a:gd name="f5" fmla="val ss"/>
              <a:gd name="f6" fmla="val 0"/>
              <a:gd name="f7" fmla="*/ 5419351 1 1725033"/>
              <a:gd name="f8" fmla="val 45"/>
              <a:gd name="f9" fmla="val 10800"/>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2553D6"/>
          </a:solidFill>
          <a:ln w="0" cap="flat">
            <a:solidFill>
              <a:srgbClr val="2553D6"/>
            </a:solidFill>
            <a:prstDash val="solid"/>
            <a:miter/>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a:endParaRPr>
          </a:p>
        </p:txBody>
      </p:sp>
      <p:sp>
        <p:nvSpPr>
          <p:cNvPr id="10" name="Rectangle 8">
            <a:extLst>
              <a:ext uri="{FF2B5EF4-FFF2-40B4-BE49-F238E27FC236}">
                <a16:creationId xmlns:a16="http://schemas.microsoft.com/office/drawing/2014/main" id="{FDF1B566-96B3-2DDD-CD1B-6F87A5E6B678}"/>
              </a:ext>
            </a:extLst>
          </p:cNvPr>
          <p:cNvSpPr/>
          <p:nvPr/>
        </p:nvSpPr>
        <p:spPr>
          <a:xfrm>
            <a:off x="6267462" y="1751716"/>
            <a:ext cx="1162046" cy="247646"/>
          </a:xfrm>
          <a:prstGeom prst="rect">
            <a:avLst/>
          </a:prstGeom>
          <a:noFill/>
          <a:ln cap="flat">
            <a:noFill/>
            <a:prstDash val="solid"/>
          </a:ln>
        </p:spPr>
        <p:txBody>
          <a:bodyPr vert="horz" wrap="square" lIns="76196" tIns="76196" rIns="76196" bIns="76196" anchor="ctr" anchorCtr="1" compatLnSpc="1">
            <a:noAutofit/>
          </a:bodyPr>
          <a:lstStyle/>
          <a:p>
            <a:pPr marL="0" marR="0" lvl="0" indent="0" algn="ctr" defTabSz="914400" rtl="0" fontAlgn="auto" hangingPunct="1">
              <a:lnSpc>
                <a:spcPct val="100000"/>
              </a:lnSpc>
              <a:spcBef>
                <a:spcPts val="0"/>
              </a:spcBef>
              <a:spcAft>
                <a:spcPts val="0"/>
              </a:spcAft>
              <a:buNone/>
              <a:tabLst/>
              <a:defRPr sz="1050" b="1" i="0" u="none" strike="noStrike" kern="0" cap="none" spc="0" baseline="0">
                <a:solidFill>
                  <a:srgbClr val="FFFFFF"/>
                </a:solidFill>
                <a:uFillTx/>
              </a:defRPr>
            </a:pPr>
            <a:r>
              <a:rPr lang="fr-FR" sz="900" b="1" i="0" u="none" strike="noStrike" kern="1200" cap="none" spc="0" baseline="0">
                <a:solidFill>
                  <a:srgbClr val="FFFFFF"/>
                </a:solidFill>
                <a:uFillTx/>
                <a:latin typeface="Aptos"/>
              </a:rPr>
              <a:t>summary</a:t>
            </a:r>
          </a:p>
        </p:txBody>
      </p:sp>
      <p:sp>
        <p:nvSpPr>
          <p:cNvPr id="11" name="Rectangle 9">
            <a:extLst>
              <a:ext uri="{FF2B5EF4-FFF2-40B4-BE49-F238E27FC236}">
                <a16:creationId xmlns:a16="http://schemas.microsoft.com/office/drawing/2014/main" id="{C034315E-648D-2F22-5B9D-44A076AD5099}"/>
              </a:ext>
            </a:extLst>
          </p:cNvPr>
          <p:cNvSpPr/>
          <p:nvPr/>
        </p:nvSpPr>
        <p:spPr>
          <a:xfrm>
            <a:off x="6267462" y="2113663"/>
            <a:ext cx="5029200" cy="457200"/>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r>
              <a:rPr lang="en-US" sz="1200" b="0" i="0" u="none" strike="noStrike" kern="1200" cap="none" spc="0" baseline="0">
                <a:solidFill>
                  <a:srgbClr val="334155"/>
                </a:solidFill>
                <a:uFillTx/>
                <a:latin typeface="Aptos"/>
              </a:rPr>
              <a:t>One short paragraph. It appears at the top of the left panel.</a:t>
            </a:r>
          </a:p>
        </p:txBody>
      </p:sp>
      <p:sp>
        <p:nvSpPr>
          <p:cNvPr id="12" name="Rectangle : coins arrondis 10">
            <a:extLst>
              <a:ext uri="{FF2B5EF4-FFF2-40B4-BE49-F238E27FC236}">
                <a16:creationId xmlns:a16="http://schemas.microsoft.com/office/drawing/2014/main" id="{A7E2CD4A-21AD-5E06-0661-9264D59BCF4D}"/>
              </a:ext>
            </a:extLst>
          </p:cNvPr>
          <p:cNvSpPr/>
          <p:nvPr/>
        </p:nvSpPr>
        <p:spPr>
          <a:xfrm>
            <a:off x="6191256" y="2606085"/>
            <a:ext cx="5333996" cy="4118558"/>
          </a:xfrm>
          <a:custGeom>
            <a:avLst/>
            <a:gdLst>
              <a:gd name="f0" fmla="val 10800000"/>
              <a:gd name="f1" fmla="val 5400000"/>
              <a:gd name="f2" fmla="val 16200000"/>
              <a:gd name="f3" fmla="val w"/>
              <a:gd name="f4" fmla="val h"/>
              <a:gd name="f5" fmla="val ss"/>
              <a:gd name="f6" fmla="val 0"/>
              <a:gd name="f7" fmla="*/ 5419351 1 1725033"/>
              <a:gd name="f8" fmla="val 45"/>
              <a:gd name="f9" fmla="val 2979"/>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FFFFFF"/>
          </a:solidFill>
          <a:ln w="9528" cap="flat">
            <a:solidFill>
              <a:srgbClr val="E2E8F0"/>
            </a:solidFill>
            <a:prstDash val="solid"/>
            <a:miter/>
          </a:ln>
          <a:effectLst>
            <a:outerShdw dist="19046" dir="5400000" algn="tl">
              <a:srgbClr val="000000">
                <a:alpha val="63000"/>
              </a:srgbClr>
            </a:outerShdw>
          </a:effectLst>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Display"/>
            </a:endParaRPr>
          </a:p>
        </p:txBody>
      </p:sp>
      <p:sp>
        <p:nvSpPr>
          <p:cNvPr id="13" name="Rectangle : coins arrondis 11">
            <a:extLst>
              <a:ext uri="{FF2B5EF4-FFF2-40B4-BE49-F238E27FC236}">
                <a16:creationId xmlns:a16="http://schemas.microsoft.com/office/drawing/2014/main" id="{1A1EC9B9-7CF6-C16E-49AD-32D15BF36222}"/>
              </a:ext>
            </a:extLst>
          </p:cNvPr>
          <p:cNvSpPr/>
          <p:nvPr/>
        </p:nvSpPr>
        <p:spPr>
          <a:xfrm>
            <a:off x="6343659" y="2758488"/>
            <a:ext cx="1162046" cy="270680"/>
          </a:xfrm>
          <a:custGeom>
            <a:avLst/>
            <a:gdLst>
              <a:gd name="f0" fmla="val 10800000"/>
              <a:gd name="f1" fmla="val 5400000"/>
              <a:gd name="f2" fmla="val 16200000"/>
              <a:gd name="f3" fmla="val w"/>
              <a:gd name="f4" fmla="val h"/>
              <a:gd name="f5" fmla="val ss"/>
              <a:gd name="f6" fmla="val 0"/>
              <a:gd name="f7" fmla="*/ 5419351 1 1725033"/>
              <a:gd name="f8" fmla="val 45"/>
              <a:gd name="f9" fmla="val 10800"/>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16803C"/>
          </a:solidFill>
          <a:ln w="0" cap="flat">
            <a:solidFill>
              <a:srgbClr val="16803C"/>
            </a:solidFill>
            <a:prstDash val="solid"/>
            <a:miter/>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a:endParaRPr>
          </a:p>
        </p:txBody>
      </p:sp>
      <p:sp>
        <p:nvSpPr>
          <p:cNvPr id="14" name="Rectangle 12">
            <a:extLst>
              <a:ext uri="{FF2B5EF4-FFF2-40B4-BE49-F238E27FC236}">
                <a16:creationId xmlns:a16="http://schemas.microsoft.com/office/drawing/2014/main" id="{F6657A8E-5832-103A-D9AB-34B4DF84E707}"/>
              </a:ext>
            </a:extLst>
          </p:cNvPr>
          <p:cNvSpPr/>
          <p:nvPr/>
        </p:nvSpPr>
        <p:spPr>
          <a:xfrm>
            <a:off x="6343650" y="2758497"/>
            <a:ext cx="1162046" cy="270680"/>
          </a:xfrm>
          <a:prstGeom prst="rect">
            <a:avLst/>
          </a:prstGeom>
          <a:noFill/>
          <a:ln cap="flat">
            <a:noFill/>
            <a:prstDash val="solid"/>
          </a:ln>
        </p:spPr>
        <p:txBody>
          <a:bodyPr vert="horz" wrap="square" lIns="76196" tIns="76196" rIns="76196" bIns="76196" anchor="ctr" anchorCtr="1" compatLnSpc="1">
            <a:noAutofit/>
          </a:bodyPr>
          <a:lstStyle/>
          <a:p>
            <a:pPr marL="0" marR="0" lvl="0" indent="0" algn="ctr" defTabSz="914400" rtl="0" fontAlgn="auto" hangingPunct="1">
              <a:lnSpc>
                <a:spcPct val="100000"/>
              </a:lnSpc>
              <a:spcBef>
                <a:spcPts val="0"/>
              </a:spcBef>
              <a:spcAft>
                <a:spcPts val="0"/>
              </a:spcAft>
              <a:buNone/>
              <a:tabLst/>
              <a:defRPr sz="1050" b="1" i="0" u="none" strike="noStrike" kern="0" cap="none" spc="0" baseline="0">
                <a:solidFill>
                  <a:srgbClr val="FFFFFF"/>
                </a:solidFill>
                <a:uFillTx/>
              </a:defRPr>
            </a:pPr>
            <a:r>
              <a:rPr lang="fr-FR" sz="1000" b="1" i="0" u="none" strike="noStrike" kern="1200" cap="none" spc="0" baseline="0">
                <a:solidFill>
                  <a:srgbClr val="FFFFFF"/>
                </a:solidFill>
                <a:uFillTx/>
                <a:latin typeface="Aptos"/>
              </a:rPr>
              <a:t>vessel_info</a:t>
            </a:r>
          </a:p>
        </p:txBody>
      </p:sp>
      <p:sp>
        <p:nvSpPr>
          <p:cNvPr id="15" name="Rectangle 13">
            <a:extLst>
              <a:ext uri="{FF2B5EF4-FFF2-40B4-BE49-F238E27FC236}">
                <a16:creationId xmlns:a16="http://schemas.microsoft.com/office/drawing/2014/main" id="{F02EDA99-7DF1-7710-7044-5C9117DB073E}"/>
              </a:ext>
            </a:extLst>
          </p:cNvPr>
          <p:cNvSpPr/>
          <p:nvPr/>
        </p:nvSpPr>
        <p:spPr>
          <a:xfrm>
            <a:off x="6343659" y="3120435"/>
            <a:ext cx="5029200" cy="2103055"/>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r>
              <a:rPr lang="fr-FR" sz="1200" b="0" i="0" u="none" strike="noStrike" kern="0" cap="none" spc="0" baseline="0">
                <a:solidFill>
                  <a:srgbClr val="334155"/>
                </a:solidFill>
                <a:uFillTx/>
                <a:latin typeface="Aptos"/>
              </a:rPr>
              <a:t>You can add multiple groups of this kind one after another to create a list of data representing information about the vessel or the environment</a:t>
            </a:r>
            <a:endParaRPr lang="en-US" sz="1200" b="0" i="0" u="none" strike="noStrike" kern="1200" cap="none" spc="0" baseline="0">
              <a:solidFill>
                <a:srgbClr val="334155"/>
              </a:solidFill>
              <a:uFillTx/>
              <a:latin typeface="Aptos"/>
            </a:endParaRPr>
          </a:p>
        </p:txBody>
      </p:sp>
      <p:sp>
        <p:nvSpPr>
          <p:cNvPr id="16" name="Rectangle 16">
            <a:extLst>
              <a:ext uri="{FF2B5EF4-FFF2-40B4-BE49-F238E27FC236}">
                <a16:creationId xmlns:a16="http://schemas.microsoft.com/office/drawing/2014/main" id="{AA18EE16-9791-A49A-734E-1A4C49ECBD97}"/>
              </a:ext>
            </a:extLst>
          </p:cNvPr>
          <p:cNvSpPr/>
          <p:nvPr/>
        </p:nvSpPr>
        <p:spPr>
          <a:xfrm>
            <a:off x="6343650" y="4091181"/>
            <a:ext cx="1162046" cy="247646"/>
          </a:xfrm>
          <a:prstGeom prst="rect">
            <a:avLst/>
          </a:prstGeom>
          <a:noFill/>
          <a:ln cap="flat">
            <a:noFill/>
            <a:prstDash val="solid"/>
          </a:ln>
        </p:spPr>
        <p:txBody>
          <a:bodyPr vert="horz" wrap="square" lIns="76196" tIns="76196" rIns="76196" bIns="76196" anchor="ctr" anchorCtr="1" compatLnSpc="1">
            <a:noAutofit/>
          </a:bodyPr>
          <a:lstStyle/>
          <a:p>
            <a:pPr marL="0" marR="0" lvl="0" indent="0" algn="ctr" defTabSz="914400" rtl="0" fontAlgn="auto" hangingPunct="1">
              <a:lnSpc>
                <a:spcPct val="100000"/>
              </a:lnSpc>
              <a:spcBef>
                <a:spcPts val="0"/>
              </a:spcBef>
              <a:spcAft>
                <a:spcPts val="0"/>
              </a:spcAft>
              <a:buNone/>
              <a:tabLst/>
              <a:defRPr sz="1050" b="1" i="0" u="none" strike="noStrike" kern="0" cap="none" spc="0" baseline="0">
                <a:solidFill>
                  <a:srgbClr val="FFFFFF"/>
                </a:solidFill>
                <a:uFillTx/>
              </a:defRPr>
            </a:pPr>
            <a:r>
              <a:rPr lang="fr-FR" sz="900" b="1" i="0" u="none" strike="noStrike" kern="1200" cap="none" spc="0" baseline="0">
                <a:solidFill>
                  <a:srgbClr val="FFFFFF"/>
                </a:solidFill>
                <a:uFillTx/>
                <a:latin typeface="Aptos"/>
              </a:rPr>
              <a:t>How to build it</a:t>
            </a:r>
          </a:p>
        </p:txBody>
      </p:sp>
      <p:sp>
        <p:nvSpPr>
          <p:cNvPr id="17" name="Rectangle 18">
            <a:extLst>
              <a:ext uri="{FF2B5EF4-FFF2-40B4-BE49-F238E27FC236}">
                <a16:creationId xmlns:a16="http://schemas.microsoft.com/office/drawing/2014/main" id="{15828B99-4ABF-665D-191C-BBD8E9667336}"/>
              </a:ext>
            </a:extLst>
          </p:cNvPr>
          <p:cNvSpPr/>
          <p:nvPr/>
        </p:nvSpPr>
        <p:spPr>
          <a:xfrm>
            <a:off x="329467" y="6536231"/>
            <a:ext cx="3047996" cy="190496"/>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100000"/>
              </a:lnSpc>
              <a:spcBef>
                <a:spcPts val="0"/>
              </a:spcBef>
              <a:spcAft>
                <a:spcPts val="0"/>
              </a:spcAft>
              <a:buNone/>
              <a:tabLst/>
              <a:defRPr sz="825" b="0" i="0" u="none" strike="noStrike" kern="0" cap="none" spc="0" baseline="0">
                <a:solidFill>
                  <a:srgbClr val="64748B"/>
                </a:solidFill>
                <a:uFillTx/>
              </a:defRPr>
            </a:pPr>
            <a:r>
              <a:rPr lang="en-US" sz="825" b="0" i="0" u="none" strike="noStrike" kern="1200" cap="none" spc="0" baseline="0">
                <a:solidFill>
                  <a:srgbClr val="64748B"/>
                </a:solidFill>
                <a:uFillTx/>
                <a:latin typeface="Aptos"/>
              </a:rPr>
              <a:t>Data Hub guide - new vessel workflow</a:t>
            </a:r>
          </a:p>
        </p:txBody>
      </p:sp>
      <p:sp>
        <p:nvSpPr>
          <p:cNvPr id="18" name="Rectangle 19">
            <a:extLst>
              <a:ext uri="{FF2B5EF4-FFF2-40B4-BE49-F238E27FC236}">
                <a16:creationId xmlns:a16="http://schemas.microsoft.com/office/drawing/2014/main" id="{580D4970-E264-9F05-AF75-67F7B5C6AE0E}"/>
              </a:ext>
            </a:extLst>
          </p:cNvPr>
          <p:cNvSpPr/>
          <p:nvPr/>
        </p:nvSpPr>
        <p:spPr>
          <a:xfrm>
            <a:off x="11144250" y="6496053"/>
            <a:ext cx="381003" cy="228600"/>
          </a:xfrm>
          <a:prstGeom prst="rect">
            <a:avLst/>
          </a:prstGeom>
          <a:noFill/>
          <a:ln cap="flat">
            <a:noFill/>
            <a:prstDash val="solid"/>
          </a:ln>
        </p:spPr>
        <p:txBody>
          <a:bodyPr vert="horz" wrap="square" lIns="0" tIns="0" rIns="0" bIns="0" anchor="t" anchorCtr="0" compatLnSpc="1">
            <a:normAutofit/>
          </a:bodyPr>
          <a:lstStyle/>
          <a:p>
            <a:pPr marL="0" marR="0" lvl="0" indent="0" algn="r" defTabSz="914400" rtl="0" fontAlgn="auto" hangingPunct="1">
              <a:lnSpc>
                <a:spcPct val="100000"/>
              </a:lnSpc>
              <a:spcBef>
                <a:spcPts val="0"/>
              </a:spcBef>
              <a:spcAft>
                <a:spcPts val="0"/>
              </a:spcAft>
              <a:buNone/>
              <a:tabLst/>
              <a:defRPr sz="900" b="1" i="0" u="none" strike="noStrike" kern="0" cap="none" spc="0" baseline="0">
                <a:solidFill>
                  <a:srgbClr val="64748B"/>
                </a:solidFill>
                <a:uFillTx/>
              </a:defRPr>
            </a:pPr>
            <a:r>
              <a:rPr lang="fr-FR" sz="900" b="1" i="0" u="none" strike="noStrike" kern="1200" cap="none" spc="0" baseline="0">
                <a:solidFill>
                  <a:srgbClr val="64748B"/>
                </a:solidFill>
                <a:uFillTx/>
                <a:latin typeface="Aptos"/>
              </a:rPr>
              <a:t>6</a:t>
            </a:r>
          </a:p>
        </p:txBody>
      </p:sp>
      <p:sp>
        <p:nvSpPr>
          <p:cNvPr id="19" name="Rectangle : coins arrondis 21">
            <a:extLst>
              <a:ext uri="{FF2B5EF4-FFF2-40B4-BE49-F238E27FC236}">
                <a16:creationId xmlns:a16="http://schemas.microsoft.com/office/drawing/2014/main" id="{79B24977-D506-B255-704B-2522DA32AA37}"/>
              </a:ext>
            </a:extLst>
          </p:cNvPr>
          <p:cNvSpPr/>
          <p:nvPr/>
        </p:nvSpPr>
        <p:spPr>
          <a:xfrm>
            <a:off x="590254" y="2247220"/>
            <a:ext cx="5073648" cy="477517"/>
          </a:xfrm>
          <a:custGeom>
            <a:avLst/>
            <a:gdLst>
              <a:gd name="f0" fmla="val 10800000"/>
              <a:gd name="f1" fmla="val 5400000"/>
              <a:gd name="f2" fmla="val 16200000"/>
              <a:gd name="f3" fmla="val w"/>
              <a:gd name="f4" fmla="val h"/>
              <a:gd name="f5" fmla="val ss"/>
              <a:gd name="f6" fmla="val 0"/>
              <a:gd name="f7" fmla="*/ 5419351 1 1725033"/>
              <a:gd name="f8" fmla="val 45"/>
              <a:gd name="f9" fmla="val 3600"/>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0F9ED5">
              <a:alpha val="50000"/>
            </a:srgbClr>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FFFFFF"/>
              </a:solidFill>
              <a:uFillTx/>
              <a:latin typeface="Aptos"/>
            </a:endParaRPr>
          </a:p>
        </p:txBody>
      </p:sp>
      <p:sp>
        <p:nvSpPr>
          <p:cNvPr id="20" name="Rectangle : coins arrondis 24">
            <a:extLst>
              <a:ext uri="{FF2B5EF4-FFF2-40B4-BE49-F238E27FC236}">
                <a16:creationId xmlns:a16="http://schemas.microsoft.com/office/drawing/2014/main" id="{7FE4E4A5-72A4-317B-9D91-BCA2B657C17E}"/>
              </a:ext>
            </a:extLst>
          </p:cNvPr>
          <p:cNvSpPr/>
          <p:nvPr/>
        </p:nvSpPr>
        <p:spPr>
          <a:xfrm>
            <a:off x="555324" y="3008659"/>
            <a:ext cx="5073648" cy="1255562"/>
          </a:xfrm>
          <a:custGeom>
            <a:avLst/>
            <a:gdLst>
              <a:gd name="f0" fmla="val 10800000"/>
              <a:gd name="f1" fmla="val 5400000"/>
              <a:gd name="f2" fmla="val 16200000"/>
              <a:gd name="f3" fmla="val w"/>
              <a:gd name="f4" fmla="val h"/>
              <a:gd name="f5" fmla="val ss"/>
              <a:gd name="f6" fmla="val 0"/>
              <a:gd name="f7" fmla="*/ 5419351 1 1725033"/>
              <a:gd name="f8" fmla="val 45"/>
              <a:gd name="f9" fmla="val 3600"/>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4EA72E">
              <a:alpha val="50000"/>
            </a:srgbClr>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FFFFFF"/>
              </a:solidFill>
              <a:uFillTx/>
              <a:latin typeface="Aptos"/>
            </a:endParaRPr>
          </a:p>
        </p:txBody>
      </p:sp>
      <p:sp>
        <p:nvSpPr>
          <p:cNvPr id="21" name="Rectangle : coins arrondis 42">
            <a:extLst>
              <a:ext uri="{FF2B5EF4-FFF2-40B4-BE49-F238E27FC236}">
                <a16:creationId xmlns:a16="http://schemas.microsoft.com/office/drawing/2014/main" id="{B8B5260C-CC41-53EC-F9C2-B18A72CD70E0}"/>
              </a:ext>
            </a:extLst>
          </p:cNvPr>
          <p:cNvSpPr/>
          <p:nvPr/>
        </p:nvSpPr>
        <p:spPr>
          <a:xfrm>
            <a:off x="6903070" y="3731712"/>
            <a:ext cx="3637282" cy="2875559"/>
          </a:xfrm>
          <a:custGeom>
            <a:avLst/>
            <a:gdLst>
              <a:gd name="f0" fmla="val 10800000"/>
              <a:gd name="f1" fmla="val 5400000"/>
              <a:gd name="f2" fmla="val 16200000"/>
              <a:gd name="f3" fmla="val w"/>
              <a:gd name="f4" fmla="val h"/>
              <a:gd name="f5" fmla="val ss"/>
              <a:gd name="f6" fmla="val 0"/>
              <a:gd name="f7" fmla="*/ 5419351 1 1725033"/>
              <a:gd name="f8" fmla="val 45"/>
              <a:gd name="f9" fmla="val 868"/>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0B1220"/>
          </a:solidFill>
          <a:ln w="9528" cap="flat">
            <a:solidFill>
              <a:srgbClr val="1E293B"/>
            </a:solidFill>
            <a:prstDash val="solid"/>
            <a:miter/>
          </a:ln>
          <a:effectLst>
            <a:outerShdw dist="19046" dir="5400000" algn="tl">
              <a:srgbClr val="000000">
                <a:alpha val="63000"/>
              </a:srgbClr>
            </a:outerShdw>
          </a:effectLst>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Display"/>
            </a:endParaRPr>
          </a:p>
        </p:txBody>
      </p:sp>
      <p:sp>
        <p:nvSpPr>
          <p:cNvPr id="22" name="Rectangle : coins arrondis 44">
            <a:extLst>
              <a:ext uri="{FF2B5EF4-FFF2-40B4-BE49-F238E27FC236}">
                <a16:creationId xmlns:a16="http://schemas.microsoft.com/office/drawing/2014/main" id="{66F2982D-0141-FC4F-7B84-B8D420919110}"/>
              </a:ext>
            </a:extLst>
          </p:cNvPr>
          <p:cNvSpPr/>
          <p:nvPr/>
        </p:nvSpPr>
        <p:spPr>
          <a:xfrm>
            <a:off x="7251054" y="3938631"/>
            <a:ext cx="3021333" cy="353982"/>
          </a:xfrm>
          <a:custGeom>
            <a:avLst/>
            <a:gdLst>
              <a:gd name="f0" fmla="val 10800000"/>
              <a:gd name="f1" fmla="val 5400000"/>
              <a:gd name="f2" fmla="val 16200000"/>
              <a:gd name="f3" fmla="val w"/>
              <a:gd name="f4" fmla="val h"/>
              <a:gd name="f5" fmla="val ss"/>
              <a:gd name="f6" fmla="val 0"/>
              <a:gd name="f7" fmla="*/ 5419351 1 1725033"/>
              <a:gd name="f8" fmla="val 45"/>
              <a:gd name="f9" fmla="val 3600"/>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0F9ED5">
              <a:alpha val="50000"/>
            </a:srgbClr>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800" b="0" i="0" u="none" strike="noStrike" kern="1200" cap="none" spc="0" baseline="0">
                <a:solidFill>
                  <a:srgbClr val="FFFFFF"/>
                </a:solidFill>
                <a:uFillTx/>
                <a:latin typeface="Aptos"/>
              </a:rPr>
              <a:t>Summary</a:t>
            </a:r>
          </a:p>
        </p:txBody>
      </p:sp>
      <p:sp>
        <p:nvSpPr>
          <p:cNvPr id="23" name="Rectangle : coins arrondis 46">
            <a:extLst>
              <a:ext uri="{FF2B5EF4-FFF2-40B4-BE49-F238E27FC236}">
                <a16:creationId xmlns:a16="http://schemas.microsoft.com/office/drawing/2014/main" id="{50985BBD-5A53-FBBC-2FD9-8353C0B04EAC}"/>
              </a:ext>
            </a:extLst>
          </p:cNvPr>
          <p:cNvSpPr/>
          <p:nvPr/>
        </p:nvSpPr>
        <p:spPr>
          <a:xfrm>
            <a:off x="7251054" y="4568424"/>
            <a:ext cx="3021333" cy="521939"/>
          </a:xfrm>
          <a:custGeom>
            <a:avLst/>
            <a:gdLst>
              <a:gd name="f0" fmla="val 10800000"/>
              <a:gd name="f1" fmla="val 5400000"/>
              <a:gd name="f2" fmla="val 16200000"/>
              <a:gd name="f3" fmla="val w"/>
              <a:gd name="f4" fmla="val h"/>
              <a:gd name="f5" fmla="val ss"/>
              <a:gd name="f6" fmla="val 0"/>
              <a:gd name="f7" fmla="*/ 5419351 1 1725033"/>
              <a:gd name="f8" fmla="val 45"/>
              <a:gd name="f9" fmla="val 3600"/>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4EA72E">
              <a:alpha val="50000"/>
            </a:srgbClr>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800" b="0" i="0" u="none" strike="noStrike" kern="1200" cap="none" spc="0" baseline="0">
                <a:solidFill>
                  <a:srgbClr val="FFFFFF"/>
                </a:solidFill>
                <a:uFillTx/>
                <a:latin typeface="Aptos"/>
              </a:rPr>
              <a:t>DATA 1</a:t>
            </a:r>
          </a:p>
        </p:txBody>
      </p:sp>
      <p:sp>
        <p:nvSpPr>
          <p:cNvPr id="24" name="Rectangle : coins arrondis 50">
            <a:extLst>
              <a:ext uri="{FF2B5EF4-FFF2-40B4-BE49-F238E27FC236}">
                <a16:creationId xmlns:a16="http://schemas.microsoft.com/office/drawing/2014/main" id="{9100F037-3A65-CCAE-B0A2-0654DA263A23}"/>
              </a:ext>
            </a:extLst>
          </p:cNvPr>
          <p:cNvSpPr/>
          <p:nvPr/>
        </p:nvSpPr>
        <p:spPr>
          <a:xfrm>
            <a:off x="7251054" y="5153137"/>
            <a:ext cx="3021333" cy="521939"/>
          </a:xfrm>
          <a:custGeom>
            <a:avLst/>
            <a:gdLst>
              <a:gd name="f0" fmla="val 10800000"/>
              <a:gd name="f1" fmla="val 5400000"/>
              <a:gd name="f2" fmla="val 16200000"/>
              <a:gd name="f3" fmla="val w"/>
              <a:gd name="f4" fmla="val h"/>
              <a:gd name="f5" fmla="val ss"/>
              <a:gd name="f6" fmla="val 0"/>
              <a:gd name="f7" fmla="*/ 5419351 1 1725033"/>
              <a:gd name="f8" fmla="val 45"/>
              <a:gd name="f9" fmla="val 3600"/>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4EA72E">
              <a:alpha val="50000"/>
            </a:srgbClr>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800" b="0" i="0" u="none" strike="noStrike" kern="1200" cap="none" spc="0" baseline="0">
                <a:solidFill>
                  <a:srgbClr val="FFFFFF"/>
                </a:solidFill>
                <a:uFillTx/>
                <a:latin typeface="Aptos"/>
              </a:rPr>
              <a:t>DATA 2</a:t>
            </a:r>
          </a:p>
        </p:txBody>
      </p:sp>
      <p:sp>
        <p:nvSpPr>
          <p:cNvPr id="25" name="Rectangle : coins arrondis 52">
            <a:extLst>
              <a:ext uri="{FF2B5EF4-FFF2-40B4-BE49-F238E27FC236}">
                <a16:creationId xmlns:a16="http://schemas.microsoft.com/office/drawing/2014/main" id="{80411928-5E37-F9B2-5998-BD3E245BF003}"/>
              </a:ext>
            </a:extLst>
          </p:cNvPr>
          <p:cNvSpPr/>
          <p:nvPr/>
        </p:nvSpPr>
        <p:spPr>
          <a:xfrm>
            <a:off x="7251054" y="5737841"/>
            <a:ext cx="3021333" cy="521939"/>
          </a:xfrm>
          <a:custGeom>
            <a:avLst/>
            <a:gdLst>
              <a:gd name="f0" fmla="val 10800000"/>
              <a:gd name="f1" fmla="val 5400000"/>
              <a:gd name="f2" fmla="val 16200000"/>
              <a:gd name="f3" fmla="val w"/>
              <a:gd name="f4" fmla="val h"/>
              <a:gd name="f5" fmla="val ss"/>
              <a:gd name="f6" fmla="val 0"/>
              <a:gd name="f7" fmla="*/ 5419351 1 1725033"/>
              <a:gd name="f8" fmla="val 45"/>
              <a:gd name="f9" fmla="val 3600"/>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4EA72E">
              <a:alpha val="50000"/>
            </a:srgbClr>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800" b="0" i="0" u="none" strike="noStrike" kern="1200" cap="none" spc="0" baseline="0">
                <a:solidFill>
                  <a:srgbClr val="FFFFFF"/>
                </a:solidFill>
                <a:uFillTx/>
                <a:latin typeface="Aptos"/>
              </a:rPr>
              <a:t>DATA …</a:t>
            </a:r>
          </a:p>
        </p:txBody>
      </p:sp>
      <p:sp>
        <p:nvSpPr>
          <p:cNvPr id="26" name="ZoneTexte 53">
            <a:extLst>
              <a:ext uri="{FF2B5EF4-FFF2-40B4-BE49-F238E27FC236}">
                <a16:creationId xmlns:a16="http://schemas.microsoft.com/office/drawing/2014/main" id="{7DB0AECA-D08A-4430-748D-E1B2D43AC7F5}"/>
              </a:ext>
            </a:extLst>
          </p:cNvPr>
          <p:cNvSpPr txBox="1"/>
          <p:nvPr/>
        </p:nvSpPr>
        <p:spPr>
          <a:xfrm>
            <a:off x="6796396" y="4212942"/>
            <a:ext cx="3910331" cy="369335"/>
          </a:xfrm>
          <a:prstGeom prst="rect">
            <a:avLst/>
          </a:prstGeom>
          <a:noFill/>
          <a:ln cap="flat">
            <a:noFill/>
          </a:ln>
        </p:spPr>
        <p:txBody>
          <a:bodyPr vert="horz" wrap="square" lIns="91440" tIns="45720" rIns="91440" bIns="45720" anchor="t" anchorCtr="0" compatLnSpc="1">
            <a:sp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800" b="0" i="0" u="none" strike="noStrike" kern="1200" cap="none" spc="0" baseline="0">
                <a:solidFill>
                  <a:srgbClr val="FFFFFF"/>
                </a:solidFill>
                <a:uFillTx/>
                <a:latin typeface="Consolas" pitchFamily="49"/>
              </a:rPr>
              <a:t> "vessel_info": [</a:t>
            </a:r>
            <a:endParaRPr lang="fr-FR" sz="1800" b="0" i="0" u="none" strike="noStrike" kern="1200" cap="none" spc="0" baseline="0">
              <a:solidFill>
                <a:srgbClr val="FFFFFF"/>
              </a:solidFill>
              <a:uFillTx/>
              <a:latin typeface="Aptos"/>
            </a:endParaRPr>
          </a:p>
        </p:txBody>
      </p:sp>
      <p:sp>
        <p:nvSpPr>
          <p:cNvPr id="27" name="ZoneTexte 55">
            <a:extLst>
              <a:ext uri="{FF2B5EF4-FFF2-40B4-BE49-F238E27FC236}">
                <a16:creationId xmlns:a16="http://schemas.microsoft.com/office/drawing/2014/main" id="{B1846BB3-AAE5-6FBE-5FCA-B3FC0357AB80}"/>
              </a:ext>
            </a:extLst>
          </p:cNvPr>
          <p:cNvSpPr txBox="1"/>
          <p:nvPr/>
        </p:nvSpPr>
        <p:spPr>
          <a:xfrm>
            <a:off x="10027301" y="6248863"/>
            <a:ext cx="3910331" cy="369335"/>
          </a:xfrm>
          <a:prstGeom prst="rect">
            <a:avLst/>
          </a:prstGeom>
          <a:noFill/>
          <a:ln cap="flat">
            <a:noFill/>
          </a:ln>
        </p:spPr>
        <p:txBody>
          <a:bodyPr vert="horz" wrap="square" lIns="91440" tIns="45720" rIns="91440" bIns="45720" anchor="t" anchorCtr="0" compatLnSpc="1">
            <a:sp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800" b="0" i="0" u="none" strike="noStrike" kern="1200" cap="none" spc="0" baseline="0">
                <a:solidFill>
                  <a:srgbClr val="FFFFFF"/>
                </a:solidFill>
                <a:uFillTx/>
                <a:latin typeface="Consolas" pitchFamily="49"/>
              </a:rPr>
              <a:t>]</a:t>
            </a:r>
            <a:endParaRPr lang="fr-FR" sz="1800" b="0" i="0" u="none" strike="noStrike" kern="1200" cap="none" spc="0" baseline="0">
              <a:solidFill>
                <a:srgbClr val="FFFFFF"/>
              </a:solidFill>
              <a:uFillTx/>
              <a:latin typeface="Aptos"/>
            </a:endParaRPr>
          </a:p>
        </p:txBody>
      </p:sp>
      <p:sp>
        <p:nvSpPr>
          <p:cNvPr id="28" name="Rectangle : coins arrondis 24">
            <a:extLst>
              <a:ext uri="{FF2B5EF4-FFF2-40B4-BE49-F238E27FC236}">
                <a16:creationId xmlns:a16="http://schemas.microsoft.com/office/drawing/2014/main" id="{E140AFF0-67CD-DB89-B699-731AD4FF6EAF}"/>
              </a:ext>
            </a:extLst>
          </p:cNvPr>
          <p:cNvSpPr/>
          <p:nvPr/>
        </p:nvSpPr>
        <p:spPr>
          <a:xfrm>
            <a:off x="571500" y="4363983"/>
            <a:ext cx="5073648" cy="1255562"/>
          </a:xfrm>
          <a:custGeom>
            <a:avLst/>
            <a:gdLst>
              <a:gd name="f0" fmla="val 10800000"/>
              <a:gd name="f1" fmla="val 5400000"/>
              <a:gd name="f2" fmla="val 16200000"/>
              <a:gd name="f3" fmla="val w"/>
              <a:gd name="f4" fmla="val h"/>
              <a:gd name="f5" fmla="val ss"/>
              <a:gd name="f6" fmla="val 0"/>
              <a:gd name="f7" fmla="*/ 5419351 1 1725033"/>
              <a:gd name="f8" fmla="val 45"/>
              <a:gd name="f9" fmla="val 3600"/>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4EA72E">
              <a:alpha val="50000"/>
            </a:srgbClr>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FFFFFF"/>
              </a:solidFill>
              <a:uFillTx/>
              <a:latin typeface="Apto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 coins arrondis 20">
            <a:extLst>
              <a:ext uri="{FF2B5EF4-FFF2-40B4-BE49-F238E27FC236}">
                <a16:creationId xmlns:a16="http://schemas.microsoft.com/office/drawing/2014/main" id="{33FCC951-B7B3-C4B3-AB4B-B8AC3A13C98E}"/>
              </a:ext>
            </a:extLst>
          </p:cNvPr>
          <p:cNvSpPr/>
          <p:nvPr/>
        </p:nvSpPr>
        <p:spPr>
          <a:xfrm>
            <a:off x="571500" y="361946"/>
            <a:ext cx="1619246" cy="285750"/>
          </a:xfrm>
          <a:custGeom>
            <a:avLst/>
            <a:gdLst>
              <a:gd name="f0" fmla="val 10800000"/>
              <a:gd name="f1" fmla="val 5400000"/>
              <a:gd name="f2" fmla="val 16200000"/>
              <a:gd name="f3" fmla="val w"/>
              <a:gd name="f4" fmla="val h"/>
              <a:gd name="f5" fmla="val ss"/>
              <a:gd name="f6" fmla="val 0"/>
              <a:gd name="f7" fmla="*/ 5419351 1 1725033"/>
              <a:gd name="f8" fmla="val 45"/>
              <a:gd name="f9" fmla="val 10800"/>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2553D6"/>
          </a:solidFill>
          <a:ln w="0" cap="flat">
            <a:solidFill>
              <a:srgbClr val="2553D6"/>
            </a:solidFill>
            <a:prstDash val="solid"/>
            <a:miter/>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a:endParaRPr>
          </a:p>
        </p:txBody>
      </p:sp>
      <p:sp>
        <p:nvSpPr>
          <p:cNvPr id="3" name="Rectangle 1">
            <a:extLst>
              <a:ext uri="{FF2B5EF4-FFF2-40B4-BE49-F238E27FC236}">
                <a16:creationId xmlns:a16="http://schemas.microsoft.com/office/drawing/2014/main" id="{4A7A5B9D-7772-C98E-DA12-41CA68DFC874}"/>
              </a:ext>
            </a:extLst>
          </p:cNvPr>
          <p:cNvSpPr/>
          <p:nvPr/>
        </p:nvSpPr>
        <p:spPr>
          <a:xfrm>
            <a:off x="571500" y="361946"/>
            <a:ext cx="1619246" cy="285750"/>
          </a:xfrm>
          <a:prstGeom prst="rect">
            <a:avLst/>
          </a:prstGeom>
          <a:noFill/>
          <a:ln cap="flat">
            <a:noFill/>
            <a:prstDash val="solid"/>
          </a:ln>
        </p:spPr>
        <p:txBody>
          <a:bodyPr vert="horz" wrap="square" lIns="76196" tIns="76196" rIns="76196" bIns="76196" anchor="ctr" anchorCtr="1" compatLnSpc="1">
            <a:normAutofit/>
          </a:bodyPr>
          <a:lstStyle/>
          <a:p>
            <a:pPr marL="0" marR="0" lvl="0" indent="0" algn="ctr" defTabSz="914400" rtl="0" fontAlgn="auto" hangingPunct="1">
              <a:lnSpc>
                <a:spcPct val="80000"/>
              </a:lnSpc>
              <a:spcBef>
                <a:spcPts val="0"/>
              </a:spcBef>
              <a:spcAft>
                <a:spcPts val="0"/>
              </a:spcAft>
              <a:buNone/>
              <a:tabLst/>
              <a:defRPr sz="1000" b="1" i="0" u="none" strike="noStrike" kern="0" cap="none" spc="0" baseline="0">
                <a:solidFill>
                  <a:srgbClr val="FFFFFF"/>
                </a:solidFill>
                <a:uFillTx/>
              </a:defRPr>
            </a:pPr>
            <a:r>
              <a:rPr lang="fr-FR" sz="1000" b="1" i="0" u="none" strike="noStrike" kern="1200" cap="none" spc="0" baseline="0">
                <a:solidFill>
                  <a:srgbClr val="FFFFFF"/>
                </a:solidFill>
                <a:uFillTx/>
                <a:latin typeface="Aptos"/>
              </a:rPr>
              <a:t>BUILD STEP 4</a:t>
            </a:r>
          </a:p>
        </p:txBody>
      </p:sp>
      <p:sp>
        <p:nvSpPr>
          <p:cNvPr id="4" name="Rectangle 2">
            <a:extLst>
              <a:ext uri="{FF2B5EF4-FFF2-40B4-BE49-F238E27FC236}">
                <a16:creationId xmlns:a16="http://schemas.microsoft.com/office/drawing/2014/main" id="{2B10C7FB-AA2E-376C-8CD6-9476C3C11990}"/>
              </a:ext>
            </a:extLst>
          </p:cNvPr>
          <p:cNvSpPr/>
          <p:nvPr/>
        </p:nvSpPr>
        <p:spPr>
          <a:xfrm>
            <a:off x="571500" y="713990"/>
            <a:ext cx="11048996" cy="476246"/>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100000"/>
              </a:lnSpc>
              <a:spcBef>
                <a:spcPts val="0"/>
              </a:spcBef>
              <a:spcAft>
                <a:spcPts val="0"/>
              </a:spcAft>
              <a:buNone/>
              <a:tabLst/>
              <a:defRPr sz="3000" b="1" i="0" u="none" strike="noStrike" kern="0" cap="none" spc="0" baseline="0">
                <a:solidFill>
                  <a:srgbClr val="0F172A"/>
                </a:solidFill>
                <a:uFillTx/>
              </a:defRPr>
            </a:pPr>
            <a:r>
              <a:rPr lang="en-US" sz="3000" b="1" i="0" u="none" strike="noStrike" kern="1200" cap="none" spc="0" baseline="0">
                <a:solidFill>
                  <a:srgbClr val="0F172A"/>
                </a:solidFill>
                <a:uFillTx/>
                <a:latin typeface="Aptos"/>
              </a:rPr>
              <a:t>Representation of a Data</a:t>
            </a:r>
          </a:p>
        </p:txBody>
      </p:sp>
      <p:sp>
        <p:nvSpPr>
          <p:cNvPr id="5" name="Rectangle 3">
            <a:extLst>
              <a:ext uri="{FF2B5EF4-FFF2-40B4-BE49-F238E27FC236}">
                <a16:creationId xmlns:a16="http://schemas.microsoft.com/office/drawing/2014/main" id="{5007A1BD-B2FE-EADE-E808-83F7B53792D5}"/>
              </a:ext>
            </a:extLst>
          </p:cNvPr>
          <p:cNvSpPr/>
          <p:nvPr/>
        </p:nvSpPr>
        <p:spPr>
          <a:xfrm>
            <a:off x="571500" y="1190247"/>
            <a:ext cx="11048996" cy="323853"/>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100000"/>
              </a:lnSpc>
              <a:spcBef>
                <a:spcPts val="0"/>
              </a:spcBef>
              <a:spcAft>
                <a:spcPts val="0"/>
              </a:spcAft>
              <a:buNone/>
              <a:tabLst/>
              <a:defRPr sz="1350" b="0" i="0" u="none" strike="noStrike" kern="0" cap="none" spc="0" baseline="0">
                <a:solidFill>
                  <a:srgbClr val="475569"/>
                </a:solidFill>
                <a:uFillTx/>
              </a:defRPr>
            </a:pPr>
            <a:endParaRPr lang="fr-FR" sz="1350" b="0" i="0" u="none" strike="noStrike" kern="1200" cap="none" spc="0" baseline="0">
              <a:solidFill>
                <a:srgbClr val="475569"/>
              </a:solidFill>
              <a:uFillTx/>
              <a:latin typeface="Aptos"/>
            </a:endParaRPr>
          </a:p>
        </p:txBody>
      </p:sp>
      <p:sp>
        <p:nvSpPr>
          <p:cNvPr id="6" name="Rectangle : coins arrondis 4">
            <a:extLst>
              <a:ext uri="{FF2B5EF4-FFF2-40B4-BE49-F238E27FC236}">
                <a16:creationId xmlns:a16="http://schemas.microsoft.com/office/drawing/2014/main" id="{A1D1D137-EEFD-90BA-1B5A-D4DB80D205F5}"/>
              </a:ext>
            </a:extLst>
          </p:cNvPr>
          <p:cNvSpPr/>
          <p:nvPr/>
        </p:nvSpPr>
        <p:spPr>
          <a:xfrm>
            <a:off x="475021" y="2684742"/>
            <a:ext cx="5333996" cy="1785923"/>
          </a:xfrm>
          <a:custGeom>
            <a:avLst/>
            <a:gdLst>
              <a:gd name="f0" fmla="val 10800000"/>
              <a:gd name="f1" fmla="val 5400000"/>
              <a:gd name="f2" fmla="val 16200000"/>
              <a:gd name="f3" fmla="val w"/>
              <a:gd name="f4" fmla="val h"/>
              <a:gd name="f5" fmla="val ss"/>
              <a:gd name="f6" fmla="val 0"/>
              <a:gd name="f7" fmla="*/ 5419351 1 1725033"/>
              <a:gd name="f8" fmla="val 45"/>
              <a:gd name="f9" fmla="val 868"/>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0B1220"/>
          </a:solidFill>
          <a:ln w="9528" cap="flat">
            <a:solidFill>
              <a:srgbClr val="1E293B"/>
            </a:solidFill>
            <a:prstDash val="solid"/>
            <a:miter/>
          </a:ln>
          <a:effectLst>
            <a:outerShdw dist="19046" dir="5400000" algn="tl">
              <a:srgbClr val="000000">
                <a:alpha val="63000"/>
              </a:srgbClr>
            </a:outerShdw>
          </a:effectLst>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Display"/>
            </a:endParaRPr>
          </a:p>
        </p:txBody>
      </p:sp>
      <p:sp>
        <p:nvSpPr>
          <p:cNvPr id="7" name="Rectangle 5">
            <a:extLst>
              <a:ext uri="{FF2B5EF4-FFF2-40B4-BE49-F238E27FC236}">
                <a16:creationId xmlns:a16="http://schemas.microsoft.com/office/drawing/2014/main" id="{D4E59042-D47C-5CE5-F0F9-CCBEEDCFDE6D}"/>
              </a:ext>
            </a:extLst>
          </p:cNvPr>
          <p:cNvSpPr/>
          <p:nvPr/>
        </p:nvSpPr>
        <p:spPr>
          <a:xfrm>
            <a:off x="703621" y="2846280"/>
            <a:ext cx="4991096" cy="1496571"/>
          </a:xfrm>
          <a:prstGeom prst="rect">
            <a:avLst/>
          </a:prstGeom>
          <a:noFill/>
          <a:ln cap="flat">
            <a:noFill/>
            <a:prstDash val="solid"/>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200" b="0" i="0" u="none" strike="noStrike" kern="1200" cap="none" spc="0" baseline="0">
                <a:solidFill>
                  <a:srgbClr val="FFFFFF"/>
                </a:solidFill>
                <a:uFillTx/>
                <a:latin typeface="Consolas" pitchFamily="49"/>
              </a:rPr>
              <a:t>{</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200" b="0" i="0" u="none" strike="noStrike" kern="1200" cap="none" spc="0" baseline="0">
                <a:solidFill>
                  <a:srgbClr val="FFFFFF"/>
                </a:solidFill>
                <a:highlight>
                  <a:srgbClr val="808080"/>
                </a:highlight>
                <a:uFillTx/>
                <a:latin typeface="Consolas" pitchFamily="49"/>
              </a:rPr>
              <a:t>      "Name": "shipbuilder",</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200" b="0" i="0" u="none" strike="noStrike" kern="1200" cap="none" spc="0" baseline="0">
                <a:solidFill>
                  <a:srgbClr val="FFFFFF"/>
                </a:solidFill>
                <a:highlight>
                  <a:srgbClr val="800000"/>
                </a:highlight>
                <a:uFillTx/>
                <a:latin typeface="Consolas" pitchFamily="49"/>
              </a:rPr>
              <a:t>      "Link": "../raw_DATA/ALMI ATLAS.pdf",</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200" b="0" i="0" u="none" strike="noStrike" kern="0" cap="none" spc="0" baseline="0">
                <a:solidFill>
                  <a:srgbClr val="FFFFFF"/>
                </a:solidFill>
                <a:highlight>
                  <a:srgbClr val="008000"/>
                </a:highlight>
                <a:uFillTx/>
                <a:latin typeface="Consolas" pitchFamily="49"/>
              </a:rPr>
              <a:t>      </a:t>
            </a:r>
            <a:r>
              <a:rPr lang="fr-FR" sz="1200" b="0" i="0" u="none" strike="noStrike" kern="1200" cap="none" spc="0" baseline="0">
                <a:solidFill>
                  <a:srgbClr val="FFFFFF"/>
                </a:solidFill>
                <a:highlight>
                  <a:srgbClr val="008000"/>
                </a:highlight>
                <a:uFillTx/>
                <a:latin typeface="Consolas" pitchFamily="49"/>
              </a:rPr>
              <a:t>"DNV_path": "/dnv-v2/vis-3-10a/800a/860/861/861.2/861.21/G52/G52.1",</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200" b="0" i="0" u="none" strike="noStrike" kern="0" cap="none" spc="0" baseline="0">
                <a:solidFill>
                  <a:srgbClr val="FFFFFF"/>
                </a:solidFill>
                <a:highlight>
                  <a:srgbClr val="800080"/>
                </a:highlight>
                <a:uFillTx/>
                <a:latin typeface="Consolas" pitchFamily="49"/>
              </a:rPr>
              <a:t>      </a:t>
            </a:r>
            <a:r>
              <a:rPr lang="fr-FR" sz="1200" b="0" i="0" u="none" strike="noStrike" kern="1200" cap="none" spc="0" baseline="0">
                <a:solidFill>
                  <a:srgbClr val="FFFFFF"/>
                </a:solidFill>
                <a:highlight>
                  <a:srgbClr val="800080"/>
                </a:highlight>
                <a:uFillTx/>
                <a:latin typeface="Consolas" pitchFamily="49"/>
              </a:rPr>
              <a:t>"Value": "Hyundai Samho Heavy Industries Co. Ltd",</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200" b="0" i="0" u="none" strike="noStrike" kern="0" cap="none" spc="0" baseline="0">
                <a:solidFill>
                  <a:srgbClr val="FFFFFF"/>
                </a:solidFill>
                <a:highlight>
                  <a:srgbClr val="808000"/>
                </a:highlight>
                <a:uFillTx/>
                <a:latin typeface="Consolas" pitchFamily="49"/>
              </a:rPr>
              <a:t>      </a:t>
            </a:r>
            <a:r>
              <a:rPr lang="fr-FR" sz="1200" b="0" i="0" u="none" strike="noStrike" kern="1200" cap="none" spc="0" baseline="0">
                <a:solidFill>
                  <a:srgbClr val="FFFFFF"/>
                </a:solidFill>
                <a:highlight>
                  <a:srgbClr val="808000"/>
                </a:highlight>
                <a:uFillTx/>
                <a:latin typeface="Consolas" pitchFamily="49"/>
              </a:rPr>
              <a:t>"location": "hull"</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200" b="0" i="0" u="none" strike="noStrike" kern="1200" cap="none" spc="0" baseline="0">
                <a:solidFill>
                  <a:srgbClr val="FFFFFF"/>
                </a:solidFill>
                <a:uFillTx/>
                <a:latin typeface="Consolas" pitchFamily="49"/>
              </a:rPr>
              <a:t>    }</a:t>
            </a:r>
            <a:endParaRPr lang="fr-FR" sz="1200" b="0" i="0" u="none" strike="noStrike" kern="1200" cap="none" spc="0" baseline="0">
              <a:solidFill>
                <a:srgbClr val="FFFFFF"/>
              </a:solidFill>
              <a:uFillTx/>
              <a:latin typeface="Consolas" pitchFamily="49"/>
              <a:ea typeface="Consolas"/>
              <a:cs typeface="Consolas"/>
            </a:endParaRPr>
          </a:p>
        </p:txBody>
      </p:sp>
      <p:sp>
        <p:nvSpPr>
          <p:cNvPr id="8" name="Rectangle : coins arrondis 10">
            <a:extLst>
              <a:ext uri="{FF2B5EF4-FFF2-40B4-BE49-F238E27FC236}">
                <a16:creationId xmlns:a16="http://schemas.microsoft.com/office/drawing/2014/main" id="{E52B3B7D-DF51-4113-42DF-C27EA359ADBB}"/>
              </a:ext>
            </a:extLst>
          </p:cNvPr>
          <p:cNvSpPr/>
          <p:nvPr/>
        </p:nvSpPr>
        <p:spPr>
          <a:xfrm>
            <a:off x="6096003" y="1085091"/>
            <a:ext cx="5333996" cy="5203950"/>
          </a:xfrm>
          <a:custGeom>
            <a:avLst/>
            <a:gdLst>
              <a:gd name="f0" fmla="val 10800000"/>
              <a:gd name="f1" fmla="val 5400000"/>
              <a:gd name="f2" fmla="val 16200000"/>
              <a:gd name="f3" fmla="val w"/>
              <a:gd name="f4" fmla="val h"/>
              <a:gd name="f5" fmla="val ss"/>
              <a:gd name="f6" fmla="val 0"/>
              <a:gd name="f7" fmla="*/ 5419351 1 1725033"/>
              <a:gd name="f8" fmla="val 45"/>
              <a:gd name="f9" fmla="val 2979"/>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FFFFFF"/>
          </a:solidFill>
          <a:ln w="9528" cap="flat">
            <a:solidFill>
              <a:srgbClr val="E2E8F0"/>
            </a:solidFill>
            <a:prstDash val="solid"/>
            <a:miter/>
          </a:ln>
          <a:effectLst>
            <a:outerShdw dist="19046" dir="5400000" algn="tl">
              <a:srgbClr val="000000">
                <a:alpha val="63000"/>
              </a:srgbClr>
            </a:outerShdw>
          </a:effectLst>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Display"/>
            </a:endParaRPr>
          </a:p>
        </p:txBody>
      </p:sp>
      <p:sp>
        <p:nvSpPr>
          <p:cNvPr id="9" name="Rectangle 13">
            <a:extLst>
              <a:ext uri="{FF2B5EF4-FFF2-40B4-BE49-F238E27FC236}">
                <a16:creationId xmlns:a16="http://schemas.microsoft.com/office/drawing/2014/main" id="{BD514A1C-33AC-1675-D4B0-74921DFDCBE9}"/>
              </a:ext>
            </a:extLst>
          </p:cNvPr>
          <p:cNvSpPr/>
          <p:nvPr/>
        </p:nvSpPr>
        <p:spPr>
          <a:xfrm>
            <a:off x="6248396" y="1698113"/>
            <a:ext cx="5029200" cy="4204840"/>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r>
              <a:rPr lang="en-US" sz="1200" b="0" i="0" u="none" strike="noStrike" kern="1200" cap="none" spc="0" baseline="0">
                <a:solidFill>
                  <a:srgbClr val="334155"/>
                </a:solidFill>
                <a:uFillTx/>
                <a:latin typeface="Aptos"/>
              </a:rPr>
              <a:t>This is the representation of a data.</a:t>
            </a:r>
            <a:r>
              <a:rPr lang="en-US" sz="1200" b="0" i="0" u="none" strike="noStrike" kern="0" cap="none" spc="0" baseline="0">
                <a:solidFill>
                  <a:srgbClr val="334155"/>
                </a:solidFill>
                <a:uFillTx/>
                <a:latin typeface="Aptos"/>
              </a:rPr>
              <a:t> </a:t>
            </a:r>
            <a:r>
              <a:rPr lang="en-US" sz="1200" b="0" i="0" u="none" strike="noStrike" kern="1200" cap="none" spc="0" baseline="0">
                <a:solidFill>
                  <a:srgbClr val="334155"/>
                </a:solidFill>
                <a:uFillTx/>
                <a:latin typeface="Aptos"/>
              </a:rPr>
              <a:t>We can recognize 5 main blocks :</a:t>
            </a: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r>
              <a:rPr lang="en-US" sz="1200" b="0" i="0" u="none" strike="noStrike" kern="1200" cap="none" spc="0" baseline="0">
                <a:solidFill>
                  <a:srgbClr val="334155"/>
                </a:solidFill>
                <a:uFillTx/>
                <a:latin typeface="Aptos"/>
              </a:rPr>
              <a:t> </a:t>
            </a:r>
            <a:br>
              <a:rPr lang="en-US" sz="1200" b="0" i="0" u="none" strike="noStrike" kern="1200" cap="none" spc="0" baseline="0">
                <a:solidFill>
                  <a:srgbClr val="334155"/>
                </a:solidFill>
                <a:uFillTx/>
                <a:latin typeface="Aptos"/>
              </a:rPr>
            </a:br>
            <a:r>
              <a:rPr lang="en-US" sz="1200" b="0" i="0" u="none" strike="noStrike" kern="1200" cap="none" spc="0" baseline="0">
                <a:solidFill>
                  <a:srgbClr val="FFFFFF"/>
                </a:solidFill>
                <a:highlight>
                  <a:srgbClr val="808080"/>
                </a:highlight>
                <a:uFillTx/>
                <a:latin typeface="Consolas" pitchFamily="49"/>
              </a:rPr>
              <a:t>Name</a:t>
            </a:r>
            <a:r>
              <a:rPr lang="en-US" sz="1200" b="0" i="0" u="none" strike="noStrike" kern="1200" cap="none" spc="0" baseline="0">
                <a:solidFill>
                  <a:srgbClr val="334155"/>
                </a:solidFill>
                <a:uFillTx/>
                <a:latin typeface="Aptos"/>
              </a:rPr>
              <a:t> : is the label shown to the user </a:t>
            </a: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br>
              <a:rPr lang="en-US" sz="1200" b="0" i="0" u="none" strike="noStrike" kern="1200" cap="none" spc="0" baseline="0">
                <a:solidFill>
                  <a:srgbClr val="334155"/>
                </a:solidFill>
                <a:uFillTx/>
                <a:latin typeface="Aptos"/>
              </a:rPr>
            </a:br>
            <a:r>
              <a:rPr lang="en-US" sz="1200" b="0" i="0" u="none" strike="noStrike" kern="1200" cap="none" spc="0" baseline="0">
                <a:solidFill>
                  <a:srgbClr val="FFFFFF"/>
                </a:solidFill>
                <a:highlight>
                  <a:srgbClr val="800000"/>
                </a:highlight>
                <a:uFillTx/>
                <a:latin typeface="Consolas" pitchFamily="49"/>
              </a:rPr>
              <a:t>Link</a:t>
            </a:r>
            <a:r>
              <a:rPr lang="en-US" sz="1200" b="0" i="0" u="none" strike="noStrike" kern="1200" cap="none" spc="0" baseline="0">
                <a:solidFill>
                  <a:srgbClr val="334155"/>
                </a:solidFill>
                <a:uFillTx/>
                <a:latin typeface="Aptos"/>
              </a:rPr>
              <a:t> : points to the raw source file stored in the project so the user can open or download it</a:t>
            </a: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br>
              <a:rPr lang="en-US" sz="1200" b="0" i="0" u="none" strike="noStrike" kern="1200" cap="none" spc="0" baseline="0">
                <a:solidFill>
                  <a:srgbClr val="334155"/>
                </a:solidFill>
                <a:uFillTx/>
                <a:latin typeface="Aptos"/>
              </a:rPr>
            </a:br>
            <a:r>
              <a:rPr lang="en-US" sz="1200" b="0" i="0" u="none" strike="noStrike" kern="1200" cap="none" spc="0" baseline="0">
                <a:solidFill>
                  <a:srgbClr val="FFFFFF"/>
                </a:solidFill>
                <a:highlight>
                  <a:srgbClr val="008000"/>
                </a:highlight>
                <a:uFillTx/>
                <a:latin typeface="Consolas" pitchFamily="49"/>
              </a:rPr>
              <a:t>DNV_path</a:t>
            </a:r>
            <a:r>
              <a:rPr lang="en-US" sz="1200" b="0" i="0" u="none" strike="noStrike" kern="1200" cap="none" spc="0" baseline="0">
                <a:solidFill>
                  <a:srgbClr val="334155"/>
                </a:solidFill>
                <a:uFillTx/>
                <a:latin typeface="Aptos"/>
              </a:rPr>
              <a:t> : places the same information in the DNV tree on the right if the path is valid</a:t>
            </a: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r>
              <a:rPr lang="en-US" sz="1200" b="0" i="0" u="none" strike="noStrike" kern="1200" cap="none" spc="0" baseline="0">
                <a:solidFill>
                  <a:srgbClr val="FFFFFF"/>
                </a:solidFill>
                <a:highlight>
                  <a:srgbClr val="800080"/>
                </a:highlight>
                <a:uFillTx/>
                <a:latin typeface="Consolas" pitchFamily="49"/>
              </a:rPr>
              <a:t>Value</a:t>
            </a:r>
            <a:r>
              <a:rPr lang="en-US" sz="1200" b="0" i="0" u="none" strike="noStrike" kern="1200" cap="none" spc="0" baseline="0">
                <a:solidFill>
                  <a:srgbClr val="334155"/>
                </a:solidFill>
                <a:uFillTx/>
                <a:latin typeface="Aptos"/>
              </a:rPr>
              <a:t> :is the visible content on the dashboard</a:t>
            </a: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r>
              <a:rPr lang="en-US" sz="1200" b="0" i="0" u="none" strike="noStrike" kern="1200" cap="none" spc="0" baseline="0">
                <a:solidFill>
                  <a:srgbClr val="FFFFFF"/>
                </a:solidFill>
                <a:highlight>
                  <a:srgbClr val="808000"/>
                </a:highlight>
                <a:uFillTx/>
                <a:latin typeface="Consolas" pitchFamily="49"/>
              </a:rPr>
              <a:t>location</a:t>
            </a:r>
            <a:r>
              <a:rPr lang="en-US" sz="1200" b="0" i="0" u="none" strike="noStrike" kern="1200" cap="none" spc="0" baseline="0">
                <a:solidFill>
                  <a:srgbClr val="334155"/>
                </a:solidFill>
                <a:uFillTx/>
                <a:latin typeface="Aptos"/>
              </a:rPr>
              <a:t> : decides in which left-side section or accordion the information appears </a:t>
            </a:r>
            <a:br>
              <a:rPr lang="en-US" sz="1200" b="0" i="0" u="none" strike="noStrike" kern="1200" cap="none" spc="0" baseline="0">
                <a:solidFill>
                  <a:srgbClr val="334155"/>
                </a:solidFill>
                <a:uFillTx/>
                <a:latin typeface="Aptos"/>
              </a:rPr>
            </a:br>
            <a:br>
              <a:rPr lang="en-US" sz="1200" b="0" i="0" u="none" strike="noStrike" kern="1200" cap="none" spc="0" baseline="0">
                <a:solidFill>
                  <a:srgbClr val="334155"/>
                </a:solidFill>
                <a:uFillTx/>
                <a:latin typeface="Aptos"/>
              </a:rPr>
            </a:br>
            <a:endParaRPr lang="en-US" sz="1200" b="0" i="0" u="none" strike="noStrike" kern="1200" cap="none" spc="0" baseline="0">
              <a:solidFill>
                <a:srgbClr val="334155"/>
              </a:solidFill>
              <a:uFillTx/>
              <a:latin typeface="Aptos"/>
            </a:endParaRPr>
          </a:p>
        </p:txBody>
      </p:sp>
      <p:sp>
        <p:nvSpPr>
          <p:cNvPr id="10" name="Rectangle 18">
            <a:extLst>
              <a:ext uri="{FF2B5EF4-FFF2-40B4-BE49-F238E27FC236}">
                <a16:creationId xmlns:a16="http://schemas.microsoft.com/office/drawing/2014/main" id="{D52BBAD4-78AC-6B72-9F31-B8DFB8D2B853}"/>
              </a:ext>
            </a:extLst>
          </p:cNvPr>
          <p:cNvSpPr/>
          <p:nvPr/>
        </p:nvSpPr>
        <p:spPr>
          <a:xfrm>
            <a:off x="571500" y="6534146"/>
            <a:ext cx="3047996" cy="190496"/>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100000"/>
              </a:lnSpc>
              <a:spcBef>
                <a:spcPts val="0"/>
              </a:spcBef>
              <a:spcAft>
                <a:spcPts val="0"/>
              </a:spcAft>
              <a:buNone/>
              <a:tabLst/>
              <a:defRPr sz="825" b="0" i="0" u="none" strike="noStrike" kern="0" cap="none" spc="0" baseline="0">
                <a:solidFill>
                  <a:srgbClr val="64748B"/>
                </a:solidFill>
                <a:uFillTx/>
              </a:defRPr>
            </a:pPr>
            <a:r>
              <a:rPr lang="en-US" sz="825" b="0" i="0" u="none" strike="noStrike" kern="1200" cap="none" spc="0" baseline="0">
                <a:solidFill>
                  <a:srgbClr val="64748B"/>
                </a:solidFill>
                <a:uFillTx/>
                <a:latin typeface="Aptos"/>
              </a:rPr>
              <a:t>Data Hub guide - new vessel workflow</a:t>
            </a:r>
          </a:p>
        </p:txBody>
      </p:sp>
      <p:sp>
        <p:nvSpPr>
          <p:cNvPr id="11" name="Rectangle 19">
            <a:extLst>
              <a:ext uri="{FF2B5EF4-FFF2-40B4-BE49-F238E27FC236}">
                <a16:creationId xmlns:a16="http://schemas.microsoft.com/office/drawing/2014/main" id="{EB21A432-6FC4-C43D-A9F5-D94DD8D1C86A}"/>
              </a:ext>
            </a:extLst>
          </p:cNvPr>
          <p:cNvSpPr/>
          <p:nvPr/>
        </p:nvSpPr>
        <p:spPr>
          <a:xfrm>
            <a:off x="11144250" y="6496053"/>
            <a:ext cx="381003" cy="228600"/>
          </a:xfrm>
          <a:prstGeom prst="rect">
            <a:avLst/>
          </a:prstGeom>
          <a:noFill/>
          <a:ln cap="flat">
            <a:noFill/>
            <a:prstDash val="solid"/>
          </a:ln>
        </p:spPr>
        <p:txBody>
          <a:bodyPr vert="horz" wrap="square" lIns="0" tIns="0" rIns="0" bIns="0" anchor="t" anchorCtr="0" compatLnSpc="1">
            <a:normAutofit/>
          </a:bodyPr>
          <a:lstStyle/>
          <a:p>
            <a:pPr marL="0" marR="0" lvl="0" indent="0" algn="r" defTabSz="914400" rtl="0" fontAlgn="auto" hangingPunct="1">
              <a:lnSpc>
                <a:spcPct val="100000"/>
              </a:lnSpc>
              <a:spcBef>
                <a:spcPts val="0"/>
              </a:spcBef>
              <a:spcAft>
                <a:spcPts val="0"/>
              </a:spcAft>
              <a:buNone/>
              <a:tabLst/>
              <a:defRPr sz="900" b="1" i="0" u="none" strike="noStrike" kern="0" cap="none" spc="0" baseline="0">
                <a:solidFill>
                  <a:srgbClr val="64748B"/>
                </a:solidFill>
                <a:uFillTx/>
              </a:defRPr>
            </a:pPr>
            <a:r>
              <a:rPr lang="fr-FR" sz="900" b="1" dirty="0">
                <a:solidFill>
                  <a:srgbClr val="64748B"/>
                </a:solidFill>
                <a:latin typeface="Aptos"/>
              </a:rPr>
              <a:t>7</a:t>
            </a:r>
            <a:endParaRPr lang="fr-FR" sz="900" b="1" i="0" u="none" strike="noStrike" kern="1200" cap="none" spc="0" baseline="0" dirty="0">
              <a:solidFill>
                <a:srgbClr val="64748B"/>
              </a:solidFill>
              <a:uFillTx/>
              <a:latin typeface="Apto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 coins arrondis 20">
            <a:extLst>
              <a:ext uri="{FF2B5EF4-FFF2-40B4-BE49-F238E27FC236}">
                <a16:creationId xmlns:a16="http://schemas.microsoft.com/office/drawing/2014/main" id="{2B78C87E-7BCD-64C8-839F-AD25B5B65CD2}"/>
              </a:ext>
            </a:extLst>
          </p:cNvPr>
          <p:cNvSpPr/>
          <p:nvPr/>
        </p:nvSpPr>
        <p:spPr>
          <a:xfrm>
            <a:off x="571500" y="361946"/>
            <a:ext cx="1619246" cy="285750"/>
          </a:xfrm>
          <a:custGeom>
            <a:avLst/>
            <a:gdLst>
              <a:gd name="f0" fmla="val 10800000"/>
              <a:gd name="f1" fmla="val 5400000"/>
              <a:gd name="f2" fmla="val 16200000"/>
              <a:gd name="f3" fmla="val w"/>
              <a:gd name="f4" fmla="val h"/>
              <a:gd name="f5" fmla="val ss"/>
              <a:gd name="f6" fmla="val 0"/>
              <a:gd name="f7" fmla="*/ 5419351 1 1725033"/>
              <a:gd name="f8" fmla="val 45"/>
              <a:gd name="f9" fmla="val 10800"/>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2553D6"/>
          </a:solidFill>
          <a:ln w="0" cap="flat">
            <a:solidFill>
              <a:srgbClr val="2553D6"/>
            </a:solidFill>
            <a:prstDash val="solid"/>
            <a:miter/>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a:endParaRPr>
          </a:p>
        </p:txBody>
      </p:sp>
      <p:sp>
        <p:nvSpPr>
          <p:cNvPr id="3" name="Rectangle 1">
            <a:extLst>
              <a:ext uri="{FF2B5EF4-FFF2-40B4-BE49-F238E27FC236}">
                <a16:creationId xmlns:a16="http://schemas.microsoft.com/office/drawing/2014/main" id="{1DD4140D-0546-EEEB-B461-866CC900FFFE}"/>
              </a:ext>
            </a:extLst>
          </p:cNvPr>
          <p:cNvSpPr/>
          <p:nvPr/>
        </p:nvSpPr>
        <p:spPr>
          <a:xfrm>
            <a:off x="571500" y="361946"/>
            <a:ext cx="1619246" cy="285750"/>
          </a:xfrm>
          <a:prstGeom prst="rect">
            <a:avLst/>
          </a:prstGeom>
          <a:noFill/>
          <a:ln cap="flat">
            <a:noFill/>
            <a:prstDash val="solid"/>
          </a:ln>
        </p:spPr>
        <p:txBody>
          <a:bodyPr vert="horz" wrap="square" lIns="76196" tIns="76196" rIns="76196" bIns="76196" anchor="ctr" anchorCtr="1" compatLnSpc="1">
            <a:normAutofit/>
          </a:bodyPr>
          <a:lstStyle/>
          <a:p>
            <a:pPr marL="0" marR="0" lvl="0" indent="0" algn="ctr" defTabSz="914400" rtl="0" fontAlgn="auto" hangingPunct="1">
              <a:lnSpc>
                <a:spcPct val="80000"/>
              </a:lnSpc>
              <a:spcBef>
                <a:spcPts val="0"/>
              </a:spcBef>
              <a:spcAft>
                <a:spcPts val="0"/>
              </a:spcAft>
              <a:buNone/>
              <a:tabLst/>
              <a:defRPr sz="1000" b="1" i="0" u="none" strike="noStrike" kern="0" cap="none" spc="0" baseline="0">
                <a:solidFill>
                  <a:srgbClr val="FFFFFF"/>
                </a:solidFill>
                <a:uFillTx/>
              </a:defRPr>
            </a:pPr>
            <a:r>
              <a:rPr lang="fr-FR" sz="1000" b="1" i="0" u="none" strike="noStrike" kern="1200" cap="none" spc="0" baseline="0">
                <a:solidFill>
                  <a:srgbClr val="FFFFFF"/>
                </a:solidFill>
                <a:uFillTx/>
                <a:latin typeface="Aptos"/>
              </a:rPr>
              <a:t>BUILD STEP 4</a:t>
            </a:r>
          </a:p>
        </p:txBody>
      </p:sp>
      <p:sp>
        <p:nvSpPr>
          <p:cNvPr id="4" name="Rectangle 2">
            <a:extLst>
              <a:ext uri="{FF2B5EF4-FFF2-40B4-BE49-F238E27FC236}">
                <a16:creationId xmlns:a16="http://schemas.microsoft.com/office/drawing/2014/main" id="{3DE92AC3-88D8-FB90-B4C6-90E949417731}"/>
              </a:ext>
            </a:extLst>
          </p:cNvPr>
          <p:cNvSpPr/>
          <p:nvPr/>
        </p:nvSpPr>
        <p:spPr>
          <a:xfrm>
            <a:off x="571500" y="713990"/>
            <a:ext cx="11048996" cy="476246"/>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100000"/>
              </a:lnSpc>
              <a:spcBef>
                <a:spcPts val="0"/>
              </a:spcBef>
              <a:spcAft>
                <a:spcPts val="0"/>
              </a:spcAft>
              <a:buNone/>
              <a:tabLst/>
              <a:defRPr sz="3000" b="1" i="0" u="none" strike="noStrike" kern="0" cap="none" spc="0" baseline="0">
                <a:solidFill>
                  <a:srgbClr val="0F172A"/>
                </a:solidFill>
                <a:uFillTx/>
              </a:defRPr>
            </a:pPr>
            <a:r>
              <a:rPr lang="en-US" sz="3000" b="1" i="0" u="none" strike="noStrike" kern="1200" cap="none" spc="0" baseline="0">
                <a:solidFill>
                  <a:srgbClr val="0F172A"/>
                </a:solidFill>
                <a:uFillTx/>
                <a:latin typeface="Aptos"/>
              </a:rPr>
              <a:t>Representation of </a:t>
            </a:r>
            <a:r>
              <a:rPr lang="fr-FR" sz="3000" b="1" i="0" u="none" strike="noStrike" kern="1200" cap="none" spc="0" baseline="0">
                <a:solidFill>
                  <a:srgbClr val="0F172A"/>
                </a:solidFill>
                <a:uFillTx/>
                <a:latin typeface="Aptos"/>
              </a:rPr>
              <a:t>Link</a:t>
            </a:r>
          </a:p>
          <a:p>
            <a:pPr marL="0" marR="0" lvl="0" indent="0" algn="l" defTabSz="914400" rtl="0" fontAlgn="auto" hangingPunct="1">
              <a:lnSpc>
                <a:spcPct val="100000"/>
              </a:lnSpc>
              <a:spcBef>
                <a:spcPts val="0"/>
              </a:spcBef>
              <a:spcAft>
                <a:spcPts val="0"/>
              </a:spcAft>
              <a:buNone/>
              <a:tabLst/>
              <a:defRPr sz="3000" b="1" i="0" u="none" strike="noStrike" kern="0" cap="none" spc="0" baseline="0">
                <a:solidFill>
                  <a:srgbClr val="0F172A"/>
                </a:solidFill>
                <a:uFillTx/>
              </a:defRPr>
            </a:pPr>
            <a:endParaRPr lang="en-US" sz="3000" b="1" i="0" u="none" strike="noStrike" kern="1200" cap="none" spc="0" baseline="0">
              <a:solidFill>
                <a:srgbClr val="0F172A"/>
              </a:solidFill>
              <a:uFillTx/>
              <a:latin typeface="Aptos"/>
            </a:endParaRPr>
          </a:p>
        </p:txBody>
      </p:sp>
      <p:sp>
        <p:nvSpPr>
          <p:cNvPr id="5" name="Rectangle 3">
            <a:extLst>
              <a:ext uri="{FF2B5EF4-FFF2-40B4-BE49-F238E27FC236}">
                <a16:creationId xmlns:a16="http://schemas.microsoft.com/office/drawing/2014/main" id="{0E43A88C-9A01-CEC3-6377-32D9651710CC}"/>
              </a:ext>
            </a:extLst>
          </p:cNvPr>
          <p:cNvSpPr/>
          <p:nvPr/>
        </p:nvSpPr>
        <p:spPr>
          <a:xfrm>
            <a:off x="571500" y="1554745"/>
            <a:ext cx="11048996" cy="323853"/>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100000"/>
              </a:lnSpc>
              <a:spcBef>
                <a:spcPts val="0"/>
              </a:spcBef>
              <a:spcAft>
                <a:spcPts val="0"/>
              </a:spcAft>
              <a:buNone/>
              <a:tabLst/>
              <a:defRPr sz="1350" b="0" i="0" u="none" strike="noStrike" kern="0" cap="none" spc="0" baseline="0">
                <a:solidFill>
                  <a:srgbClr val="475569"/>
                </a:solidFill>
                <a:uFillTx/>
              </a:defRPr>
            </a:pPr>
            <a:endParaRPr lang="fr-FR" sz="1350" b="0" i="0" u="none" strike="noStrike" kern="1200" cap="none" spc="0" baseline="0">
              <a:solidFill>
                <a:srgbClr val="475569"/>
              </a:solidFill>
              <a:uFillTx/>
              <a:latin typeface="Aptos"/>
            </a:endParaRPr>
          </a:p>
        </p:txBody>
      </p:sp>
      <p:sp>
        <p:nvSpPr>
          <p:cNvPr id="6" name="Rectangle : coins arrondis 10">
            <a:extLst>
              <a:ext uri="{FF2B5EF4-FFF2-40B4-BE49-F238E27FC236}">
                <a16:creationId xmlns:a16="http://schemas.microsoft.com/office/drawing/2014/main" id="{77351BC7-4905-CEA3-60E7-9D8CB3DEA992}"/>
              </a:ext>
            </a:extLst>
          </p:cNvPr>
          <p:cNvSpPr/>
          <p:nvPr/>
        </p:nvSpPr>
        <p:spPr>
          <a:xfrm>
            <a:off x="914400" y="1643524"/>
            <a:ext cx="10515600" cy="695702"/>
          </a:xfrm>
          <a:custGeom>
            <a:avLst/>
            <a:gdLst>
              <a:gd name="f0" fmla="val 10800000"/>
              <a:gd name="f1" fmla="val 5400000"/>
              <a:gd name="f2" fmla="val 16200000"/>
              <a:gd name="f3" fmla="val w"/>
              <a:gd name="f4" fmla="val h"/>
              <a:gd name="f5" fmla="val ss"/>
              <a:gd name="f6" fmla="val 0"/>
              <a:gd name="f7" fmla="*/ 5419351 1 1725033"/>
              <a:gd name="f8" fmla="val 45"/>
              <a:gd name="f9" fmla="val 2979"/>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FFFFFF"/>
          </a:solidFill>
          <a:ln w="9528" cap="flat">
            <a:solidFill>
              <a:srgbClr val="E2E8F0"/>
            </a:solidFill>
            <a:prstDash val="solid"/>
            <a:miter/>
          </a:ln>
          <a:effectLst>
            <a:outerShdw dist="19046" dir="5400000" algn="tl">
              <a:srgbClr val="000000">
                <a:alpha val="63000"/>
              </a:srgbClr>
            </a:outerShdw>
          </a:effectLst>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Display"/>
            </a:endParaRPr>
          </a:p>
        </p:txBody>
      </p:sp>
      <p:sp>
        <p:nvSpPr>
          <p:cNvPr id="7" name="Rectangle 13">
            <a:extLst>
              <a:ext uri="{FF2B5EF4-FFF2-40B4-BE49-F238E27FC236}">
                <a16:creationId xmlns:a16="http://schemas.microsoft.com/office/drawing/2014/main" id="{E5231685-942B-03AE-D2C4-51EF5BB7476D}"/>
              </a:ext>
            </a:extLst>
          </p:cNvPr>
          <p:cNvSpPr/>
          <p:nvPr/>
        </p:nvSpPr>
        <p:spPr>
          <a:xfrm>
            <a:off x="1143000" y="1802401"/>
            <a:ext cx="10134596" cy="695702"/>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r>
              <a:rPr lang="fr-FR" sz="1200" b="0" i="0" u="none" strike="noStrike" kern="0" cap="none" spc="0" baseline="0">
                <a:solidFill>
                  <a:srgbClr val="334155"/>
                </a:solidFill>
                <a:uFillTx/>
                <a:latin typeface="Aptos"/>
              </a:rPr>
              <a:t>Due to the fact that data can come from different documents, a value can be connected to different paths.</a:t>
            </a:r>
            <a:endParaRPr lang="en-US" sz="1200" b="0" i="0" u="none" strike="noStrike" kern="1200" cap="none" spc="0" baseline="0">
              <a:solidFill>
                <a:srgbClr val="334155"/>
              </a:solidFill>
              <a:uFillTx/>
              <a:latin typeface="Aptos"/>
            </a:endParaRPr>
          </a:p>
        </p:txBody>
      </p:sp>
      <p:sp>
        <p:nvSpPr>
          <p:cNvPr id="8" name="Rectangle 18">
            <a:extLst>
              <a:ext uri="{FF2B5EF4-FFF2-40B4-BE49-F238E27FC236}">
                <a16:creationId xmlns:a16="http://schemas.microsoft.com/office/drawing/2014/main" id="{04A561D8-D4A5-8A70-7FCA-84896DE3A8D2}"/>
              </a:ext>
            </a:extLst>
          </p:cNvPr>
          <p:cNvSpPr/>
          <p:nvPr/>
        </p:nvSpPr>
        <p:spPr>
          <a:xfrm>
            <a:off x="571500" y="6534146"/>
            <a:ext cx="3047996" cy="190496"/>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100000"/>
              </a:lnSpc>
              <a:spcBef>
                <a:spcPts val="0"/>
              </a:spcBef>
              <a:spcAft>
                <a:spcPts val="0"/>
              </a:spcAft>
              <a:buNone/>
              <a:tabLst/>
              <a:defRPr sz="825" b="0" i="0" u="none" strike="noStrike" kern="0" cap="none" spc="0" baseline="0">
                <a:solidFill>
                  <a:srgbClr val="64748B"/>
                </a:solidFill>
                <a:uFillTx/>
              </a:defRPr>
            </a:pPr>
            <a:r>
              <a:rPr lang="en-US" sz="825" b="0" i="0" u="none" strike="noStrike" kern="1200" cap="none" spc="0" baseline="0">
                <a:solidFill>
                  <a:srgbClr val="64748B"/>
                </a:solidFill>
                <a:uFillTx/>
                <a:latin typeface="Aptos"/>
              </a:rPr>
              <a:t>Data Hub guide - new vessel workflow</a:t>
            </a:r>
          </a:p>
        </p:txBody>
      </p:sp>
      <p:sp>
        <p:nvSpPr>
          <p:cNvPr id="9" name="Rectangle 19">
            <a:extLst>
              <a:ext uri="{FF2B5EF4-FFF2-40B4-BE49-F238E27FC236}">
                <a16:creationId xmlns:a16="http://schemas.microsoft.com/office/drawing/2014/main" id="{38F8AB01-C8D8-0178-DC2B-2F1C1F8679D8}"/>
              </a:ext>
            </a:extLst>
          </p:cNvPr>
          <p:cNvSpPr/>
          <p:nvPr/>
        </p:nvSpPr>
        <p:spPr>
          <a:xfrm>
            <a:off x="11144250" y="6496053"/>
            <a:ext cx="381003" cy="228600"/>
          </a:xfrm>
          <a:prstGeom prst="rect">
            <a:avLst/>
          </a:prstGeom>
          <a:noFill/>
          <a:ln cap="flat">
            <a:noFill/>
            <a:prstDash val="solid"/>
          </a:ln>
        </p:spPr>
        <p:txBody>
          <a:bodyPr vert="horz" wrap="square" lIns="0" tIns="0" rIns="0" bIns="0" anchor="t" anchorCtr="0" compatLnSpc="1">
            <a:normAutofit/>
          </a:bodyPr>
          <a:lstStyle/>
          <a:p>
            <a:pPr marL="0" marR="0" lvl="0" indent="0" algn="r" defTabSz="914400" rtl="0" fontAlgn="auto" hangingPunct="1">
              <a:lnSpc>
                <a:spcPct val="100000"/>
              </a:lnSpc>
              <a:spcBef>
                <a:spcPts val="0"/>
              </a:spcBef>
              <a:spcAft>
                <a:spcPts val="0"/>
              </a:spcAft>
              <a:buNone/>
              <a:tabLst/>
              <a:defRPr sz="900" b="1" i="0" u="none" strike="noStrike" kern="0" cap="none" spc="0" baseline="0">
                <a:solidFill>
                  <a:srgbClr val="64748B"/>
                </a:solidFill>
                <a:uFillTx/>
              </a:defRPr>
            </a:pPr>
            <a:r>
              <a:rPr lang="fr-FR" sz="900" b="1" dirty="0">
                <a:solidFill>
                  <a:srgbClr val="64748B"/>
                </a:solidFill>
                <a:latin typeface="Aptos"/>
              </a:rPr>
              <a:t>8</a:t>
            </a:r>
            <a:endParaRPr lang="fr-FR" sz="900" b="1" i="0" u="none" strike="noStrike" kern="1200" cap="none" spc="0" baseline="0" dirty="0">
              <a:solidFill>
                <a:srgbClr val="64748B"/>
              </a:solidFill>
              <a:uFillTx/>
              <a:latin typeface="Aptos"/>
            </a:endParaRPr>
          </a:p>
        </p:txBody>
      </p:sp>
      <p:sp>
        <p:nvSpPr>
          <p:cNvPr id="10" name="Rectangle : coins arrondis 32">
            <a:extLst>
              <a:ext uri="{FF2B5EF4-FFF2-40B4-BE49-F238E27FC236}">
                <a16:creationId xmlns:a16="http://schemas.microsoft.com/office/drawing/2014/main" id="{F87027A0-D490-2E55-E493-7BBDA3D47BC8}"/>
              </a:ext>
            </a:extLst>
          </p:cNvPr>
          <p:cNvSpPr/>
          <p:nvPr/>
        </p:nvSpPr>
        <p:spPr>
          <a:xfrm>
            <a:off x="1034415" y="2736908"/>
            <a:ext cx="4555485" cy="2470215"/>
          </a:xfrm>
          <a:custGeom>
            <a:avLst/>
            <a:gdLst>
              <a:gd name="f0" fmla="val 10800000"/>
              <a:gd name="f1" fmla="val 5400000"/>
              <a:gd name="f2" fmla="val 16200000"/>
              <a:gd name="f3" fmla="val w"/>
              <a:gd name="f4" fmla="val h"/>
              <a:gd name="f5" fmla="val ss"/>
              <a:gd name="f6" fmla="val 0"/>
              <a:gd name="f7" fmla="*/ 5419351 1 1725033"/>
              <a:gd name="f8" fmla="val 45"/>
              <a:gd name="f9" fmla="val 2979"/>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FFFFFF"/>
          </a:solidFill>
          <a:ln w="9528" cap="flat">
            <a:solidFill>
              <a:srgbClr val="E2E8F0"/>
            </a:solidFill>
            <a:prstDash val="solid"/>
            <a:miter/>
          </a:ln>
          <a:effectLst>
            <a:outerShdw dist="19046" dir="5400000" algn="tl">
              <a:srgbClr val="000000">
                <a:alpha val="63000"/>
              </a:srgbClr>
            </a:outerShdw>
          </a:effectLst>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Display"/>
            </a:endParaRPr>
          </a:p>
        </p:txBody>
      </p:sp>
      <p:sp>
        <p:nvSpPr>
          <p:cNvPr id="11" name="Rectangle 36">
            <a:extLst>
              <a:ext uri="{FF2B5EF4-FFF2-40B4-BE49-F238E27FC236}">
                <a16:creationId xmlns:a16="http://schemas.microsoft.com/office/drawing/2014/main" id="{8A3ECE60-FED4-EC18-F817-1BB681C964E3}"/>
              </a:ext>
            </a:extLst>
          </p:cNvPr>
          <p:cNvSpPr/>
          <p:nvPr/>
        </p:nvSpPr>
        <p:spPr>
          <a:xfrm>
            <a:off x="1200150" y="3000375"/>
            <a:ext cx="4295174" cy="3581403"/>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r>
              <a:rPr lang="en-US" sz="1200" b="0" i="0" u="none" strike="noStrike" kern="1200" cap="none" spc="0" baseline="0">
                <a:solidFill>
                  <a:srgbClr val="334155"/>
                </a:solidFill>
                <a:uFillTx/>
                <a:latin typeface="Aptos"/>
              </a:rPr>
              <a:t>Case 1 : Only one path</a:t>
            </a: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r>
              <a:rPr lang="fr-FR" sz="1200" b="0" i="0" u="none" strike="noStrike" kern="0" cap="none" spc="0" baseline="0">
                <a:solidFill>
                  <a:srgbClr val="334155"/>
                </a:solidFill>
                <a:uFillTx/>
                <a:latin typeface="Aptos"/>
              </a:rPr>
              <a:t>We can write it this way and move to the next key, “DNV_path”.</a:t>
            </a:r>
            <a:endParaRPr lang="en-US" sz="1200" b="0" i="0" u="none" strike="noStrike" kern="1200" cap="none" spc="0" baseline="0">
              <a:solidFill>
                <a:srgbClr val="334155"/>
              </a:solidFill>
              <a:uFillTx/>
              <a:latin typeface="Aptos"/>
            </a:endParaRPr>
          </a:p>
        </p:txBody>
      </p:sp>
      <p:sp>
        <p:nvSpPr>
          <p:cNvPr id="12" name="Rectangle : coins arrondis 64">
            <a:extLst>
              <a:ext uri="{FF2B5EF4-FFF2-40B4-BE49-F238E27FC236}">
                <a16:creationId xmlns:a16="http://schemas.microsoft.com/office/drawing/2014/main" id="{B6705413-68A7-547A-CA71-69ED3F0E8847}"/>
              </a:ext>
            </a:extLst>
          </p:cNvPr>
          <p:cNvSpPr/>
          <p:nvPr/>
        </p:nvSpPr>
        <p:spPr>
          <a:xfrm>
            <a:off x="1089022" y="3431130"/>
            <a:ext cx="4453292" cy="807223"/>
          </a:xfrm>
          <a:custGeom>
            <a:avLst/>
            <a:gdLst>
              <a:gd name="f0" fmla="val 10800000"/>
              <a:gd name="f1" fmla="val 5400000"/>
              <a:gd name="f2" fmla="val 16200000"/>
              <a:gd name="f3" fmla="val w"/>
              <a:gd name="f4" fmla="val h"/>
              <a:gd name="f5" fmla="val ss"/>
              <a:gd name="f6" fmla="val 0"/>
              <a:gd name="f7" fmla="*/ 5419351 1 1725033"/>
              <a:gd name="f8" fmla="val 45"/>
              <a:gd name="f9" fmla="val 868"/>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0B1220"/>
          </a:solidFill>
          <a:ln w="9528" cap="flat">
            <a:solidFill>
              <a:srgbClr val="1E293B"/>
            </a:solidFill>
            <a:prstDash val="solid"/>
            <a:miter/>
          </a:ln>
          <a:effectLst>
            <a:outerShdw dist="19046" dir="5400000" algn="tl">
              <a:srgbClr val="000000">
                <a:alpha val="63000"/>
              </a:srgbClr>
            </a:outerShdw>
          </a:effectLst>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Display"/>
            </a:endParaRPr>
          </a:p>
        </p:txBody>
      </p:sp>
      <p:sp>
        <p:nvSpPr>
          <p:cNvPr id="13" name="Rectangle 66">
            <a:extLst>
              <a:ext uri="{FF2B5EF4-FFF2-40B4-BE49-F238E27FC236}">
                <a16:creationId xmlns:a16="http://schemas.microsoft.com/office/drawing/2014/main" id="{9A267041-62AA-4EF6-2758-E289464FE132}"/>
              </a:ext>
            </a:extLst>
          </p:cNvPr>
          <p:cNvSpPr/>
          <p:nvPr/>
        </p:nvSpPr>
        <p:spPr>
          <a:xfrm>
            <a:off x="1089022" y="3538307"/>
            <a:ext cx="4991096" cy="807223"/>
          </a:xfrm>
          <a:prstGeom prst="rect">
            <a:avLst/>
          </a:prstGeom>
          <a:noFill/>
          <a:ln cap="flat">
            <a:noFill/>
            <a:prstDash val="solid"/>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000" b="0" i="0" u="none" strike="noStrike" kern="1200" cap="none" spc="0" baseline="0">
              <a:solidFill>
                <a:srgbClr val="FFFFFF"/>
              </a:solidFill>
              <a:uFillTx/>
              <a:latin typeface="Consolas" pitchFamily="49"/>
            </a:endParaRP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fr-FR" sz="1000" b="0" i="0" u="none" strike="noStrike" kern="1200" cap="none" spc="0" baseline="0">
                <a:solidFill>
                  <a:srgbClr val="FFFFFF"/>
                </a:solidFill>
                <a:uFillTx/>
                <a:latin typeface="Consolas" pitchFamily="49"/>
              </a:rPr>
              <a:t>"Link": "../raw_DATA/ALMI ATLAS.pdf",</a:t>
            </a:r>
            <a:endParaRPr lang="fr-FR" sz="1000" b="0" i="0" u="none" strike="noStrike" kern="1200" cap="none" spc="0" baseline="0">
              <a:solidFill>
                <a:srgbClr val="FFFFFF"/>
              </a:solidFill>
              <a:uFillTx/>
              <a:latin typeface="Consolas" pitchFamily="49"/>
              <a:ea typeface="Consolas"/>
              <a:cs typeface="Consolas"/>
            </a:endParaRPr>
          </a:p>
        </p:txBody>
      </p:sp>
      <p:sp>
        <p:nvSpPr>
          <p:cNvPr id="14" name="Rectangle : coins arrondis 68">
            <a:extLst>
              <a:ext uri="{FF2B5EF4-FFF2-40B4-BE49-F238E27FC236}">
                <a16:creationId xmlns:a16="http://schemas.microsoft.com/office/drawing/2014/main" id="{60EAB118-C5B1-434B-97F2-68B0EC6C3668}"/>
              </a:ext>
            </a:extLst>
          </p:cNvPr>
          <p:cNvSpPr/>
          <p:nvPr/>
        </p:nvSpPr>
        <p:spPr>
          <a:xfrm>
            <a:off x="6384285" y="2736908"/>
            <a:ext cx="4555485" cy="2470215"/>
          </a:xfrm>
          <a:custGeom>
            <a:avLst/>
            <a:gdLst>
              <a:gd name="f0" fmla="val 10800000"/>
              <a:gd name="f1" fmla="val 5400000"/>
              <a:gd name="f2" fmla="val 16200000"/>
              <a:gd name="f3" fmla="val w"/>
              <a:gd name="f4" fmla="val h"/>
              <a:gd name="f5" fmla="val ss"/>
              <a:gd name="f6" fmla="val 0"/>
              <a:gd name="f7" fmla="*/ 5419351 1 1725033"/>
              <a:gd name="f8" fmla="val 45"/>
              <a:gd name="f9" fmla="val 2979"/>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FFFFFF"/>
          </a:solidFill>
          <a:ln w="9528" cap="flat">
            <a:solidFill>
              <a:srgbClr val="E2E8F0"/>
            </a:solidFill>
            <a:prstDash val="solid"/>
            <a:miter/>
          </a:ln>
          <a:effectLst>
            <a:outerShdw dist="19046" dir="5400000" algn="tl">
              <a:srgbClr val="000000">
                <a:alpha val="63000"/>
              </a:srgbClr>
            </a:outerShdw>
          </a:effectLst>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Display"/>
            </a:endParaRPr>
          </a:p>
        </p:txBody>
      </p:sp>
      <p:sp>
        <p:nvSpPr>
          <p:cNvPr id="15" name="Rectangle 70">
            <a:extLst>
              <a:ext uri="{FF2B5EF4-FFF2-40B4-BE49-F238E27FC236}">
                <a16:creationId xmlns:a16="http://schemas.microsoft.com/office/drawing/2014/main" id="{4E030E0F-646F-ED2A-F14E-3C2B8C7AD0B8}"/>
              </a:ext>
            </a:extLst>
          </p:cNvPr>
          <p:cNvSpPr/>
          <p:nvPr/>
        </p:nvSpPr>
        <p:spPr>
          <a:xfrm>
            <a:off x="6536688" y="3036630"/>
            <a:ext cx="4295174" cy="3581403"/>
          </a:xfrm>
          <a:prstGeom prst="rect">
            <a:avLst/>
          </a:prstGeom>
          <a:noFill/>
          <a:ln cap="flat">
            <a:noFill/>
            <a:prstDash val="solid"/>
          </a:ln>
        </p:spPr>
        <p:txBody>
          <a:bodyPr vert="horz" wrap="square" lIns="0" tIns="0" rIns="0" bIns="0" anchor="t" anchorCtr="0" compatLnSpc="1">
            <a:normAutofit/>
          </a:bodyPr>
          <a:lstStyle/>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r>
              <a:rPr lang="en-US" sz="1200" b="0" i="0" u="none" strike="noStrike" kern="1200" cap="none" spc="0" baseline="0">
                <a:solidFill>
                  <a:srgbClr val="334155"/>
                </a:solidFill>
                <a:uFillTx/>
                <a:latin typeface="Aptos"/>
              </a:rPr>
              <a:t>Case 2 : Multiple paths</a:t>
            </a: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endParaRPr lang="en-US" sz="1200" b="0" i="0" u="none" strike="noStrike" kern="1200" cap="none" spc="0" baseline="0">
              <a:solidFill>
                <a:srgbClr val="334155"/>
              </a:solidFill>
              <a:uFillTx/>
              <a:latin typeface="Aptos"/>
            </a:endParaRPr>
          </a:p>
          <a:p>
            <a:pPr marL="0" marR="0" lvl="0" indent="0" algn="l" defTabSz="914400" rtl="0" fontAlgn="auto" hangingPunct="1">
              <a:lnSpc>
                <a:spcPct val="100000"/>
              </a:lnSpc>
              <a:spcBef>
                <a:spcPts val="0"/>
              </a:spcBef>
              <a:spcAft>
                <a:spcPts val="0"/>
              </a:spcAft>
              <a:buNone/>
              <a:tabLst/>
              <a:defRPr sz="1200" b="0" i="0" u="none" strike="noStrike" kern="0" cap="none" spc="0" baseline="0">
                <a:solidFill>
                  <a:srgbClr val="334155"/>
                </a:solidFill>
                <a:uFillTx/>
              </a:defRPr>
            </a:pPr>
            <a:r>
              <a:rPr lang="fr-FR" sz="1200" b="0" i="0" u="none" strike="noStrike" kern="0" cap="none" spc="0" baseline="0">
                <a:solidFill>
                  <a:srgbClr val="334155"/>
                </a:solidFill>
                <a:uFillTx/>
                <a:latin typeface="Aptos"/>
              </a:rPr>
              <a:t>We can add the other paths separated by a semicolon “;” and then move to the next key, “DNV_path”.</a:t>
            </a:r>
            <a:endParaRPr lang="en-US" sz="1200" b="0" i="0" u="none" strike="noStrike" kern="1200" cap="none" spc="0" baseline="0">
              <a:solidFill>
                <a:srgbClr val="334155"/>
              </a:solidFill>
              <a:uFillTx/>
              <a:latin typeface="Aptos"/>
            </a:endParaRPr>
          </a:p>
        </p:txBody>
      </p:sp>
      <p:sp>
        <p:nvSpPr>
          <p:cNvPr id="16" name="Rectangle : coins arrondis 72">
            <a:extLst>
              <a:ext uri="{FF2B5EF4-FFF2-40B4-BE49-F238E27FC236}">
                <a16:creationId xmlns:a16="http://schemas.microsoft.com/office/drawing/2014/main" id="{4DE9542F-8B4C-014E-CBFE-636505FD696F}"/>
              </a:ext>
            </a:extLst>
          </p:cNvPr>
          <p:cNvSpPr/>
          <p:nvPr/>
        </p:nvSpPr>
        <p:spPr>
          <a:xfrm>
            <a:off x="6379211" y="3431130"/>
            <a:ext cx="4453292" cy="807223"/>
          </a:xfrm>
          <a:custGeom>
            <a:avLst/>
            <a:gdLst>
              <a:gd name="f0" fmla="val 10800000"/>
              <a:gd name="f1" fmla="val 5400000"/>
              <a:gd name="f2" fmla="val 16200000"/>
              <a:gd name="f3" fmla="val w"/>
              <a:gd name="f4" fmla="val h"/>
              <a:gd name="f5" fmla="val ss"/>
              <a:gd name="f6" fmla="val 0"/>
              <a:gd name="f7" fmla="*/ 5419351 1 1725033"/>
              <a:gd name="f8" fmla="val 45"/>
              <a:gd name="f9" fmla="val 868"/>
              <a:gd name="f10" fmla="abs f3"/>
              <a:gd name="f11" fmla="abs f4"/>
              <a:gd name="f12" fmla="abs f5"/>
              <a:gd name="f13" fmla="*/ f7 1 180"/>
              <a:gd name="f14" fmla="+- 0 0 f1"/>
              <a:gd name="f15" fmla="+- f6 f9 0"/>
              <a:gd name="f16" fmla="?: f10 f3 1"/>
              <a:gd name="f17" fmla="?: f11 f4 1"/>
              <a:gd name="f18" fmla="?: f12 f5 1"/>
              <a:gd name="f19" fmla="*/ f8 f13 1"/>
              <a:gd name="f20" fmla="+- f6 0 f15"/>
              <a:gd name="f21" fmla="+- f15 0 f6"/>
              <a:gd name="f22" fmla="*/ f16 1 21600"/>
              <a:gd name="f23" fmla="*/ f17 1 21600"/>
              <a:gd name="f24" fmla="*/ 21600 f16 1"/>
              <a:gd name="f25" fmla="*/ 21600 f17 1"/>
              <a:gd name="f26" fmla="+- 0 0 f19"/>
              <a:gd name="f27" fmla="abs f20"/>
              <a:gd name="f28" fmla="abs f21"/>
              <a:gd name="f29" fmla="?: f20 f14 f1"/>
              <a:gd name="f30" fmla="?: f20 f1 f14"/>
              <a:gd name="f31" fmla="?: f20 f2 f1"/>
              <a:gd name="f32" fmla="?: f20 f1 f2"/>
              <a:gd name="f33" fmla="?: f21 f14 f1"/>
              <a:gd name="f34" fmla="?: f21 f1 f14"/>
              <a:gd name="f35" fmla="?: f20 0 f0"/>
              <a:gd name="f36" fmla="?: f20 f0 0"/>
              <a:gd name="f37" fmla="min f23 f22"/>
              <a:gd name="f38" fmla="*/ f24 1 f18"/>
              <a:gd name="f39" fmla="*/ f25 1 f18"/>
              <a:gd name="f40" fmla="*/ f26 f0 1"/>
              <a:gd name="f41" fmla="?: f20 f32 f31"/>
              <a:gd name="f42" fmla="?: f20 f31 f32"/>
              <a:gd name="f43" fmla="?: f21 f30 f29"/>
              <a:gd name="f44" fmla="val f38"/>
              <a:gd name="f45" fmla="val f39"/>
              <a:gd name="f46" fmla="*/ f40 1 f7"/>
              <a:gd name="f47" fmla="?: f21 f42 f41"/>
              <a:gd name="f48" fmla="*/ f15 f37 1"/>
              <a:gd name="f49" fmla="*/ f6 f37 1"/>
              <a:gd name="f50" fmla="*/ f27 f37 1"/>
              <a:gd name="f51" fmla="*/ f28 f37 1"/>
              <a:gd name="f52" fmla="+- f45 0 f9"/>
              <a:gd name="f53" fmla="+- f44 0 f9"/>
              <a:gd name="f54" fmla="+- f46 0 f1"/>
              <a:gd name="f55" fmla="*/ f45 f37 1"/>
              <a:gd name="f56" fmla="*/ f44 f37 1"/>
              <a:gd name="f57" fmla="+- f45 0 f52"/>
              <a:gd name="f58" fmla="+- f44 0 f53"/>
              <a:gd name="f59" fmla="+- f52 0 f45"/>
              <a:gd name="f60" fmla="+- f53 0 f44"/>
              <a:gd name="f61" fmla="+- f54 f1 0"/>
              <a:gd name="f62" fmla="*/ f52 f37 1"/>
              <a:gd name="f63" fmla="*/ f53 f37 1"/>
              <a:gd name="f64" fmla="abs f57"/>
              <a:gd name="f65" fmla="?: f57 0 f0"/>
              <a:gd name="f66" fmla="?: f57 f0 0"/>
              <a:gd name="f67" fmla="?: f57 f33 f34"/>
              <a:gd name="f68" fmla="abs f58"/>
              <a:gd name="f69" fmla="abs f59"/>
              <a:gd name="f70" fmla="?: f58 f14 f1"/>
              <a:gd name="f71" fmla="?: f58 f1 f14"/>
              <a:gd name="f72" fmla="?: f58 f2 f1"/>
              <a:gd name="f73" fmla="?: f58 f1 f2"/>
              <a:gd name="f74" fmla="abs f60"/>
              <a:gd name="f75" fmla="?: f60 f14 f1"/>
              <a:gd name="f76" fmla="?: f60 f1 f14"/>
              <a:gd name="f77" fmla="?: f60 f36 f35"/>
              <a:gd name="f78" fmla="?: f60 f35 f36"/>
              <a:gd name="f79" fmla="*/ f61 f7 1"/>
              <a:gd name="f80" fmla="?: f21 f66 f65"/>
              <a:gd name="f81" fmla="?: f21 f65 f66"/>
              <a:gd name="f82" fmla="?: f58 f73 f72"/>
              <a:gd name="f83" fmla="?: f58 f72 f73"/>
              <a:gd name="f84" fmla="?: f59 f71 f70"/>
              <a:gd name="f85" fmla="?: f20 f77 f78"/>
              <a:gd name="f86" fmla="?: f20 f75 f76"/>
              <a:gd name="f87" fmla="*/ f79 1 f0"/>
              <a:gd name="f88" fmla="*/ f64 f37 1"/>
              <a:gd name="f89" fmla="*/ f68 f37 1"/>
              <a:gd name="f90" fmla="*/ f69 f37 1"/>
              <a:gd name="f91" fmla="*/ f74 f37 1"/>
              <a:gd name="f92" fmla="?: f57 f80 f81"/>
              <a:gd name="f93" fmla="?: f59 f83 f82"/>
              <a:gd name="f94" fmla="+- 0 0 f87"/>
              <a:gd name="f95" fmla="+- 0 0 f94"/>
              <a:gd name="f96" fmla="*/ f95 f0 1"/>
              <a:gd name="f97" fmla="*/ f96 1 f7"/>
              <a:gd name="f98" fmla="+- f97 0 f1"/>
              <a:gd name="f99" fmla="cos 1 f98"/>
              <a:gd name="f100" fmla="+- 0 0 f99"/>
              <a:gd name="f101" fmla="+- 0 0 f100"/>
              <a:gd name="f102" fmla="val f101"/>
              <a:gd name="f103" fmla="+- 0 0 f102"/>
              <a:gd name="f104" fmla="*/ f9 f103 1"/>
              <a:gd name="f105" fmla="*/ f104 3163 1"/>
              <a:gd name="f106" fmla="*/ f105 1 7636"/>
              <a:gd name="f107" fmla="+- f6 f106 0"/>
              <a:gd name="f108" fmla="+- f44 0 f106"/>
              <a:gd name="f109" fmla="+- f45 0 f106"/>
              <a:gd name="f110" fmla="*/ f107 f37 1"/>
              <a:gd name="f111" fmla="*/ f108 f37 1"/>
              <a:gd name="f112" fmla="*/ f109 f37 1"/>
            </a:gdLst>
            <a:ahLst/>
            <a:cxnLst>
              <a:cxn ang="3cd4">
                <a:pos x="hc" y="t"/>
              </a:cxn>
              <a:cxn ang="0">
                <a:pos x="r" y="vc"/>
              </a:cxn>
              <a:cxn ang="cd4">
                <a:pos x="hc" y="b"/>
              </a:cxn>
              <a:cxn ang="cd2">
                <a:pos x="l" y="vc"/>
              </a:cxn>
            </a:cxnLst>
            <a:rect l="f110" t="f110" r="f111" b="f112"/>
            <a:pathLst>
              <a:path>
                <a:moveTo>
                  <a:pt x="f48" y="f49"/>
                </a:moveTo>
                <a:arcTo wR="f50" hR="f51" stAng="f47" swAng="f43"/>
                <a:lnTo>
                  <a:pt x="f49" y="f62"/>
                </a:lnTo>
                <a:arcTo wR="f51" hR="f88" stAng="f92" swAng="f67"/>
                <a:lnTo>
                  <a:pt x="f63" y="f55"/>
                </a:lnTo>
                <a:arcTo wR="f89" hR="f90" stAng="f93" swAng="f84"/>
                <a:lnTo>
                  <a:pt x="f56" y="f48"/>
                </a:lnTo>
                <a:arcTo wR="f91" hR="f50" stAng="f85" swAng="f86"/>
                <a:close/>
              </a:path>
            </a:pathLst>
          </a:custGeom>
          <a:solidFill>
            <a:srgbClr val="0B1220"/>
          </a:solidFill>
          <a:ln w="9528" cap="flat">
            <a:solidFill>
              <a:srgbClr val="1E293B"/>
            </a:solidFill>
            <a:prstDash val="solid"/>
            <a:miter/>
          </a:ln>
          <a:effectLst>
            <a:outerShdw dist="19046" dir="5400000" algn="tl">
              <a:srgbClr val="000000">
                <a:alpha val="63000"/>
              </a:srgbClr>
            </a:outerShdw>
          </a:effectLst>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000000"/>
              </a:solidFill>
              <a:uFillTx/>
              <a:latin typeface="Aptos Display"/>
            </a:endParaRPr>
          </a:p>
        </p:txBody>
      </p:sp>
      <p:sp>
        <p:nvSpPr>
          <p:cNvPr id="17" name="Rectangle 74">
            <a:extLst>
              <a:ext uri="{FF2B5EF4-FFF2-40B4-BE49-F238E27FC236}">
                <a16:creationId xmlns:a16="http://schemas.microsoft.com/office/drawing/2014/main" id="{8AEBB67F-79FA-BE72-6C43-0429A4CBE158}"/>
              </a:ext>
            </a:extLst>
          </p:cNvPr>
          <p:cNvSpPr/>
          <p:nvPr/>
        </p:nvSpPr>
        <p:spPr>
          <a:xfrm>
            <a:off x="6438903" y="3538307"/>
            <a:ext cx="4991096" cy="807223"/>
          </a:xfrm>
          <a:prstGeom prst="rect">
            <a:avLst/>
          </a:prstGeom>
          <a:noFill/>
          <a:ln cap="flat">
            <a:noFill/>
            <a:prstDash val="solid"/>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000" b="0" i="0" u="none" strike="noStrike" kern="1200" cap="none" spc="0" baseline="0">
              <a:solidFill>
                <a:srgbClr val="FFFFFF"/>
              </a:solidFill>
              <a:uFillTx/>
              <a:latin typeface="Consolas" pitchFamily="49"/>
            </a:endParaRPr>
          </a:p>
          <a:p>
            <a:pPr marL="0" marR="0" lvl="0" indent="0" algn="l" defTabSz="914400" rtl="0" fontAlgn="auto" hangingPunct="1">
              <a:lnSpc>
                <a:spcPct val="100000"/>
              </a:lnSpc>
              <a:spcBef>
                <a:spcPts val="0"/>
              </a:spcBef>
              <a:spcAft>
                <a:spcPts val="0"/>
              </a:spcAft>
              <a:buNone/>
              <a:tabLst/>
              <a:defRPr sz="1425" b="0" i="0" u="none" strike="noStrike" kern="0" cap="none" spc="0" baseline="0">
                <a:solidFill>
                  <a:srgbClr val="E2E8F0"/>
                </a:solidFill>
                <a:uFillTx/>
                <a:latin typeface="Consolas"/>
                <a:ea typeface="Consolas"/>
                <a:cs typeface="Consolas"/>
              </a:defRPr>
            </a:pPr>
            <a:r>
              <a:rPr lang="fr-FR" sz="1000" b="0" i="0" u="none" strike="noStrike" kern="1200" cap="none" spc="0" baseline="0">
                <a:solidFill>
                  <a:srgbClr val="E2E8F0"/>
                </a:solidFill>
                <a:uFillTx/>
                <a:latin typeface="Consolas"/>
                <a:ea typeface="Consolas"/>
                <a:cs typeface="Consolas"/>
              </a:rPr>
              <a:t>"Link": "../raw_DATA/source_a.pdf ;</a:t>
            </a:r>
          </a:p>
          <a:p>
            <a:pPr marL="0" marR="0" lvl="0" indent="0" algn="l" defTabSz="914400" rtl="0" fontAlgn="auto" hangingPunct="1">
              <a:lnSpc>
                <a:spcPct val="100000"/>
              </a:lnSpc>
              <a:spcBef>
                <a:spcPts val="0"/>
              </a:spcBef>
              <a:spcAft>
                <a:spcPts val="0"/>
              </a:spcAft>
              <a:buNone/>
              <a:tabLst/>
              <a:defRPr sz="1425" b="0" i="0" u="none" strike="noStrike" kern="0" cap="none" spc="0" baseline="0">
                <a:solidFill>
                  <a:srgbClr val="E2E8F0"/>
                </a:solidFill>
                <a:uFillTx/>
                <a:latin typeface="Consolas"/>
                <a:ea typeface="Consolas"/>
                <a:cs typeface="Consolas"/>
              </a:defRPr>
            </a:pPr>
            <a:r>
              <a:rPr lang="fr-FR" sz="1000" b="0" i="0" u="none" strike="noStrike" kern="1200" cap="none" spc="0" baseline="0">
                <a:solidFill>
                  <a:srgbClr val="E2E8F0"/>
                </a:solidFill>
                <a:uFillTx/>
                <a:latin typeface="Consolas"/>
                <a:ea typeface="Consolas"/>
                <a:cs typeface="Consolas"/>
              </a:rPr>
              <a:t>         ../raw_DATA/source_b.json ;</a:t>
            </a:r>
          </a:p>
          <a:p>
            <a:pPr marL="0" marR="0" lvl="0" indent="0" algn="l" defTabSz="914400" rtl="0" fontAlgn="auto" hangingPunct="1">
              <a:lnSpc>
                <a:spcPct val="100000"/>
              </a:lnSpc>
              <a:spcBef>
                <a:spcPts val="0"/>
              </a:spcBef>
              <a:spcAft>
                <a:spcPts val="0"/>
              </a:spcAft>
              <a:buNone/>
              <a:tabLst/>
              <a:defRPr sz="1425" b="0" i="0" u="none" strike="noStrike" kern="0" cap="none" spc="0" baseline="0">
                <a:solidFill>
                  <a:srgbClr val="E2E8F0"/>
                </a:solidFill>
                <a:uFillTx/>
                <a:latin typeface="Consolas"/>
                <a:ea typeface="Consolas"/>
                <a:cs typeface="Consolas"/>
              </a:defRPr>
            </a:pPr>
            <a:r>
              <a:rPr lang="fr-FR" sz="1000" b="0" i="0" u="none" strike="noStrike" kern="1200" cap="none" spc="0" baseline="0">
                <a:solidFill>
                  <a:srgbClr val="E2E8F0"/>
                </a:solidFill>
                <a:uFillTx/>
                <a:latin typeface="Consolas"/>
                <a:ea typeface="Consolas"/>
                <a:cs typeface="Consolas"/>
              </a:rPr>
              <a:t>         ../raw_DATA/source_c.csv"</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8FB"/>
        </a:solidFill>
        <a:effectLst/>
      </p:bgPr>
    </p:bg>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8632CCF5-8DD9-45C1-B944-8E9FB7AF9785}"/>
              </a:ext>
            </a:extLst>
          </p:cNvPr>
          <p:cNvSpPr>
            <a:spLocks noGrp="1"/>
          </p:cNvSpPr>
          <p:nvPr/>
        </p:nvSpPr>
        <p:spPr>
          <a:xfrm>
            <a:off x="571500" y="361950"/>
            <a:ext cx="1619250" cy="285750"/>
          </a:xfrm>
          <a:prstGeom prst="roundRect">
            <a:avLst>
              <a:gd name="adj" fmla="val 50000"/>
            </a:avLst>
          </a:prstGeom>
          <a:solidFill>
            <a:srgbClr val="16803C"/>
          </a:solidFill>
          <a:ln w="0">
            <a:solidFill>
              <a:srgbClr val="16803C"/>
            </a:solidFill>
            <a:prstDash val="solid"/>
          </a:ln>
        </p:spPr>
        <p:txBody>
          <a:bodyPr/>
          <a:lstStyle/>
          <a:p>
            <a:endParaRPr lang="fr-FR"/>
          </a:p>
        </p:txBody>
      </p:sp>
      <p:sp>
        <p:nvSpPr>
          <p:cNvPr id="2" name="Rectangle 1">
            <a:extLst>
              <a:ext uri="{FF2B5EF4-FFF2-40B4-BE49-F238E27FC236}">
                <a16:creationId xmlns:a16="http://schemas.microsoft.com/office/drawing/2014/main" id="{45596445-8715-4F87-BAA7-753D327F4124}"/>
              </a:ext>
            </a:extLst>
          </p:cNvPr>
          <p:cNvSpPr>
            <a:spLocks noGrp="1"/>
          </p:cNvSpPr>
          <p:nvPr/>
        </p:nvSpPr>
        <p:spPr>
          <a:xfrm>
            <a:off x="571500" y="361950"/>
            <a:ext cx="1619250" cy="285750"/>
          </a:xfrm>
          <a:prstGeom prst="rect">
            <a:avLst/>
          </a:prstGeom>
          <a:noFill/>
          <a:ln w="0">
            <a:noFill/>
            <a:prstDash val="solid"/>
          </a:ln>
        </p:spPr>
        <p:txBody>
          <a:bodyPr wrap="square" lIns="76200" tIns="76200" rIns="76200" bIns="76200" anchor="ctr">
            <a:normAutofit fontScale="90833" lnSpcReduction="20000"/>
          </a:bodyPr>
          <a:lstStyle/>
          <a:p>
            <a:pPr algn="ctr">
              <a:defRPr sz="1050" b="1">
                <a:solidFill>
                  <a:srgbClr val="FFFFFF"/>
                </a:solidFill>
              </a:defRPr>
            </a:pPr>
            <a:r>
              <a:rPr sz="1050" b="1">
                <a:solidFill>
                  <a:srgbClr val="FFFFFF"/>
                </a:solidFill>
              </a:rPr>
              <a:t>REFERENCE</a:t>
            </a:r>
          </a:p>
        </p:txBody>
      </p:sp>
      <p:sp>
        <p:nvSpPr>
          <p:cNvPr id="3" name="Rectangle 2">
            <a:extLst>
              <a:ext uri="{FF2B5EF4-FFF2-40B4-BE49-F238E27FC236}">
                <a16:creationId xmlns:a16="http://schemas.microsoft.com/office/drawing/2014/main" id="{B49B2C93-F1A3-4330-93DD-98A1F4870E1C}"/>
              </a:ext>
            </a:extLst>
          </p:cNvPr>
          <p:cNvSpPr>
            <a:spLocks noGrp="1"/>
          </p:cNvSpPr>
          <p:nvPr/>
        </p:nvSpPr>
        <p:spPr>
          <a:xfrm>
            <a:off x="571500" y="762000"/>
            <a:ext cx="11049000" cy="476250"/>
          </a:xfrm>
          <a:prstGeom prst="rect">
            <a:avLst/>
          </a:prstGeom>
          <a:noFill/>
          <a:ln w="0">
            <a:noFill/>
            <a:prstDash val="solid"/>
          </a:ln>
        </p:spPr>
        <p:txBody>
          <a:bodyPr wrap="square" lIns="0" tIns="0" rIns="0" bIns="0" anchor="t">
            <a:normAutofit/>
          </a:bodyPr>
          <a:lstStyle/>
          <a:p>
            <a:pPr algn="l">
              <a:defRPr sz="3000" b="1">
                <a:solidFill>
                  <a:srgbClr val="0F172A"/>
                </a:solidFill>
              </a:defRPr>
            </a:pPr>
            <a:r>
              <a:rPr sz="3000" b="1">
                <a:solidFill>
                  <a:srgbClr val="0F172A"/>
                </a:solidFill>
              </a:rPr>
              <a:t>DNV_path controls the right side and location controls the left side</a:t>
            </a:r>
          </a:p>
        </p:txBody>
      </p:sp>
      <p:sp>
        <p:nvSpPr>
          <p:cNvPr id="4" name="Rectangle 3">
            <a:extLst>
              <a:ext uri="{FF2B5EF4-FFF2-40B4-BE49-F238E27FC236}">
                <a16:creationId xmlns:a16="http://schemas.microsoft.com/office/drawing/2014/main" id="{B67EAF97-FA5C-47B0-87FC-DCB7A037B1D4}"/>
              </a:ext>
            </a:extLst>
          </p:cNvPr>
          <p:cNvSpPr>
            <a:spLocks noGrp="1"/>
          </p:cNvSpPr>
          <p:nvPr/>
        </p:nvSpPr>
        <p:spPr>
          <a:xfrm>
            <a:off x="571500" y="1235964"/>
            <a:ext cx="11049000" cy="323850"/>
          </a:xfrm>
          <a:prstGeom prst="rect">
            <a:avLst/>
          </a:prstGeom>
          <a:noFill/>
          <a:ln w="0">
            <a:noFill/>
            <a:prstDash val="solid"/>
          </a:ln>
        </p:spPr>
        <p:txBody>
          <a:bodyPr wrap="square" lIns="0" tIns="0" rIns="0" bIns="0" anchor="t">
            <a:normAutofit/>
          </a:bodyPr>
          <a:lstStyle/>
          <a:p>
            <a:pPr algn="l">
              <a:defRPr sz="1350" b="0">
                <a:solidFill>
                  <a:srgbClr val="475569"/>
                </a:solidFill>
              </a:defRPr>
            </a:pPr>
            <a:r>
              <a:rPr sz="1350" b="0" dirty="0">
                <a:solidFill>
                  <a:srgbClr val="475569"/>
                </a:solidFill>
              </a:rPr>
              <a:t>These two fields connect one JSON object to both parts of the page.</a:t>
            </a:r>
          </a:p>
        </p:txBody>
      </p:sp>
      <p:sp>
        <p:nvSpPr>
          <p:cNvPr id="5" name="Rectangle : coins arrondis 4">
            <a:extLst>
              <a:ext uri="{FF2B5EF4-FFF2-40B4-BE49-F238E27FC236}">
                <a16:creationId xmlns:a16="http://schemas.microsoft.com/office/drawing/2014/main" id="{EA819926-948A-4865-8E6F-6DFBAD5E4688}"/>
              </a:ext>
            </a:extLst>
          </p:cNvPr>
          <p:cNvSpPr>
            <a:spLocks noGrp="1"/>
          </p:cNvSpPr>
          <p:nvPr/>
        </p:nvSpPr>
        <p:spPr>
          <a:xfrm>
            <a:off x="571500" y="1973580"/>
            <a:ext cx="7239000" cy="3733800"/>
          </a:xfrm>
          <a:prstGeom prst="roundRect">
            <a:avLst>
              <a:gd name="adj" fmla="val 4082"/>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pic>
        <p:nvPicPr>
          <p:cNvPr id="30" name="Image 29"/>
          <p:cNvPicPr>
            <a:picLocks noChangeAspect="1"/>
          </p:cNvPicPr>
          <p:nvPr/>
        </p:nvPicPr>
        <p:blipFill>
          <a:blip r:embed="rId3"/>
          <a:srcRect t="6292" b="6292"/>
          <a:stretch>
            <a:fillRect/>
          </a:stretch>
        </p:blipFill>
        <p:spPr>
          <a:xfrm>
            <a:off x="742950" y="2145030"/>
            <a:ext cx="6896100" cy="3390900"/>
          </a:xfrm>
          <a:prstGeom prst="roundRect">
            <a:avLst>
              <a:gd name="adj" fmla="val 4494"/>
            </a:avLst>
          </a:prstGeom>
        </p:spPr>
      </p:pic>
      <p:sp>
        <p:nvSpPr>
          <p:cNvPr id="7" name="Rectangle : coins arrondis 6">
            <a:extLst>
              <a:ext uri="{FF2B5EF4-FFF2-40B4-BE49-F238E27FC236}">
                <a16:creationId xmlns:a16="http://schemas.microsoft.com/office/drawing/2014/main" id="{97F68AD6-2AAE-4526-BDB9-7FB6824AB04A}"/>
              </a:ext>
            </a:extLst>
          </p:cNvPr>
          <p:cNvSpPr>
            <a:spLocks noGrp="1"/>
          </p:cNvSpPr>
          <p:nvPr/>
        </p:nvSpPr>
        <p:spPr>
          <a:xfrm>
            <a:off x="8096250" y="1790700"/>
            <a:ext cx="3429000" cy="895350"/>
          </a:xfrm>
          <a:prstGeom prst="roundRect">
            <a:avLst>
              <a:gd name="adj" fmla="val 17021"/>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8" name="Rectangle : coins arrondis 7">
            <a:extLst>
              <a:ext uri="{FF2B5EF4-FFF2-40B4-BE49-F238E27FC236}">
                <a16:creationId xmlns:a16="http://schemas.microsoft.com/office/drawing/2014/main" id="{0E21E4F4-12E6-47C4-98DC-CEB6BEB7D4BF}"/>
              </a:ext>
            </a:extLst>
          </p:cNvPr>
          <p:cNvSpPr>
            <a:spLocks noGrp="1"/>
          </p:cNvSpPr>
          <p:nvPr/>
        </p:nvSpPr>
        <p:spPr>
          <a:xfrm>
            <a:off x="8248650" y="1943100"/>
            <a:ext cx="1162050" cy="247650"/>
          </a:xfrm>
          <a:prstGeom prst="roundRect">
            <a:avLst>
              <a:gd name="adj" fmla="val 50000"/>
            </a:avLst>
          </a:prstGeom>
          <a:solidFill>
            <a:srgbClr val="2553D6"/>
          </a:solidFill>
          <a:ln w="0">
            <a:solidFill>
              <a:srgbClr val="2553D6"/>
            </a:solidFill>
            <a:prstDash val="solid"/>
          </a:ln>
        </p:spPr>
        <p:txBody>
          <a:bodyPr/>
          <a:lstStyle/>
          <a:p>
            <a:endParaRPr lang="fr-FR"/>
          </a:p>
        </p:txBody>
      </p:sp>
      <p:sp>
        <p:nvSpPr>
          <p:cNvPr id="9" name="Rectangle 8">
            <a:extLst>
              <a:ext uri="{FF2B5EF4-FFF2-40B4-BE49-F238E27FC236}">
                <a16:creationId xmlns:a16="http://schemas.microsoft.com/office/drawing/2014/main" id="{7FE76EDB-78DB-4BA2-894B-A21024DCBF12}"/>
              </a:ext>
            </a:extLst>
          </p:cNvPr>
          <p:cNvSpPr>
            <a:spLocks noGrp="1"/>
          </p:cNvSpPr>
          <p:nvPr/>
        </p:nvSpPr>
        <p:spPr>
          <a:xfrm>
            <a:off x="8248650" y="1943100"/>
            <a:ext cx="1162050" cy="247650"/>
          </a:xfrm>
          <a:prstGeom prst="rect">
            <a:avLst/>
          </a:prstGeom>
          <a:noFill/>
          <a:ln w="0">
            <a:noFill/>
            <a:prstDash val="solid"/>
          </a:ln>
        </p:spPr>
        <p:txBody>
          <a:bodyPr wrap="square" lIns="76200" tIns="76200" rIns="76200" bIns="76200" anchor="ctr">
            <a:noAutofit/>
          </a:bodyPr>
          <a:lstStyle/>
          <a:p>
            <a:pPr algn="ctr">
              <a:defRPr sz="1050" b="1">
                <a:solidFill>
                  <a:srgbClr val="FFFFFF"/>
                </a:solidFill>
              </a:defRPr>
            </a:pPr>
            <a:r>
              <a:rPr sz="1000" b="1" dirty="0">
                <a:solidFill>
                  <a:srgbClr val="FFFFFF"/>
                </a:solidFill>
              </a:rPr>
              <a:t>location</a:t>
            </a:r>
          </a:p>
        </p:txBody>
      </p:sp>
      <p:sp>
        <p:nvSpPr>
          <p:cNvPr id="10" name="Rectangle 9">
            <a:extLst>
              <a:ext uri="{FF2B5EF4-FFF2-40B4-BE49-F238E27FC236}">
                <a16:creationId xmlns:a16="http://schemas.microsoft.com/office/drawing/2014/main" id="{4EBCBCCD-C76D-4EEF-86BE-DFC1AC4331E3}"/>
              </a:ext>
            </a:extLst>
          </p:cNvPr>
          <p:cNvSpPr>
            <a:spLocks noGrp="1"/>
          </p:cNvSpPr>
          <p:nvPr/>
        </p:nvSpPr>
        <p:spPr>
          <a:xfrm>
            <a:off x="8248650" y="2305050"/>
            <a:ext cx="3124200" cy="247650"/>
          </a:xfrm>
          <a:prstGeom prst="rect">
            <a:avLst/>
          </a:prstGeom>
          <a:noFill/>
          <a:ln w="0">
            <a:noFill/>
            <a:prstDash val="solid"/>
          </a:ln>
        </p:spPr>
        <p:txBody>
          <a:bodyPr wrap="square" lIns="0" tIns="0" rIns="0" bIns="0" anchor="t">
            <a:normAutofit fontScale="83734" lnSpcReduction="20000"/>
          </a:bodyPr>
          <a:lstStyle/>
          <a:p>
            <a:pPr algn="l">
              <a:defRPr sz="1200" b="0">
                <a:solidFill>
                  <a:srgbClr val="334155"/>
                </a:solidFill>
              </a:defRPr>
            </a:pPr>
            <a:r>
              <a:rPr sz="1200" b="0">
                <a:solidFill>
                  <a:srgbClr val="334155"/>
                </a:solidFill>
              </a:rPr>
              <a:t>Groups the entry in the left accordion. Example: hull, engine, crane, wind.</a:t>
            </a:r>
          </a:p>
        </p:txBody>
      </p:sp>
      <p:sp>
        <p:nvSpPr>
          <p:cNvPr id="11" name="Rectangle : coins arrondis 10">
            <a:extLst>
              <a:ext uri="{FF2B5EF4-FFF2-40B4-BE49-F238E27FC236}">
                <a16:creationId xmlns:a16="http://schemas.microsoft.com/office/drawing/2014/main" id="{E96E2973-D54E-428A-8F3F-237384BD90C9}"/>
              </a:ext>
            </a:extLst>
          </p:cNvPr>
          <p:cNvSpPr>
            <a:spLocks noGrp="1"/>
          </p:cNvSpPr>
          <p:nvPr/>
        </p:nvSpPr>
        <p:spPr>
          <a:xfrm>
            <a:off x="8096250" y="2857500"/>
            <a:ext cx="3429000" cy="895350"/>
          </a:xfrm>
          <a:prstGeom prst="roundRect">
            <a:avLst>
              <a:gd name="adj" fmla="val 17021"/>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12" name="Rectangle : coins arrondis 11">
            <a:extLst>
              <a:ext uri="{FF2B5EF4-FFF2-40B4-BE49-F238E27FC236}">
                <a16:creationId xmlns:a16="http://schemas.microsoft.com/office/drawing/2014/main" id="{AFC47360-E945-4433-99B0-6F953EF34E30}"/>
              </a:ext>
            </a:extLst>
          </p:cNvPr>
          <p:cNvSpPr>
            <a:spLocks noGrp="1"/>
          </p:cNvSpPr>
          <p:nvPr/>
        </p:nvSpPr>
        <p:spPr>
          <a:xfrm>
            <a:off x="8248650" y="3009900"/>
            <a:ext cx="1162050" cy="247650"/>
          </a:xfrm>
          <a:prstGeom prst="roundRect">
            <a:avLst>
              <a:gd name="adj" fmla="val 50000"/>
            </a:avLst>
          </a:prstGeom>
          <a:solidFill>
            <a:srgbClr val="16803C"/>
          </a:solidFill>
          <a:ln w="0">
            <a:solidFill>
              <a:srgbClr val="16803C"/>
            </a:solidFill>
            <a:prstDash val="solid"/>
          </a:ln>
        </p:spPr>
        <p:txBody>
          <a:bodyPr/>
          <a:lstStyle/>
          <a:p>
            <a:endParaRPr lang="fr-FR"/>
          </a:p>
        </p:txBody>
      </p:sp>
      <p:sp>
        <p:nvSpPr>
          <p:cNvPr id="13" name="Rectangle 12">
            <a:extLst>
              <a:ext uri="{FF2B5EF4-FFF2-40B4-BE49-F238E27FC236}">
                <a16:creationId xmlns:a16="http://schemas.microsoft.com/office/drawing/2014/main" id="{22FC4ED7-8786-415D-91A6-09E5C235F7A2}"/>
              </a:ext>
            </a:extLst>
          </p:cNvPr>
          <p:cNvSpPr>
            <a:spLocks noGrp="1"/>
          </p:cNvSpPr>
          <p:nvPr/>
        </p:nvSpPr>
        <p:spPr>
          <a:xfrm>
            <a:off x="8248650" y="3009900"/>
            <a:ext cx="1162050" cy="247650"/>
          </a:xfrm>
          <a:prstGeom prst="rect">
            <a:avLst/>
          </a:prstGeom>
          <a:noFill/>
          <a:ln w="0">
            <a:noFill/>
            <a:prstDash val="solid"/>
          </a:ln>
        </p:spPr>
        <p:txBody>
          <a:bodyPr wrap="square" lIns="76200" tIns="76200" rIns="76200" bIns="76200" anchor="ctr">
            <a:noAutofit/>
          </a:bodyPr>
          <a:lstStyle/>
          <a:p>
            <a:pPr algn="ctr">
              <a:defRPr sz="1050" b="1">
                <a:solidFill>
                  <a:srgbClr val="FFFFFF"/>
                </a:solidFill>
              </a:defRPr>
            </a:pPr>
            <a:r>
              <a:rPr sz="1000" b="1" dirty="0" err="1">
                <a:solidFill>
                  <a:srgbClr val="FFFFFF"/>
                </a:solidFill>
              </a:rPr>
              <a:t>DNV_path</a:t>
            </a:r>
            <a:endParaRPr sz="1000" b="1" dirty="0">
              <a:solidFill>
                <a:srgbClr val="FFFFFF"/>
              </a:solidFill>
            </a:endParaRPr>
          </a:p>
        </p:txBody>
      </p:sp>
      <p:sp>
        <p:nvSpPr>
          <p:cNvPr id="14" name="Rectangle 13">
            <a:extLst>
              <a:ext uri="{FF2B5EF4-FFF2-40B4-BE49-F238E27FC236}">
                <a16:creationId xmlns:a16="http://schemas.microsoft.com/office/drawing/2014/main" id="{87C1F6F8-CDAF-46E6-92BE-933D43972144}"/>
              </a:ext>
            </a:extLst>
          </p:cNvPr>
          <p:cNvSpPr>
            <a:spLocks noGrp="1"/>
          </p:cNvSpPr>
          <p:nvPr/>
        </p:nvSpPr>
        <p:spPr>
          <a:xfrm>
            <a:off x="8248650" y="3371850"/>
            <a:ext cx="3124200" cy="247650"/>
          </a:xfrm>
          <a:prstGeom prst="rect">
            <a:avLst/>
          </a:prstGeom>
          <a:noFill/>
          <a:ln w="0">
            <a:noFill/>
            <a:prstDash val="solid"/>
          </a:ln>
        </p:spPr>
        <p:txBody>
          <a:bodyPr wrap="square" lIns="0" tIns="0" rIns="0" bIns="0" anchor="t">
            <a:normAutofit fontScale="95216"/>
          </a:bodyPr>
          <a:lstStyle/>
          <a:p>
            <a:pPr algn="l">
              <a:defRPr sz="1200" b="0">
                <a:solidFill>
                  <a:srgbClr val="334155"/>
                </a:solidFill>
              </a:defRPr>
            </a:pPr>
            <a:r>
              <a:rPr sz="1200" b="0">
                <a:solidFill>
                  <a:srgbClr val="334155"/>
                </a:solidFill>
              </a:rPr>
              <a:t>Places the same entry on the right if the path is valid.</a:t>
            </a:r>
          </a:p>
        </p:txBody>
      </p:sp>
      <p:sp>
        <p:nvSpPr>
          <p:cNvPr id="15" name="Rectangle : coins arrondis 14">
            <a:extLst>
              <a:ext uri="{FF2B5EF4-FFF2-40B4-BE49-F238E27FC236}">
                <a16:creationId xmlns:a16="http://schemas.microsoft.com/office/drawing/2014/main" id="{C14AA3B5-5657-46B5-AC8A-E16B4DB67649}"/>
              </a:ext>
            </a:extLst>
          </p:cNvPr>
          <p:cNvSpPr>
            <a:spLocks noGrp="1"/>
          </p:cNvSpPr>
          <p:nvPr/>
        </p:nvSpPr>
        <p:spPr>
          <a:xfrm>
            <a:off x="8096250" y="3924300"/>
            <a:ext cx="3429000" cy="895350"/>
          </a:xfrm>
          <a:prstGeom prst="roundRect">
            <a:avLst>
              <a:gd name="adj" fmla="val 17021"/>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16" name="Rectangle : coins arrondis 15">
            <a:extLst>
              <a:ext uri="{FF2B5EF4-FFF2-40B4-BE49-F238E27FC236}">
                <a16:creationId xmlns:a16="http://schemas.microsoft.com/office/drawing/2014/main" id="{E2DC61A9-1E1D-447B-88D0-C6011616ECCC}"/>
              </a:ext>
            </a:extLst>
          </p:cNvPr>
          <p:cNvSpPr>
            <a:spLocks noGrp="1"/>
          </p:cNvSpPr>
          <p:nvPr/>
        </p:nvSpPr>
        <p:spPr>
          <a:xfrm>
            <a:off x="8248650" y="4076700"/>
            <a:ext cx="1162050" cy="247650"/>
          </a:xfrm>
          <a:prstGeom prst="roundRect">
            <a:avLst>
              <a:gd name="adj" fmla="val 50000"/>
            </a:avLst>
          </a:prstGeom>
          <a:solidFill>
            <a:srgbClr val="0F766E"/>
          </a:solidFill>
          <a:ln w="0">
            <a:solidFill>
              <a:srgbClr val="0F766E"/>
            </a:solidFill>
            <a:prstDash val="solid"/>
          </a:ln>
        </p:spPr>
        <p:txBody>
          <a:bodyPr/>
          <a:lstStyle/>
          <a:p>
            <a:endParaRPr lang="fr-FR"/>
          </a:p>
        </p:txBody>
      </p:sp>
      <p:sp>
        <p:nvSpPr>
          <p:cNvPr id="17" name="Rectangle 16">
            <a:extLst>
              <a:ext uri="{FF2B5EF4-FFF2-40B4-BE49-F238E27FC236}">
                <a16:creationId xmlns:a16="http://schemas.microsoft.com/office/drawing/2014/main" id="{5F165BF1-D566-4079-BDAC-43DA080AB27E}"/>
              </a:ext>
            </a:extLst>
          </p:cNvPr>
          <p:cNvSpPr>
            <a:spLocks noGrp="1"/>
          </p:cNvSpPr>
          <p:nvPr/>
        </p:nvSpPr>
        <p:spPr>
          <a:xfrm>
            <a:off x="8248650" y="4076700"/>
            <a:ext cx="1162050" cy="247650"/>
          </a:xfrm>
          <a:prstGeom prst="rect">
            <a:avLst/>
          </a:prstGeom>
          <a:noFill/>
          <a:ln w="0">
            <a:noFill/>
            <a:prstDash val="solid"/>
          </a:ln>
        </p:spPr>
        <p:txBody>
          <a:bodyPr wrap="square" lIns="76200" tIns="76200" rIns="76200" bIns="76200" anchor="ctr">
            <a:noAutofit/>
          </a:bodyPr>
          <a:lstStyle/>
          <a:p>
            <a:pPr algn="ctr">
              <a:defRPr sz="1050" b="1">
                <a:solidFill>
                  <a:srgbClr val="FFFFFF"/>
                </a:solidFill>
              </a:defRPr>
            </a:pPr>
            <a:r>
              <a:rPr sz="1000" b="1" dirty="0">
                <a:solidFill>
                  <a:srgbClr val="FFFFFF"/>
                </a:solidFill>
              </a:rPr>
              <a:t>Green tag</a:t>
            </a:r>
          </a:p>
        </p:txBody>
      </p:sp>
      <p:sp>
        <p:nvSpPr>
          <p:cNvPr id="18" name="Rectangle 17">
            <a:extLst>
              <a:ext uri="{FF2B5EF4-FFF2-40B4-BE49-F238E27FC236}">
                <a16:creationId xmlns:a16="http://schemas.microsoft.com/office/drawing/2014/main" id="{C2DA188F-C095-4062-8E05-A1B5452A0091}"/>
              </a:ext>
            </a:extLst>
          </p:cNvPr>
          <p:cNvSpPr>
            <a:spLocks noGrp="1"/>
          </p:cNvSpPr>
          <p:nvPr/>
        </p:nvSpPr>
        <p:spPr>
          <a:xfrm>
            <a:off x="8248650" y="4438650"/>
            <a:ext cx="3124200" cy="247650"/>
          </a:xfrm>
          <a:prstGeom prst="rect">
            <a:avLst/>
          </a:prstGeom>
          <a:noFill/>
          <a:ln w="0">
            <a:noFill/>
            <a:prstDash val="solid"/>
          </a:ln>
        </p:spPr>
        <p:txBody>
          <a:bodyPr wrap="square" lIns="0" tIns="0" rIns="0" bIns="0" anchor="t">
            <a:normAutofit fontScale="81897" lnSpcReduction="10000"/>
          </a:bodyPr>
          <a:lstStyle/>
          <a:p>
            <a:pPr algn="l">
              <a:defRPr sz="1200" b="0">
                <a:solidFill>
                  <a:srgbClr val="334155"/>
                </a:solidFill>
              </a:defRPr>
            </a:pPr>
            <a:r>
              <a:rPr sz="1200" b="0">
                <a:solidFill>
                  <a:srgbClr val="334155"/>
                </a:solidFill>
              </a:rPr>
              <a:t>Shows the mapped value and keeps the source clickable.</a:t>
            </a:r>
          </a:p>
        </p:txBody>
      </p:sp>
      <p:sp>
        <p:nvSpPr>
          <p:cNvPr id="19" name="Rectangle : coins arrondis 18">
            <a:extLst>
              <a:ext uri="{FF2B5EF4-FFF2-40B4-BE49-F238E27FC236}">
                <a16:creationId xmlns:a16="http://schemas.microsoft.com/office/drawing/2014/main" id="{CD093144-676C-4EE4-A7D5-C0E64958D416}"/>
              </a:ext>
            </a:extLst>
          </p:cNvPr>
          <p:cNvSpPr>
            <a:spLocks noGrp="1"/>
          </p:cNvSpPr>
          <p:nvPr/>
        </p:nvSpPr>
        <p:spPr>
          <a:xfrm>
            <a:off x="8096250" y="4991100"/>
            <a:ext cx="3429000" cy="895350"/>
          </a:xfrm>
          <a:prstGeom prst="roundRect">
            <a:avLst>
              <a:gd name="adj" fmla="val 17021"/>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20" name="Rectangle : coins arrondis 19">
            <a:extLst>
              <a:ext uri="{FF2B5EF4-FFF2-40B4-BE49-F238E27FC236}">
                <a16:creationId xmlns:a16="http://schemas.microsoft.com/office/drawing/2014/main" id="{8668711C-3D66-4D32-8181-97BA72184FFA}"/>
              </a:ext>
            </a:extLst>
          </p:cNvPr>
          <p:cNvSpPr>
            <a:spLocks noGrp="1"/>
          </p:cNvSpPr>
          <p:nvPr/>
        </p:nvSpPr>
        <p:spPr>
          <a:xfrm>
            <a:off x="8248650" y="5143500"/>
            <a:ext cx="1162050" cy="247650"/>
          </a:xfrm>
          <a:prstGeom prst="roundRect">
            <a:avLst>
              <a:gd name="adj" fmla="val 50000"/>
            </a:avLst>
          </a:prstGeom>
          <a:solidFill>
            <a:srgbClr val="D97706"/>
          </a:solidFill>
          <a:ln w="0">
            <a:solidFill>
              <a:srgbClr val="D97706"/>
            </a:solidFill>
            <a:prstDash val="solid"/>
          </a:ln>
        </p:spPr>
        <p:txBody>
          <a:bodyPr/>
          <a:lstStyle/>
          <a:p>
            <a:endParaRPr lang="fr-FR"/>
          </a:p>
        </p:txBody>
      </p:sp>
      <p:sp>
        <p:nvSpPr>
          <p:cNvPr id="21" name="Rectangle 20">
            <a:extLst>
              <a:ext uri="{FF2B5EF4-FFF2-40B4-BE49-F238E27FC236}">
                <a16:creationId xmlns:a16="http://schemas.microsoft.com/office/drawing/2014/main" id="{D2BD0899-5269-4BCD-8D32-1A719A8CC67A}"/>
              </a:ext>
            </a:extLst>
          </p:cNvPr>
          <p:cNvSpPr>
            <a:spLocks noGrp="1"/>
          </p:cNvSpPr>
          <p:nvPr/>
        </p:nvSpPr>
        <p:spPr>
          <a:xfrm>
            <a:off x="8248650" y="5143500"/>
            <a:ext cx="1162050" cy="247650"/>
          </a:xfrm>
          <a:prstGeom prst="rect">
            <a:avLst/>
          </a:prstGeom>
          <a:noFill/>
          <a:ln w="0">
            <a:noFill/>
            <a:prstDash val="solid"/>
          </a:ln>
        </p:spPr>
        <p:txBody>
          <a:bodyPr wrap="square" lIns="76200" tIns="76200" rIns="76200" bIns="76200" anchor="ctr">
            <a:noAutofit/>
          </a:bodyPr>
          <a:lstStyle/>
          <a:p>
            <a:pPr algn="ctr">
              <a:defRPr sz="1050" b="1">
                <a:solidFill>
                  <a:srgbClr val="FFFFFF"/>
                </a:solidFill>
              </a:defRPr>
            </a:pPr>
            <a:r>
              <a:rPr sz="1000" b="1" dirty="0">
                <a:solidFill>
                  <a:srgbClr val="FFFFFF"/>
                </a:solidFill>
              </a:rPr>
              <a:t>Show in DNV</a:t>
            </a:r>
          </a:p>
        </p:txBody>
      </p:sp>
      <p:sp>
        <p:nvSpPr>
          <p:cNvPr id="22" name="Rectangle 21">
            <a:extLst>
              <a:ext uri="{FF2B5EF4-FFF2-40B4-BE49-F238E27FC236}">
                <a16:creationId xmlns:a16="http://schemas.microsoft.com/office/drawing/2014/main" id="{FD5E09B8-D770-464D-ADED-A068C0093D7D}"/>
              </a:ext>
            </a:extLst>
          </p:cNvPr>
          <p:cNvSpPr>
            <a:spLocks noGrp="1"/>
          </p:cNvSpPr>
          <p:nvPr/>
        </p:nvSpPr>
        <p:spPr>
          <a:xfrm>
            <a:off x="8248650" y="5505450"/>
            <a:ext cx="3124200" cy="247650"/>
          </a:xfrm>
          <a:prstGeom prst="rect">
            <a:avLst/>
          </a:prstGeom>
          <a:noFill/>
          <a:ln w="0">
            <a:noFill/>
            <a:prstDash val="solid"/>
          </a:ln>
        </p:spPr>
        <p:txBody>
          <a:bodyPr wrap="square" lIns="0" tIns="0" rIns="0" bIns="0" anchor="t">
            <a:normAutofit fontScale="81122" lnSpcReduction="20000"/>
          </a:bodyPr>
          <a:lstStyle/>
          <a:p>
            <a:pPr algn="l">
              <a:defRPr sz="1200" b="0">
                <a:solidFill>
                  <a:srgbClr val="334155"/>
                </a:solidFill>
              </a:defRPr>
            </a:pPr>
            <a:r>
              <a:rPr sz="1200" b="0">
                <a:solidFill>
                  <a:srgbClr val="334155"/>
                </a:solidFill>
              </a:rPr>
              <a:t>Scrolls the user to the correct mapped node from the left side.</a:t>
            </a:r>
          </a:p>
        </p:txBody>
      </p:sp>
      <p:sp>
        <p:nvSpPr>
          <p:cNvPr id="23" name="Rectangle 22">
            <a:extLst>
              <a:ext uri="{FF2B5EF4-FFF2-40B4-BE49-F238E27FC236}">
                <a16:creationId xmlns:a16="http://schemas.microsoft.com/office/drawing/2014/main" id="{11C2A300-0428-49F0-975D-71FB989F8603}"/>
              </a:ext>
            </a:extLst>
          </p:cNvPr>
          <p:cNvSpPr>
            <a:spLocks noGrp="1"/>
          </p:cNvSpPr>
          <p:nvPr/>
        </p:nvSpPr>
        <p:spPr>
          <a:xfrm>
            <a:off x="571500" y="6534150"/>
            <a:ext cx="3048000" cy="190500"/>
          </a:xfrm>
          <a:prstGeom prst="rect">
            <a:avLst/>
          </a:prstGeom>
          <a:noFill/>
          <a:ln w="0">
            <a:noFill/>
            <a:prstDash val="solid"/>
          </a:ln>
        </p:spPr>
        <p:txBody>
          <a:bodyPr wrap="square" lIns="0" tIns="0" rIns="0" bIns="0" anchor="t">
            <a:normAutofit/>
          </a:bodyPr>
          <a:lstStyle/>
          <a:p>
            <a:pPr algn="l">
              <a:defRPr sz="825" b="0">
                <a:solidFill>
                  <a:srgbClr val="64748B"/>
                </a:solidFill>
              </a:defRPr>
            </a:pPr>
            <a:r>
              <a:rPr sz="825" b="0">
                <a:solidFill>
                  <a:srgbClr val="64748B"/>
                </a:solidFill>
              </a:rPr>
              <a:t>Data Hub guide - new vessel workflow</a:t>
            </a:r>
          </a:p>
        </p:txBody>
      </p:sp>
      <p:sp>
        <p:nvSpPr>
          <p:cNvPr id="24" name="Rectangle 23">
            <a:extLst>
              <a:ext uri="{FF2B5EF4-FFF2-40B4-BE49-F238E27FC236}">
                <a16:creationId xmlns:a16="http://schemas.microsoft.com/office/drawing/2014/main" id="{DB659BFC-BABA-42A4-ACF0-05A0112D3DBC}"/>
              </a:ext>
            </a:extLst>
          </p:cNvPr>
          <p:cNvSpPr>
            <a:spLocks noGrp="1"/>
          </p:cNvSpPr>
          <p:nvPr/>
        </p:nvSpPr>
        <p:spPr>
          <a:xfrm>
            <a:off x="11144250" y="6496050"/>
            <a:ext cx="381000" cy="228600"/>
          </a:xfrm>
          <a:prstGeom prst="rect">
            <a:avLst/>
          </a:prstGeom>
          <a:noFill/>
          <a:ln w="0">
            <a:noFill/>
            <a:prstDash val="solid"/>
          </a:ln>
        </p:spPr>
        <p:txBody>
          <a:bodyPr wrap="square" lIns="0" tIns="0" rIns="0" bIns="0" anchor="t">
            <a:normAutofit/>
          </a:bodyPr>
          <a:lstStyle/>
          <a:p>
            <a:pPr algn="r">
              <a:defRPr sz="900" b="1">
                <a:solidFill>
                  <a:srgbClr val="64748B"/>
                </a:solidFill>
              </a:defRPr>
            </a:pPr>
            <a:r>
              <a:rPr lang="fr-FR" sz="900" b="1" dirty="0">
                <a:solidFill>
                  <a:srgbClr val="64748B"/>
                </a:solidFill>
              </a:rPr>
              <a:t>9</a:t>
            </a:r>
            <a:endParaRPr sz="900" b="1" dirty="0">
              <a:solidFill>
                <a:srgbClr val="64748B"/>
              </a:solidFill>
            </a:endParaRPr>
          </a:p>
        </p:txBody>
      </p:sp>
    </p:spTree>
    <p:extLst>
      <p:ext uri="{BB962C8B-B14F-4D97-AF65-F5344CB8AC3E}">
        <p14:creationId xmlns:p14="http://schemas.microsoft.com/office/powerpoint/2010/main" val="4292786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8FB"/>
        </a:solidFill>
        <a:effectLst/>
      </p:bgPr>
    </p:bg>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4759DB67-BE25-472F-9758-E1330E6754B2}"/>
              </a:ext>
            </a:extLst>
          </p:cNvPr>
          <p:cNvSpPr>
            <a:spLocks noGrp="1"/>
          </p:cNvSpPr>
          <p:nvPr/>
        </p:nvSpPr>
        <p:spPr>
          <a:xfrm>
            <a:off x="571500" y="361950"/>
            <a:ext cx="1619250" cy="285750"/>
          </a:xfrm>
          <a:prstGeom prst="roundRect">
            <a:avLst>
              <a:gd name="adj" fmla="val 50000"/>
            </a:avLst>
          </a:prstGeom>
          <a:solidFill>
            <a:srgbClr val="0F766E"/>
          </a:solidFill>
          <a:ln w="0">
            <a:solidFill>
              <a:srgbClr val="0F766E"/>
            </a:solidFill>
            <a:prstDash val="solid"/>
          </a:ln>
        </p:spPr>
        <p:txBody>
          <a:bodyPr/>
          <a:lstStyle/>
          <a:p>
            <a:endParaRPr lang="fr-FR"/>
          </a:p>
        </p:txBody>
      </p:sp>
      <p:sp>
        <p:nvSpPr>
          <p:cNvPr id="2" name="Rectangle 1">
            <a:extLst>
              <a:ext uri="{FF2B5EF4-FFF2-40B4-BE49-F238E27FC236}">
                <a16:creationId xmlns:a16="http://schemas.microsoft.com/office/drawing/2014/main" id="{E73E6EAF-D1CA-4D22-93B1-DC0CFE149820}"/>
              </a:ext>
            </a:extLst>
          </p:cNvPr>
          <p:cNvSpPr>
            <a:spLocks noGrp="1"/>
          </p:cNvSpPr>
          <p:nvPr/>
        </p:nvSpPr>
        <p:spPr>
          <a:xfrm>
            <a:off x="571500" y="361950"/>
            <a:ext cx="1619250" cy="285750"/>
          </a:xfrm>
          <a:prstGeom prst="rect">
            <a:avLst/>
          </a:prstGeom>
          <a:noFill/>
          <a:ln w="0">
            <a:noFill/>
            <a:prstDash val="solid"/>
          </a:ln>
        </p:spPr>
        <p:txBody>
          <a:bodyPr wrap="square" lIns="76200" tIns="76200" rIns="76200" bIns="76200" anchor="ctr">
            <a:normAutofit fontScale="90833" lnSpcReduction="20000"/>
          </a:bodyPr>
          <a:lstStyle/>
          <a:p>
            <a:pPr algn="ctr">
              <a:defRPr sz="1050" b="1">
                <a:solidFill>
                  <a:srgbClr val="FFFFFF"/>
                </a:solidFill>
              </a:defRPr>
            </a:pPr>
            <a:r>
              <a:rPr sz="1050" b="1">
                <a:solidFill>
                  <a:srgbClr val="FFFFFF"/>
                </a:solidFill>
              </a:rPr>
              <a:t>RESULT</a:t>
            </a:r>
          </a:p>
        </p:txBody>
      </p:sp>
      <p:sp>
        <p:nvSpPr>
          <p:cNvPr id="3" name="Rectangle 2">
            <a:extLst>
              <a:ext uri="{FF2B5EF4-FFF2-40B4-BE49-F238E27FC236}">
                <a16:creationId xmlns:a16="http://schemas.microsoft.com/office/drawing/2014/main" id="{6FA3E7F9-22BD-4521-9B8D-F0980EFB7E15}"/>
              </a:ext>
            </a:extLst>
          </p:cNvPr>
          <p:cNvSpPr>
            <a:spLocks noGrp="1"/>
          </p:cNvSpPr>
          <p:nvPr/>
        </p:nvSpPr>
        <p:spPr>
          <a:xfrm>
            <a:off x="571500" y="762000"/>
            <a:ext cx="11049000" cy="476250"/>
          </a:xfrm>
          <a:prstGeom prst="rect">
            <a:avLst/>
          </a:prstGeom>
          <a:noFill/>
          <a:ln w="0">
            <a:noFill/>
            <a:prstDash val="solid"/>
          </a:ln>
        </p:spPr>
        <p:txBody>
          <a:bodyPr wrap="square" lIns="0" tIns="0" rIns="0" bIns="0" anchor="t">
            <a:normAutofit/>
          </a:bodyPr>
          <a:lstStyle/>
          <a:p>
            <a:pPr algn="l">
              <a:defRPr sz="3000" b="1">
                <a:solidFill>
                  <a:srgbClr val="0F172A"/>
                </a:solidFill>
              </a:defRPr>
            </a:pPr>
            <a:r>
              <a:rPr sz="3000" b="1">
                <a:solidFill>
                  <a:srgbClr val="0F172A"/>
                </a:solidFill>
              </a:rPr>
              <a:t>If the JSON is clean, the page builds itself</a:t>
            </a:r>
          </a:p>
        </p:txBody>
      </p:sp>
      <p:sp>
        <p:nvSpPr>
          <p:cNvPr id="4" name="Rectangle 3">
            <a:extLst>
              <a:ext uri="{FF2B5EF4-FFF2-40B4-BE49-F238E27FC236}">
                <a16:creationId xmlns:a16="http://schemas.microsoft.com/office/drawing/2014/main" id="{E585ED02-F122-4C42-BFEB-FBD28FF8EB59}"/>
              </a:ext>
            </a:extLst>
          </p:cNvPr>
          <p:cNvSpPr>
            <a:spLocks noGrp="1"/>
          </p:cNvSpPr>
          <p:nvPr/>
        </p:nvSpPr>
        <p:spPr>
          <a:xfrm>
            <a:off x="571500" y="1226820"/>
            <a:ext cx="11049000" cy="323850"/>
          </a:xfrm>
          <a:prstGeom prst="rect">
            <a:avLst/>
          </a:prstGeom>
          <a:noFill/>
          <a:ln w="0">
            <a:noFill/>
            <a:prstDash val="solid"/>
          </a:ln>
        </p:spPr>
        <p:txBody>
          <a:bodyPr wrap="square" lIns="0" tIns="0" rIns="0" bIns="0" anchor="t">
            <a:normAutofit/>
          </a:bodyPr>
          <a:lstStyle/>
          <a:p>
            <a:pPr algn="l">
              <a:defRPr sz="1350" b="0">
                <a:solidFill>
                  <a:srgbClr val="475569"/>
                </a:solidFill>
              </a:defRPr>
            </a:pPr>
            <a:r>
              <a:rPr sz="1350" b="0" dirty="0">
                <a:solidFill>
                  <a:srgbClr val="475569"/>
                </a:solidFill>
              </a:rPr>
              <a:t>The shared scripts are generic. The content changes, but the workflow stays the same.</a:t>
            </a:r>
          </a:p>
        </p:txBody>
      </p:sp>
      <p:sp>
        <p:nvSpPr>
          <p:cNvPr id="5" name="Rectangle : coins arrondis 4">
            <a:extLst>
              <a:ext uri="{FF2B5EF4-FFF2-40B4-BE49-F238E27FC236}">
                <a16:creationId xmlns:a16="http://schemas.microsoft.com/office/drawing/2014/main" id="{1C45C687-74AB-493F-ADDF-1BC4EBB328EB}"/>
              </a:ext>
            </a:extLst>
          </p:cNvPr>
          <p:cNvSpPr>
            <a:spLocks noGrp="1"/>
          </p:cNvSpPr>
          <p:nvPr/>
        </p:nvSpPr>
        <p:spPr>
          <a:xfrm>
            <a:off x="571500" y="2028444"/>
            <a:ext cx="5334000" cy="3390900"/>
          </a:xfrm>
          <a:prstGeom prst="roundRect">
            <a:avLst>
              <a:gd name="adj" fmla="val 4494"/>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pic>
        <p:nvPicPr>
          <p:cNvPr id="30" name="Image 29"/>
          <p:cNvPicPr>
            <a:picLocks noChangeAspect="1"/>
          </p:cNvPicPr>
          <p:nvPr/>
        </p:nvPicPr>
        <p:blipFill>
          <a:blip r:embed="rId3"/>
          <a:srcRect l="3945" r="3945"/>
          <a:stretch>
            <a:fillRect/>
          </a:stretch>
        </p:blipFill>
        <p:spPr>
          <a:xfrm>
            <a:off x="742950" y="2199894"/>
            <a:ext cx="4991100" cy="3048000"/>
          </a:xfrm>
          <a:prstGeom prst="roundRect">
            <a:avLst>
              <a:gd name="adj" fmla="val 5000"/>
            </a:avLst>
          </a:prstGeom>
        </p:spPr>
      </p:pic>
      <p:sp>
        <p:nvSpPr>
          <p:cNvPr id="7" name="Rectangle : coins arrondis 6">
            <a:extLst>
              <a:ext uri="{FF2B5EF4-FFF2-40B4-BE49-F238E27FC236}">
                <a16:creationId xmlns:a16="http://schemas.microsoft.com/office/drawing/2014/main" id="{6AEA4E6F-888F-456E-8C3C-E002EB73C3C7}"/>
              </a:ext>
            </a:extLst>
          </p:cNvPr>
          <p:cNvSpPr>
            <a:spLocks noGrp="1"/>
          </p:cNvSpPr>
          <p:nvPr/>
        </p:nvSpPr>
        <p:spPr>
          <a:xfrm>
            <a:off x="6286500" y="1790700"/>
            <a:ext cx="5238750" cy="857250"/>
          </a:xfrm>
          <a:prstGeom prst="roundRect">
            <a:avLst>
              <a:gd name="adj" fmla="val 17778"/>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8" name="Rectangle : coins arrondis 7">
            <a:extLst>
              <a:ext uri="{FF2B5EF4-FFF2-40B4-BE49-F238E27FC236}">
                <a16:creationId xmlns:a16="http://schemas.microsoft.com/office/drawing/2014/main" id="{85F7761B-5659-42C2-A398-C4EB6C204AF3}"/>
              </a:ext>
            </a:extLst>
          </p:cNvPr>
          <p:cNvSpPr>
            <a:spLocks noGrp="1"/>
          </p:cNvSpPr>
          <p:nvPr/>
        </p:nvSpPr>
        <p:spPr>
          <a:xfrm>
            <a:off x="6438900" y="1943100"/>
            <a:ext cx="1162050" cy="247650"/>
          </a:xfrm>
          <a:prstGeom prst="roundRect">
            <a:avLst>
              <a:gd name="adj" fmla="val 50000"/>
            </a:avLst>
          </a:prstGeom>
          <a:solidFill>
            <a:srgbClr val="2553D6"/>
          </a:solidFill>
          <a:ln w="0">
            <a:solidFill>
              <a:srgbClr val="2553D6"/>
            </a:solidFill>
            <a:prstDash val="solid"/>
          </a:ln>
        </p:spPr>
        <p:txBody>
          <a:bodyPr/>
          <a:lstStyle/>
          <a:p>
            <a:endParaRPr lang="fr-FR"/>
          </a:p>
        </p:txBody>
      </p:sp>
      <p:sp>
        <p:nvSpPr>
          <p:cNvPr id="9" name="Rectangle 8">
            <a:extLst>
              <a:ext uri="{FF2B5EF4-FFF2-40B4-BE49-F238E27FC236}">
                <a16:creationId xmlns:a16="http://schemas.microsoft.com/office/drawing/2014/main" id="{BBC4CF27-F39E-4FC5-A3A4-DCB0EEC0686C}"/>
              </a:ext>
            </a:extLst>
          </p:cNvPr>
          <p:cNvSpPr>
            <a:spLocks noGrp="1"/>
          </p:cNvSpPr>
          <p:nvPr/>
        </p:nvSpPr>
        <p:spPr>
          <a:xfrm>
            <a:off x="6438900" y="1943100"/>
            <a:ext cx="1162050" cy="247650"/>
          </a:xfrm>
          <a:prstGeom prst="rect">
            <a:avLst/>
          </a:prstGeom>
          <a:noFill/>
          <a:ln w="0">
            <a:noFill/>
            <a:prstDash val="solid"/>
          </a:ln>
        </p:spPr>
        <p:txBody>
          <a:bodyPr wrap="square" lIns="76200" tIns="76200" rIns="76200" bIns="76200" anchor="ctr">
            <a:noAutofit/>
          </a:bodyPr>
          <a:lstStyle/>
          <a:p>
            <a:pPr algn="ctr">
              <a:defRPr sz="1050" b="1">
                <a:solidFill>
                  <a:srgbClr val="FFFFFF"/>
                </a:solidFill>
              </a:defRPr>
            </a:pPr>
            <a:r>
              <a:rPr sz="1200" b="1" dirty="0">
                <a:solidFill>
                  <a:srgbClr val="FFFFFF"/>
                </a:solidFill>
              </a:rPr>
              <a:t>Left side</a:t>
            </a:r>
          </a:p>
        </p:txBody>
      </p:sp>
      <p:sp>
        <p:nvSpPr>
          <p:cNvPr id="10" name="Rectangle 9">
            <a:extLst>
              <a:ext uri="{FF2B5EF4-FFF2-40B4-BE49-F238E27FC236}">
                <a16:creationId xmlns:a16="http://schemas.microsoft.com/office/drawing/2014/main" id="{10883D94-B8BE-43AB-BF34-DE024CD32A49}"/>
              </a:ext>
            </a:extLst>
          </p:cNvPr>
          <p:cNvSpPr>
            <a:spLocks noGrp="1"/>
          </p:cNvSpPr>
          <p:nvPr/>
        </p:nvSpPr>
        <p:spPr>
          <a:xfrm>
            <a:off x="6438900" y="2305050"/>
            <a:ext cx="4933950" cy="20955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summary + accordions + source-aware entries</a:t>
            </a:r>
          </a:p>
        </p:txBody>
      </p:sp>
      <p:sp>
        <p:nvSpPr>
          <p:cNvPr id="11" name="Rectangle : coins arrondis 10">
            <a:extLst>
              <a:ext uri="{FF2B5EF4-FFF2-40B4-BE49-F238E27FC236}">
                <a16:creationId xmlns:a16="http://schemas.microsoft.com/office/drawing/2014/main" id="{7C9CB77F-5D0D-4F01-9AB8-C918DFD2BC14}"/>
              </a:ext>
            </a:extLst>
          </p:cNvPr>
          <p:cNvSpPr>
            <a:spLocks noGrp="1"/>
          </p:cNvSpPr>
          <p:nvPr/>
        </p:nvSpPr>
        <p:spPr>
          <a:xfrm>
            <a:off x="6286500" y="2800350"/>
            <a:ext cx="5238750" cy="857250"/>
          </a:xfrm>
          <a:prstGeom prst="roundRect">
            <a:avLst>
              <a:gd name="adj" fmla="val 17778"/>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12" name="Rectangle : coins arrondis 11">
            <a:extLst>
              <a:ext uri="{FF2B5EF4-FFF2-40B4-BE49-F238E27FC236}">
                <a16:creationId xmlns:a16="http://schemas.microsoft.com/office/drawing/2014/main" id="{6981FF51-3742-478F-8FD2-98BC097D9AFD}"/>
              </a:ext>
            </a:extLst>
          </p:cNvPr>
          <p:cNvSpPr>
            <a:spLocks noGrp="1"/>
          </p:cNvSpPr>
          <p:nvPr/>
        </p:nvSpPr>
        <p:spPr>
          <a:xfrm>
            <a:off x="6438900" y="2952750"/>
            <a:ext cx="1162050" cy="247650"/>
          </a:xfrm>
          <a:prstGeom prst="roundRect">
            <a:avLst>
              <a:gd name="adj" fmla="val 50000"/>
            </a:avLst>
          </a:prstGeom>
          <a:solidFill>
            <a:srgbClr val="16803C"/>
          </a:solidFill>
          <a:ln w="0">
            <a:solidFill>
              <a:srgbClr val="16803C"/>
            </a:solidFill>
            <a:prstDash val="solid"/>
          </a:ln>
        </p:spPr>
        <p:txBody>
          <a:bodyPr/>
          <a:lstStyle/>
          <a:p>
            <a:endParaRPr lang="fr-FR"/>
          </a:p>
        </p:txBody>
      </p:sp>
      <p:sp>
        <p:nvSpPr>
          <p:cNvPr id="13" name="Rectangle 12">
            <a:extLst>
              <a:ext uri="{FF2B5EF4-FFF2-40B4-BE49-F238E27FC236}">
                <a16:creationId xmlns:a16="http://schemas.microsoft.com/office/drawing/2014/main" id="{CFE7B32A-8998-4D35-8E6F-C836625A9616}"/>
              </a:ext>
            </a:extLst>
          </p:cNvPr>
          <p:cNvSpPr>
            <a:spLocks noGrp="1"/>
          </p:cNvSpPr>
          <p:nvPr/>
        </p:nvSpPr>
        <p:spPr>
          <a:xfrm>
            <a:off x="6438900" y="2952750"/>
            <a:ext cx="1162050" cy="247650"/>
          </a:xfrm>
          <a:prstGeom prst="rect">
            <a:avLst/>
          </a:prstGeom>
          <a:noFill/>
          <a:ln w="0">
            <a:noFill/>
            <a:prstDash val="solid"/>
          </a:ln>
        </p:spPr>
        <p:txBody>
          <a:bodyPr wrap="square" lIns="76200" tIns="76200" rIns="76200" bIns="76200" anchor="ctr">
            <a:noAutofit/>
          </a:bodyPr>
          <a:lstStyle/>
          <a:p>
            <a:pPr algn="ctr">
              <a:defRPr sz="1050" b="1">
                <a:solidFill>
                  <a:srgbClr val="FFFFFF"/>
                </a:solidFill>
              </a:defRPr>
            </a:pPr>
            <a:r>
              <a:rPr sz="1200" b="1" dirty="0">
                <a:solidFill>
                  <a:srgbClr val="FFFFFF"/>
                </a:solidFill>
              </a:rPr>
              <a:t>Right side</a:t>
            </a:r>
          </a:p>
        </p:txBody>
      </p:sp>
      <p:sp>
        <p:nvSpPr>
          <p:cNvPr id="14" name="Rectangle 13">
            <a:extLst>
              <a:ext uri="{FF2B5EF4-FFF2-40B4-BE49-F238E27FC236}">
                <a16:creationId xmlns:a16="http://schemas.microsoft.com/office/drawing/2014/main" id="{2C043C35-5B63-49F8-8850-2A02C37D6DC9}"/>
              </a:ext>
            </a:extLst>
          </p:cNvPr>
          <p:cNvSpPr>
            <a:spLocks noGrp="1"/>
          </p:cNvSpPr>
          <p:nvPr/>
        </p:nvSpPr>
        <p:spPr>
          <a:xfrm>
            <a:off x="6438900" y="3314700"/>
            <a:ext cx="4933950" cy="20955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Filtered DNV tree with only mapped values</a:t>
            </a:r>
          </a:p>
        </p:txBody>
      </p:sp>
      <p:sp>
        <p:nvSpPr>
          <p:cNvPr id="15" name="Rectangle : coins arrondis 14">
            <a:extLst>
              <a:ext uri="{FF2B5EF4-FFF2-40B4-BE49-F238E27FC236}">
                <a16:creationId xmlns:a16="http://schemas.microsoft.com/office/drawing/2014/main" id="{0A24E98B-3888-42C2-94F8-A3EF200CA0EC}"/>
              </a:ext>
            </a:extLst>
          </p:cNvPr>
          <p:cNvSpPr>
            <a:spLocks noGrp="1"/>
          </p:cNvSpPr>
          <p:nvPr/>
        </p:nvSpPr>
        <p:spPr>
          <a:xfrm>
            <a:off x="6286500" y="3810000"/>
            <a:ext cx="5238750" cy="857250"/>
          </a:xfrm>
          <a:prstGeom prst="roundRect">
            <a:avLst>
              <a:gd name="adj" fmla="val 17778"/>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16" name="Rectangle : coins arrondis 15">
            <a:extLst>
              <a:ext uri="{FF2B5EF4-FFF2-40B4-BE49-F238E27FC236}">
                <a16:creationId xmlns:a16="http://schemas.microsoft.com/office/drawing/2014/main" id="{D6E4958A-4817-485B-B035-9A88ABC43A7C}"/>
              </a:ext>
            </a:extLst>
          </p:cNvPr>
          <p:cNvSpPr>
            <a:spLocks noGrp="1"/>
          </p:cNvSpPr>
          <p:nvPr/>
        </p:nvSpPr>
        <p:spPr>
          <a:xfrm>
            <a:off x="6438900" y="3962400"/>
            <a:ext cx="1162050" cy="247650"/>
          </a:xfrm>
          <a:prstGeom prst="roundRect">
            <a:avLst>
              <a:gd name="adj" fmla="val 50000"/>
            </a:avLst>
          </a:prstGeom>
          <a:solidFill>
            <a:srgbClr val="0F766E"/>
          </a:solidFill>
          <a:ln w="0">
            <a:solidFill>
              <a:srgbClr val="0F766E"/>
            </a:solidFill>
            <a:prstDash val="solid"/>
          </a:ln>
        </p:spPr>
        <p:txBody>
          <a:bodyPr/>
          <a:lstStyle/>
          <a:p>
            <a:endParaRPr lang="fr-FR"/>
          </a:p>
        </p:txBody>
      </p:sp>
      <p:sp>
        <p:nvSpPr>
          <p:cNvPr id="17" name="Rectangle 16">
            <a:extLst>
              <a:ext uri="{FF2B5EF4-FFF2-40B4-BE49-F238E27FC236}">
                <a16:creationId xmlns:a16="http://schemas.microsoft.com/office/drawing/2014/main" id="{9EDF1123-A004-44DD-B895-41574405C121}"/>
              </a:ext>
            </a:extLst>
          </p:cNvPr>
          <p:cNvSpPr>
            <a:spLocks noGrp="1"/>
          </p:cNvSpPr>
          <p:nvPr/>
        </p:nvSpPr>
        <p:spPr>
          <a:xfrm>
            <a:off x="6438900" y="3962400"/>
            <a:ext cx="1162050" cy="247650"/>
          </a:xfrm>
          <a:prstGeom prst="rect">
            <a:avLst/>
          </a:prstGeom>
          <a:noFill/>
          <a:ln w="0">
            <a:noFill/>
            <a:prstDash val="solid"/>
          </a:ln>
        </p:spPr>
        <p:txBody>
          <a:bodyPr wrap="square" lIns="76200" tIns="76200" rIns="76200" bIns="76200" anchor="ctr">
            <a:noAutofit/>
          </a:bodyPr>
          <a:lstStyle/>
          <a:p>
            <a:pPr algn="ctr">
              <a:defRPr sz="1050" b="1">
                <a:solidFill>
                  <a:srgbClr val="FFFFFF"/>
                </a:solidFill>
              </a:defRPr>
            </a:pPr>
            <a:r>
              <a:rPr sz="1200" b="1" dirty="0">
                <a:solidFill>
                  <a:srgbClr val="FFFFFF"/>
                </a:solidFill>
              </a:rPr>
              <a:t>Map</a:t>
            </a:r>
          </a:p>
        </p:txBody>
      </p:sp>
      <p:sp>
        <p:nvSpPr>
          <p:cNvPr id="18" name="Rectangle 17">
            <a:extLst>
              <a:ext uri="{FF2B5EF4-FFF2-40B4-BE49-F238E27FC236}">
                <a16:creationId xmlns:a16="http://schemas.microsoft.com/office/drawing/2014/main" id="{01C2AA21-4D28-4653-86F1-FA7A8CC02356}"/>
              </a:ext>
            </a:extLst>
          </p:cNvPr>
          <p:cNvSpPr>
            <a:spLocks noGrp="1"/>
          </p:cNvSpPr>
          <p:nvPr/>
        </p:nvSpPr>
        <p:spPr>
          <a:xfrm>
            <a:off x="6438900" y="4324350"/>
            <a:ext cx="4933950" cy="20955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GPS route built from the raw file linked in Link</a:t>
            </a:r>
          </a:p>
        </p:txBody>
      </p:sp>
      <p:sp>
        <p:nvSpPr>
          <p:cNvPr id="19" name="Rectangle : coins arrondis 18">
            <a:extLst>
              <a:ext uri="{FF2B5EF4-FFF2-40B4-BE49-F238E27FC236}">
                <a16:creationId xmlns:a16="http://schemas.microsoft.com/office/drawing/2014/main" id="{413E559C-A8F1-409C-8A32-DD3D09DFB97D}"/>
              </a:ext>
            </a:extLst>
          </p:cNvPr>
          <p:cNvSpPr>
            <a:spLocks noGrp="1"/>
          </p:cNvSpPr>
          <p:nvPr/>
        </p:nvSpPr>
        <p:spPr>
          <a:xfrm>
            <a:off x="6286500" y="4819650"/>
            <a:ext cx="5238750" cy="857250"/>
          </a:xfrm>
          <a:prstGeom prst="roundRect">
            <a:avLst>
              <a:gd name="adj" fmla="val 17778"/>
            </a:avLst>
          </a:prstGeom>
          <a:solidFill>
            <a:srgbClr val="FFFFFF"/>
          </a:solidFill>
          <a:ln w="9525">
            <a:solidFill>
              <a:srgbClr val="E2E8F0"/>
            </a:solidFill>
            <a:prstDash val="solid"/>
          </a:ln>
        </p:spPr>
        <p:style>
          <a:lnRef idx="0">
            <a:scrgbClr r="0" g="0" b="0"/>
          </a:lnRef>
          <a:fillRef idx="0">
            <a:scrgbClr r="0" g="0" b="0"/>
          </a:fillRef>
          <a:effectRef idx="4">
            <a:scrgbClr r="0" g="0" b="0"/>
          </a:effectRef>
          <a:fontRef idx="major"/>
        </p:style>
        <p:txBody>
          <a:bodyPr/>
          <a:lstStyle/>
          <a:p>
            <a:endParaRPr lang="fr-FR"/>
          </a:p>
        </p:txBody>
      </p:sp>
      <p:sp>
        <p:nvSpPr>
          <p:cNvPr id="20" name="Rectangle : coins arrondis 19">
            <a:extLst>
              <a:ext uri="{FF2B5EF4-FFF2-40B4-BE49-F238E27FC236}">
                <a16:creationId xmlns:a16="http://schemas.microsoft.com/office/drawing/2014/main" id="{5453C989-08C1-4455-B4A8-4EDB985CB520}"/>
              </a:ext>
            </a:extLst>
          </p:cNvPr>
          <p:cNvSpPr>
            <a:spLocks noGrp="1"/>
          </p:cNvSpPr>
          <p:nvPr/>
        </p:nvSpPr>
        <p:spPr>
          <a:xfrm>
            <a:off x="6438900" y="4972050"/>
            <a:ext cx="1162050" cy="247650"/>
          </a:xfrm>
          <a:prstGeom prst="roundRect">
            <a:avLst>
              <a:gd name="adj" fmla="val 50000"/>
            </a:avLst>
          </a:prstGeom>
          <a:solidFill>
            <a:srgbClr val="D97706"/>
          </a:solidFill>
          <a:ln w="0">
            <a:solidFill>
              <a:srgbClr val="D97706"/>
            </a:solidFill>
            <a:prstDash val="solid"/>
          </a:ln>
        </p:spPr>
        <p:txBody>
          <a:bodyPr/>
          <a:lstStyle/>
          <a:p>
            <a:endParaRPr lang="fr-FR"/>
          </a:p>
        </p:txBody>
      </p:sp>
      <p:sp>
        <p:nvSpPr>
          <p:cNvPr id="21" name="Rectangle 20">
            <a:extLst>
              <a:ext uri="{FF2B5EF4-FFF2-40B4-BE49-F238E27FC236}">
                <a16:creationId xmlns:a16="http://schemas.microsoft.com/office/drawing/2014/main" id="{2B117C97-0D9B-4BCC-B6DB-AF3793869CD6}"/>
              </a:ext>
            </a:extLst>
          </p:cNvPr>
          <p:cNvSpPr>
            <a:spLocks noGrp="1"/>
          </p:cNvSpPr>
          <p:nvPr/>
        </p:nvSpPr>
        <p:spPr>
          <a:xfrm>
            <a:off x="6438900" y="4972050"/>
            <a:ext cx="1162050" cy="247650"/>
          </a:xfrm>
          <a:prstGeom prst="rect">
            <a:avLst/>
          </a:prstGeom>
          <a:noFill/>
          <a:ln w="0">
            <a:noFill/>
            <a:prstDash val="solid"/>
          </a:ln>
        </p:spPr>
        <p:txBody>
          <a:bodyPr wrap="square" lIns="76200" tIns="76200" rIns="76200" bIns="76200" anchor="ctr">
            <a:noAutofit/>
          </a:bodyPr>
          <a:lstStyle/>
          <a:p>
            <a:pPr algn="ctr">
              <a:defRPr sz="1050" b="1">
                <a:solidFill>
                  <a:srgbClr val="FFFFFF"/>
                </a:solidFill>
              </a:defRPr>
            </a:pPr>
            <a:r>
              <a:rPr sz="1200" b="1" dirty="0">
                <a:solidFill>
                  <a:srgbClr val="FFFFFF"/>
                </a:solidFill>
              </a:rPr>
              <a:t>Get Json</a:t>
            </a:r>
          </a:p>
        </p:txBody>
      </p:sp>
      <p:sp>
        <p:nvSpPr>
          <p:cNvPr id="22" name="Rectangle 21">
            <a:extLst>
              <a:ext uri="{FF2B5EF4-FFF2-40B4-BE49-F238E27FC236}">
                <a16:creationId xmlns:a16="http://schemas.microsoft.com/office/drawing/2014/main" id="{78BDA9A7-FD7B-4E18-AB00-63D9BB204795}"/>
              </a:ext>
            </a:extLst>
          </p:cNvPr>
          <p:cNvSpPr>
            <a:spLocks noGrp="1"/>
          </p:cNvSpPr>
          <p:nvPr/>
        </p:nvSpPr>
        <p:spPr>
          <a:xfrm>
            <a:off x="6438900" y="5334000"/>
            <a:ext cx="4933950" cy="209550"/>
          </a:xfrm>
          <a:prstGeom prst="rect">
            <a:avLst/>
          </a:prstGeom>
          <a:noFill/>
          <a:ln w="0">
            <a:noFill/>
            <a:prstDash val="solid"/>
          </a:ln>
        </p:spPr>
        <p:txBody>
          <a:bodyPr wrap="square" lIns="0" tIns="0" rIns="0" bIns="0" anchor="t">
            <a:normAutofit/>
          </a:bodyPr>
          <a:lstStyle/>
          <a:p>
            <a:pPr algn="l">
              <a:defRPr sz="1200" b="0">
                <a:solidFill>
                  <a:srgbClr val="334155"/>
                </a:solidFill>
              </a:defRPr>
            </a:pPr>
            <a:r>
              <a:rPr sz="1200" b="0">
                <a:solidFill>
                  <a:srgbClr val="334155"/>
                </a:solidFill>
              </a:rPr>
              <a:t>Downloads the main JSON file loaded for the project</a:t>
            </a:r>
          </a:p>
        </p:txBody>
      </p:sp>
      <p:sp>
        <p:nvSpPr>
          <p:cNvPr id="23" name="Rectangle 22">
            <a:extLst>
              <a:ext uri="{FF2B5EF4-FFF2-40B4-BE49-F238E27FC236}">
                <a16:creationId xmlns:a16="http://schemas.microsoft.com/office/drawing/2014/main" id="{2C3ED2D9-7E76-47F1-8ED0-D4593CF7FC51}"/>
              </a:ext>
            </a:extLst>
          </p:cNvPr>
          <p:cNvSpPr>
            <a:spLocks noGrp="1"/>
          </p:cNvSpPr>
          <p:nvPr/>
        </p:nvSpPr>
        <p:spPr>
          <a:xfrm>
            <a:off x="571500" y="6534150"/>
            <a:ext cx="3048000" cy="190500"/>
          </a:xfrm>
          <a:prstGeom prst="rect">
            <a:avLst/>
          </a:prstGeom>
          <a:noFill/>
          <a:ln w="0">
            <a:noFill/>
            <a:prstDash val="solid"/>
          </a:ln>
        </p:spPr>
        <p:txBody>
          <a:bodyPr wrap="square" lIns="0" tIns="0" rIns="0" bIns="0" anchor="t">
            <a:normAutofit/>
          </a:bodyPr>
          <a:lstStyle/>
          <a:p>
            <a:pPr algn="l">
              <a:defRPr sz="825" b="0">
                <a:solidFill>
                  <a:srgbClr val="64748B"/>
                </a:solidFill>
              </a:defRPr>
            </a:pPr>
            <a:r>
              <a:rPr sz="825" b="0">
                <a:solidFill>
                  <a:srgbClr val="64748B"/>
                </a:solidFill>
              </a:rPr>
              <a:t>Data Hub guide - new vessel workflow</a:t>
            </a:r>
          </a:p>
        </p:txBody>
      </p:sp>
      <p:sp>
        <p:nvSpPr>
          <p:cNvPr id="24" name="Rectangle 23">
            <a:extLst>
              <a:ext uri="{FF2B5EF4-FFF2-40B4-BE49-F238E27FC236}">
                <a16:creationId xmlns:a16="http://schemas.microsoft.com/office/drawing/2014/main" id="{1225700E-8DC5-4DD3-BE69-147B384DD3FC}"/>
              </a:ext>
            </a:extLst>
          </p:cNvPr>
          <p:cNvSpPr>
            <a:spLocks noGrp="1"/>
          </p:cNvSpPr>
          <p:nvPr/>
        </p:nvSpPr>
        <p:spPr>
          <a:xfrm>
            <a:off x="11144250" y="6496050"/>
            <a:ext cx="381000" cy="228600"/>
          </a:xfrm>
          <a:prstGeom prst="rect">
            <a:avLst/>
          </a:prstGeom>
          <a:noFill/>
          <a:ln w="0">
            <a:noFill/>
            <a:prstDash val="solid"/>
          </a:ln>
        </p:spPr>
        <p:txBody>
          <a:bodyPr wrap="square" lIns="0" tIns="0" rIns="0" bIns="0" anchor="t">
            <a:normAutofit/>
          </a:bodyPr>
          <a:lstStyle/>
          <a:p>
            <a:pPr algn="r">
              <a:defRPr sz="900" b="1">
                <a:solidFill>
                  <a:srgbClr val="64748B"/>
                </a:solidFill>
              </a:defRPr>
            </a:pPr>
            <a:r>
              <a:rPr lang="fr-FR" sz="900" b="1" dirty="0">
                <a:solidFill>
                  <a:srgbClr val="64748B"/>
                </a:solidFill>
              </a:rPr>
              <a:t>10</a:t>
            </a:r>
            <a:endParaRPr sz="900" b="1" dirty="0">
              <a:solidFill>
                <a:srgbClr val="64748B"/>
              </a:solidFill>
            </a:endParaRPr>
          </a:p>
        </p:txBody>
      </p:sp>
    </p:spTree>
    <p:extLst>
      <p:ext uri="{BB962C8B-B14F-4D97-AF65-F5344CB8AC3E}">
        <p14:creationId xmlns:p14="http://schemas.microsoft.com/office/powerpoint/2010/main" val="160281288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TotalTime>
  <Words>1591</Words>
  <Application>Microsoft Office PowerPoint</Application>
  <DocSecurity>0</DocSecurity>
  <PresentationFormat>Grand écran</PresentationFormat>
  <Paragraphs>221</Paragraphs>
  <Slides>10</Slides>
  <Notes>10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10</vt:i4>
      </vt:variant>
    </vt:vector>
  </HeadingPairs>
  <TitlesOfParts>
    <vt:vector size="15" baseType="lpstr">
      <vt:lpstr>Aptos</vt:lpstr>
      <vt:lpstr>Aptos Display</vt:lpstr>
      <vt:lpstr>Calibri</vt:lpstr>
      <vt:lpstr>Consolas</vt:lpstr>
      <vt:lpstr>ChatGPT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Anas SADIK</cp:lastModifiedBy>
  <cp:revision>7</cp:revision>
  <dcterms:created xsi:type="dcterms:W3CDTF">2026-07-07T14:59:42Z</dcterms:created>
  <dcterms:modified xsi:type="dcterms:W3CDTF">2026-07-08T09:01:47Z</dcterms:modified>
</cp:coreProperties>
</file>